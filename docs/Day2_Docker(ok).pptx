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7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in Hoang" userId="02aee87d5f5f4acf" providerId="LiveId" clId="{E4EDE063-AEAF-4AF1-9BCF-D49211A3DBD4}"/>
    <pc:docChg chg="custSel modSld">
      <pc:chgData name="Colin Hoang" userId="02aee87d5f5f4acf" providerId="LiveId" clId="{E4EDE063-AEAF-4AF1-9BCF-D49211A3DBD4}" dt="2026-07-29T04:02:03.174" v="108" actId="20577"/>
      <pc:docMkLst>
        <pc:docMk/>
      </pc:docMkLst>
      <pc:sldChg chg="addSp delSp modSp mod">
        <pc:chgData name="Colin Hoang" userId="02aee87d5f5f4acf" providerId="LiveId" clId="{E4EDE063-AEAF-4AF1-9BCF-D49211A3DBD4}" dt="2026-07-29T04:02:03.174" v="108" actId="20577"/>
        <pc:sldMkLst>
          <pc:docMk/>
          <pc:sldMk cId="0" sldId="257"/>
        </pc:sldMkLst>
        <pc:spChg chg="del">
          <ac:chgData name="Colin Hoang" userId="02aee87d5f5f4acf" providerId="LiveId" clId="{E4EDE063-AEAF-4AF1-9BCF-D49211A3DBD4}" dt="2026-07-29T03:55:09.147" v="0" actId="478"/>
          <ac:spMkLst>
            <pc:docMk/>
            <pc:sldMk cId="0" sldId="257"/>
            <ac:spMk id="7" creationId="{00000000-0000-0000-0000-000000000000}"/>
          </ac:spMkLst>
        </pc:spChg>
        <pc:spChg chg="del">
          <ac:chgData name="Colin Hoang" userId="02aee87d5f5f4acf" providerId="LiveId" clId="{E4EDE063-AEAF-4AF1-9BCF-D49211A3DBD4}" dt="2026-07-29T03:55:14.762" v="1" actId="478"/>
          <ac:spMkLst>
            <pc:docMk/>
            <pc:sldMk cId="0" sldId="257"/>
            <ac:spMk id="8" creationId="{00000000-0000-0000-0000-000000000000}"/>
          </ac:spMkLst>
        </pc:spChg>
        <pc:spChg chg="del">
          <ac:chgData name="Colin Hoang" userId="02aee87d5f5f4acf" providerId="LiveId" clId="{E4EDE063-AEAF-4AF1-9BCF-D49211A3DBD4}" dt="2026-07-29T03:55:14.762" v="1" actId="478"/>
          <ac:spMkLst>
            <pc:docMk/>
            <pc:sldMk cId="0" sldId="257"/>
            <ac:spMk id="9" creationId="{00000000-0000-0000-0000-000000000000}"/>
          </ac:spMkLst>
        </pc:spChg>
        <pc:spChg chg="del">
          <ac:chgData name="Colin Hoang" userId="02aee87d5f5f4acf" providerId="LiveId" clId="{E4EDE063-AEAF-4AF1-9BCF-D49211A3DBD4}" dt="2026-07-29T03:55:14.762" v="1" actId="478"/>
          <ac:spMkLst>
            <pc:docMk/>
            <pc:sldMk cId="0" sldId="257"/>
            <ac:spMk id="10" creationId="{00000000-0000-0000-0000-000000000000}"/>
          </ac:spMkLst>
        </pc:spChg>
        <pc:spChg chg="del">
          <ac:chgData name="Colin Hoang" userId="02aee87d5f5f4acf" providerId="LiveId" clId="{E4EDE063-AEAF-4AF1-9BCF-D49211A3DBD4}" dt="2026-07-29T03:55:14.762" v="1" actId="478"/>
          <ac:spMkLst>
            <pc:docMk/>
            <pc:sldMk cId="0" sldId="257"/>
            <ac:spMk id="11" creationId="{00000000-0000-0000-0000-000000000000}"/>
          </ac:spMkLst>
        </pc:spChg>
        <pc:spChg chg="mod">
          <ac:chgData name="Colin Hoang" userId="02aee87d5f5f4acf" providerId="LiveId" clId="{E4EDE063-AEAF-4AF1-9BCF-D49211A3DBD4}" dt="2026-07-29T04:01:24.755" v="78" actId="1036"/>
          <ac:spMkLst>
            <pc:docMk/>
            <pc:sldMk cId="0" sldId="257"/>
            <ac:spMk id="12" creationId="{00000000-0000-0000-0000-000000000000}"/>
          </ac:spMkLst>
        </pc:spChg>
        <pc:spChg chg="mod">
          <ac:chgData name="Colin Hoang" userId="02aee87d5f5f4acf" providerId="LiveId" clId="{E4EDE063-AEAF-4AF1-9BCF-D49211A3DBD4}" dt="2026-07-29T04:01:24.755" v="78" actId="1036"/>
          <ac:spMkLst>
            <pc:docMk/>
            <pc:sldMk cId="0" sldId="257"/>
            <ac:spMk id="13" creationId="{00000000-0000-0000-0000-000000000000}"/>
          </ac:spMkLst>
        </pc:spChg>
        <pc:spChg chg="mod">
          <ac:chgData name="Colin Hoang" userId="02aee87d5f5f4acf" providerId="LiveId" clId="{E4EDE063-AEAF-4AF1-9BCF-D49211A3DBD4}" dt="2026-07-29T04:01:24.755" v="78" actId="1036"/>
          <ac:spMkLst>
            <pc:docMk/>
            <pc:sldMk cId="0" sldId="257"/>
            <ac:spMk id="14" creationId="{00000000-0000-0000-0000-000000000000}"/>
          </ac:spMkLst>
        </pc:spChg>
        <pc:spChg chg="mod">
          <ac:chgData name="Colin Hoang" userId="02aee87d5f5f4acf" providerId="LiveId" clId="{E4EDE063-AEAF-4AF1-9BCF-D49211A3DBD4}" dt="2026-07-29T04:01:24.755" v="78" actId="1036"/>
          <ac:spMkLst>
            <pc:docMk/>
            <pc:sldMk cId="0" sldId="257"/>
            <ac:spMk id="15" creationId="{00000000-0000-0000-0000-000000000000}"/>
          </ac:spMkLst>
        </pc:spChg>
        <pc:spChg chg="mod">
          <ac:chgData name="Colin Hoang" userId="02aee87d5f5f4acf" providerId="LiveId" clId="{E4EDE063-AEAF-4AF1-9BCF-D49211A3DBD4}" dt="2026-07-29T04:01:24.755" v="78" actId="1036"/>
          <ac:spMkLst>
            <pc:docMk/>
            <pc:sldMk cId="0" sldId="257"/>
            <ac:spMk id="16" creationId="{00000000-0000-0000-0000-000000000000}"/>
          </ac:spMkLst>
        </pc:spChg>
        <pc:spChg chg="mod">
          <ac:chgData name="Colin Hoang" userId="02aee87d5f5f4acf" providerId="LiveId" clId="{E4EDE063-AEAF-4AF1-9BCF-D49211A3DBD4}" dt="2026-07-29T04:01:24.755" v="78" actId="1036"/>
          <ac:spMkLst>
            <pc:docMk/>
            <pc:sldMk cId="0" sldId="257"/>
            <ac:spMk id="17" creationId="{00000000-0000-0000-0000-000000000000}"/>
          </ac:spMkLst>
        </pc:spChg>
        <pc:spChg chg="mod">
          <ac:chgData name="Colin Hoang" userId="02aee87d5f5f4acf" providerId="LiveId" clId="{E4EDE063-AEAF-4AF1-9BCF-D49211A3DBD4}" dt="2026-07-29T04:01:24.755" v="78" actId="1036"/>
          <ac:spMkLst>
            <pc:docMk/>
            <pc:sldMk cId="0" sldId="257"/>
            <ac:spMk id="18" creationId="{00000000-0000-0000-0000-000000000000}"/>
          </ac:spMkLst>
        </pc:spChg>
        <pc:spChg chg="mod">
          <ac:chgData name="Colin Hoang" userId="02aee87d5f5f4acf" providerId="LiveId" clId="{E4EDE063-AEAF-4AF1-9BCF-D49211A3DBD4}" dt="2026-07-29T03:59:12.600" v="15" actId="1076"/>
          <ac:spMkLst>
            <pc:docMk/>
            <pc:sldMk cId="0" sldId="257"/>
            <ac:spMk id="19" creationId="{00000000-0000-0000-0000-000000000000}"/>
          </ac:spMkLst>
        </pc:spChg>
        <pc:spChg chg="mod">
          <ac:chgData name="Colin Hoang" userId="02aee87d5f5f4acf" providerId="LiveId" clId="{E4EDE063-AEAF-4AF1-9BCF-D49211A3DBD4}" dt="2026-07-29T04:01:24.755" v="78" actId="1036"/>
          <ac:spMkLst>
            <pc:docMk/>
            <pc:sldMk cId="0" sldId="257"/>
            <ac:spMk id="20" creationId="{00000000-0000-0000-0000-000000000000}"/>
          </ac:spMkLst>
        </pc:spChg>
        <pc:spChg chg="mod">
          <ac:chgData name="Colin Hoang" userId="02aee87d5f5f4acf" providerId="LiveId" clId="{E4EDE063-AEAF-4AF1-9BCF-D49211A3DBD4}" dt="2026-07-29T04:01:24.755" v="78" actId="1036"/>
          <ac:spMkLst>
            <pc:docMk/>
            <pc:sldMk cId="0" sldId="257"/>
            <ac:spMk id="21" creationId="{00000000-0000-0000-0000-000000000000}"/>
          </ac:spMkLst>
        </pc:spChg>
        <pc:spChg chg="mod">
          <ac:chgData name="Colin Hoang" userId="02aee87d5f5f4acf" providerId="LiveId" clId="{E4EDE063-AEAF-4AF1-9BCF-D49211A3DBD4}" dt="2026-07-29T04:01:03.368" v="69" actId="1076"/>
          <ac:spMkLst>
            <pc:docMk/>
            <pc:sldMk cId="0" sldId="257"/>
            <ac:spMk id="22" creationId="{00000000-0000-0000-0000-000000000000}"/>
          </ac:spMkLst>
        </pc:spChg>
        <pc:spChg chg="mod">
          <ac:chgData name="Colin Hoang" userId="02aee87d5f5f4acf" providerId="LiveId" clId="{E4EDE063-AEAF-4AF1-9BCF-D49211A3DBD4}" dt="2026-07-29T04:01:03.368" v="69" actId="1076"/>
          <ac:spMkLst>
            <pc:docMk/>
            <pc:sldMk cId="0" sldId="257"/>
            <ac:spMk id="23" creationId="{00000000-0000-0000-0000-000000000000}"/>
          </ac:spMkLst>
        </pc:spChg>
        <pc:spChg chg="mod">
          <ac:chgData name="Colin Hoang" userId="02aee87d5f5f4acf" providerId="LiveId" clId="{E4EDE063-AEAF-4AF1-9BCF-D49211A3DBD4}" dt="2026-07-29T04:01:03.368" v="69" actId="1076"/>
          <ac:spMkLst>
            <pc:docMk/>
            <pc:sldMk cId="0" sldId="257"/>
            <ac:spMk id="24" creationId="{00000000-0000-0000-0000-000000000000}"/>
          </ac:spMkLst>
        </pc:spChg>
        <pc:spChg chg="mod">
          <ac:chgData name="Colin Hoang" userId="02aee87d5f5f4acf" providerId="LiveId" clId="{E4EDE063-AEAF-4AF1-9BCF-D49211A3DBD4}" dt="2026-07-29T04:01:03.368" v="69" actId="1076"/>
          <ac:spMkLst>
            <pc:docMk/>
            <pc:sldMk cId="0" sldId="257"/>
            <ac:spMk id="25" creationId="{00000000-0000-0000-0000-000000000000}"/>
          </ac:spMkLst>
        </pc:spChg>
        <pc:spChg chg="mod">
          <ac:chgData name="Colin Hoang" userId="02aee87d5f5f4acf" providerId="LiveId" clId="{E4EDE063-AEAF-4AF1-9BCF-D49211A3DBD4}" dt="2026-07-29T04:01:03.368" v="69" actId="1076"/>
          <ac:spMkLst>
            <pc:docMk/>
            <pc:sldMk cId="0" sldId="257"/>
            <ac:spMk id="26" creationId="{00000000-0000-0000-0000-000000000000}"/>
          </ac:spMkLst>
        </pc:spChg>
        <pc:spChg chg="mod">
          <ac:chgData name="Colin Hoang" userId="02aee87d5f5f4acf" providerId="LiveId" clId="{E4EDE063-AEAF-4AF1-9BCF-D49211A3DBD4}" dt="2026-07-29T04:00:55.381" v="68" actId="1076"/>
          <ac:spMkLst>
            <pc:docMk/>
            <pc:sldMk cId="0" sldId="257"/>
            <ac:spMk id="27" creationId="{00000000-0000-0000-0000-000000000000}"/>
          </ac:spMkLst>
        </pc:spChg>
        <pc:spChg chg="mod">
          <ac:chgData name="Colin Hoang" userId="02aee87d5f5f4acf" providerId="LiveId" clId="{E4EDE063-AEAF-4AF1-9BCF-D49211A3DBD4}" dt="2026-07-29T04:00:55.381" v="68" actId="1076"/>
          <ac:spMkLst>
            <pc:docMk/>
            <pc:sldMk cId="0" sldId="257"/>
            <ac:spMk id="28" creationId="{00000000-0000-0000-0000-000000000000}"/>
          </ac:spMkLst>
        </pc:spChg>
        <pc:spChg chg="mod">
          <ac:chgData name="Colin Hoang" userId="02aee87d5f5f4acf" providerId="LiveId" clId="{E4EDE063-AEAF-4AF1-9BCF-D49211A3DBD4}" dt="2026-07-29T04:00:55.381" v="68" actId="1076"/>
          <ac:spMkLst>
            <pc:docMk/>
            <pc:sldMk cId="0" sldId="257"/>
            <ac:spMk id="29" creationId="{00000000-0000-0000-0000-000000000000}"/>
          </ac:spMkLst>
        </pc:spChg>
        <pc:spChg chg="mod">
          <ac:chgData name="Colin Hoang" userId="02aee87d5f5f4acf" providerId="LiveId" clId="{E4EDE063-AEAF-4AF1-9BCF-D49211A3DBD4}" dt="2026-07-29T04:00:43.354" v="67" actId="1076"/>
          <ac:spMkLst>
            <pc:docMk/>
            <pc:sldMk cId="0" sldId="257"/>
            <ac:spMk id="32" creationId="{00000000-0000-0000-0000-000000000000}"/>
          </ac:spMkLst>
        </pc:spChg>
        <pc:spChg chg="mod">
          <ac:chgData name="Colin Hoang" userId="02aee87d5f5f4acf" providerId="LiveId" clId="{E4EDE063-AEAF-4AF1-9BCF-D49211A3DBD4}" dt="2026-07-29T04:00:43.354" v="67" actId="1076"/>
          <ac:spMkLst>
            <pc:docMk/>
            <pc:sldMk cId="0" sldId="257"/>
            <ac:spMk id="33" creationId="{00000000-0000-0000-0000-000000000000}"/>
          </ac:spMkLst>
        </pc:spChg>
        <pc:spChg chg="mod">
          <ac:chgData name="Colin Hoang" userId="02aee87d5f5f4acf" providerId="LiveId" clId="{E4EDE063-AEAF-4AF1-9BCF-D49211A3DBD4}" dt="2026-07-29T04:00:43.354" v="67" actId="1076"/>
          <ac:spMkLst>
            <pc:docMk/>
            <pc:sldMk cId="0" sldId="257"/>
            <ac:spMk id="34" creationId="{00000000-0000-0000-0000-000000000000}"/>
          </ac:spMkLst>
        </pc:spChg>
        <pc:spChg chg="mod">
          <ac:chgData name="Colin Hoang" userId="02aee87d5f5f4acf" providerId="LiveId" clId="{E4EDE063-AEAF-4AF1-9BCF-D49211A3DBD4}" dt="2026-07-29T04:00:43.354" v="67" actId="1076"/>
          <ac:spMkLst>
            <pc:docMk/>
            <pc:sldMk cId="0" sldId="257"/>
            <ac:spMk id="35" creationId="{00000000-0000-0000-0000-000000000000}"/>
          </ac:spMkLst>
        </pc:spChg>
        <pc:spChg chg="add mod">
          <ac:chgData name="Colin Hoang" userId="02aee87d5f5f4acf" providerId="LiveId" clId="{E4EDE063-AEAF-4AF1-9BCF-D49211A3DBD4}" dt="2026-07-29T03:59:17.648" v="16" actId="14100"/>
          <ac:spMkLst>
            <pc:docMk/>
            <pc:sldMk cId="0" sldId="257"/>
            <ac:spMk id="39" creationId="{D92979C0-F403-4A1F-2C65-F9EC7A046BF1}"/>
          </ac:spMkLst>
        </pc:spChg>
        <pc:spChg chg="add mod">
          <ac:chgData name="Colin Hoang" userId="02aee87d5f5f4acf" providerId="LiveId" clId="{E4EDE063-AEAF-4AF1-9BCF-D49211A3DBD4}" dt="2026-07-29T04:01:47.522" v="82" actId="20577"/>
          <ac:spMkLst>
            <pc:docMk/>
            <pc:sldMk cId="0" sldId="257"/>
            <ac:spMk id="41" creationId="{779EEFB1-DCF6-3AA3-C3FD-A8E180A9F4D3}"/>
          </ac:spMkLst>
        </pc:spChg>
        <pc:spChg chg="add mod">
          <ac:chgData name="Colin Hoang" userId="02aee87d5f5f4acf" providerId="LiveId" clId="{E4EDE063-AEAF-4AF1-9BCF-D49211A3DBD4}" dt="2026-07-29T04:01:41.287" v="80" actId="1076"/>
          <ac:spMkLst>
            <pc:docMk/>
            <pc:sldMk cId="0" sldId="257"/>
            <ac:spMk id="43" creationId="{FBD2539D-DEE5-6D49-0F53-F33E4D4FA9F9}"/>
          </ac:spMkLst>
        </pc:spChg>
        <pc:spChg chg="add mod">
          <ac:chgData name="Colin Hoang" userId="02aee87d5f5f4acf" providerId="LiveId" clId="{E4EDE063-AEAF-4AF1-9BCF-D49211A3DBD4}" dt="2026-07-29T04:02:03.174" v="108" actId="20577"/>
          <ac:spMkLst>
            <pc:docMk/>
            <pc:sldMk cId="0" sldId="257"/>
            <ac:spMk id="45" creationId="{18595016-FA84-BE57-E3F8-DA95A6686A7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152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138"/>
        </a:solidFill>
        <a:effectLst/>
      </p:bgPr>
    </p:bg>
    <p:spTree>
      <p:nvGrpSpPr>
        <p:cNvPr id="1" name=""/>
        <p:cNvGrpSpPr/>
        <p:nvPr/>
      </p:nvGrpSpPr>
      <p:grpSpPr>
        <a:xfrm>
          <a:off x="0" y="0"/>
          <a:ext cx="0" cy="0"/>
          <a:chOff x="0" y="0"/>
          <a:chExt cx="0" cy="0"/>
        </a:xfrm>
      </p:grpSpPr>
      <p:sp>
        <p:nvSpPr>
          <p:cNvPr id="2" name="Shape 0"/>
          <p:cNvSpPr/>
          <p:nvPr/>
        </p:nvSpPr>
        <p:spPr>
          <a:xfrm>
            <a:off x="9052560" y="1097280"/>
            <a:ext cx="2560320" cy="548640"/>
          </a:xfrm>
          <a:prstGeom prst="roundRect">
            <a:avLst>
              <a:gd name="adj" fmla="val 13333"/>
            </a:avLst>
          </a:prstGeom>
          <a:solidFill>
            <a:srgbClr val="27C6A6"/>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3" name="Shape 1"/>
          <p:cNvSpPr/>
          <p:nvPr/>
        </p:nvSpPr>
        <p:spPr>
          <a:xfrm>
            <a:off x="9198864" y="1143000"/>
            <a:ext cx="2286000" cy="548640"/>
          </a:xfrm>
          <a:prstGeom prst="roundRect">
            <a:avLst>
              <a:gd name="adj" fmla="val 13333"/>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4" name="Shape 2"/>
          <p:cNvSpPr/>
          <p:nvPr/>
        </p:nvSpPr>
        <p:spPr>
          <a:xfrm>
            <a:off x="9345168" y="1188720"/>
            <a:ext cx="2011680" cy="548640"/>
          </a:xfrm>
          <a:prstGeom prst="roundRect">
            <a:avLst>
              <a:gd name="adj" fmla="val 13333"/>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5" name="Text 3"/>
          <p:cNvSpPr/>
          <p:nvPr/>
        </p:nvSpPr>
        <p:spPr>
          <a:xfrm>
            <a:off x="548640" y="1463040"/>
            <a:ext cx="8229600" cy="365760"/>
          </a:xfrm>
          <a:prstGeom prst="rect">
            <a:avLst/>
          </a:prstGeom>
          <a:noFill/>
          <a:ln/>
        </p:spPr>
        <p:txBody>
          <a:bodyPr wrap="square" rtlCol="0" anchor="ctr"/>
          <a:lstStyle/>
          <a:p>
            <a:pPr marL="0" indent="0">
              <a:buNone/>
            </a:pPr>
            <a:r>
              <a:rPr lang="en-US" sz="1500" b="1" kern="0" spc="300" dirty="0">
                <a:solidFill>
                  <a:srgbClr val="27C6A6"/>
                </a:solidFill>
                <a:latin typeface="Calibri" pitchFamily="34" charset="0"/>
                <a:ea typeface="Calibri" pitchFamily="34" charset="-122"/>
                <a:cs typeface="Calibri" pitchFamily="34" charset="-120"/>
              </a:rPr>
              <a:t>DAY 2 · KHÓA DEVOPS 8 GIỜ</a:t>
            </a:r>
            <a:endParaRPr lang="en-US" sz="1500" dirty="0"/>
          </a:p>
        </p:txBody>
      </p:sp>
      <p:sp>
        <p:nvSpPr>
          <p:cNvPr id="6" name="Text 4"/>
          <p:cNvSpPr/>
          <p:nvPr/>
        </p:nvSpPr>
        <p:spPr>
          <a:xfrm>
            <a:off x="548640" y="1874520"/>
            <a:ext cx="10515600" cy="914400"/>
          </a:xfrm>
          <a:prstGeom prst="rect">
            <a:avLst/>
          </a:prstGeom>
          <a:noFill/>
          <a:ln/>
        </p:spPr>
        <p:txBody>
          <a:bodyPr wrap="square"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Docker &amp; DevOps</a:t>
            </a:r>
            <a:endParaRPr lang="en-US" sz="5200" dirty="0"/>
          </a:p>
        </p:txBody>
      </p:sp>
      <p:sp>
        <p:nvSpPr>
          <p:cNvPr id="7" name="Text 5"/>
          <p:cNvSpPr/>
          <p:nvPr/>
        </p:nvSpPr>
        <p:spPr>
          <a:xfrm>
            <a:off x="548640" y="2880360"/>
            <a:ext cx="10972800" cy="640080"/>
          </a:xfrm>
          <a:prstGeom prst="rect">
            <a:avLst/>
          </a:prstGeom>
          <a:noFill/>
          <a:ln/>
        </p:spPr>
        <p:txBody>
          <a:bodyPr wrap="square" rtlCol="0" anchor="ctr"/>
          <a:lstStyle/>
          <a:p>
            <a:pPr marL="0" indent="0">
              <a:buNone/>
            </a:pPr>
            <a:r>
              <a:rPr lang="en-US" sz="2800" dirty="0">
                <a:solidFill>
                  <a:srgbClr val="CFE3EC"/>
                </a:solidFill>
                <a:latin typeface="Cambria" pitchFamily="34" charset="0"/>
                <a:ea typeface="Cambria" pitchFamily="34" charset="-122"/>
                <a:cs typeface="Cambria" pitchFamily="34" charset="-120"/>
              </a:rPr>
              <a:t>Git · CI/CD · Docker · Docker Swarm</a:t>
            </a:r>
            <a:endParaRPr lang="en-US" sz="2800" dirty="0"/>
          </a:p>
        </p:txBody>
      </p:sp>
      <p:sp>
        <p:nvSpPr>
          <p:cNvPr id="8" name="Text 6"/>
          <p:cNvSpPr/>
          <p:nvPr/>
        </p:nvSpPr>
        <p:spPr>
          <a:xfrm>
            <a:off x="548640" y="3840480"/>
            <a:ext cx="10789920" cy="731520"/>
          </a:xfrm>
          <a:prstGeom prst="rect">
            <a:avLst/>
          </a:prstGeom>
          <a:noFill/>
          <a:ln/>
        </p:spPr>
        <p:txBody>
          <a:bodyPr wrap="square" rtlCol="0" anchor="ctr"/>
          <a:lstStyle/>
          <a:p>
            <a:pPr marL="0" indent="0">
              <a:lnSpc>
                <a:spcPct val="130000"/>
              </a:lnSpc>
              <a:buNone/>
            </a:pPr>
            <a:r>
              <a:rPr lang="en-US" sz="1600" dirty="0">
                <a:solidFill>
                  <a:srgbClr val="AFC6D4"/>
                </a:solidFill>
                <a:latin typeface="Calibri" pitchFamily="34" charset="0"/>
                <a:ea typeface="Calibri" pitchFamily="34" charset="-122"/>
                <a:cs typeface="Calibri" pitchFamily="34" charset="-120"/>
              </a:rPr>
              <a:t>Mỗi chủ đề được nhìn qua 3 lăng kính: nó LÀ GÌ, CÁCH LÀM (kèm lab), và VAI TRÒ trong quy trình DevOps.</a:t>
            </a:r>
            <a:endParaRPr lang="en-US" sz="1600" dirty="0"/>
          </a:p>
        </p:txBody>
      </p:sp>
      <p:sp>
        <p:nvSpPr>
          <p:cNvPr id="9" name="Shape 7"/>
          <p:cNvSpPr/>
          <p:nvPr/>
        </p:nvSpPr>
        <p:spPr>
          <a:xfrm>
            <a:off x="548640" y="4937760"/>
            <a:ext cx="3566160" cy="960120"/>
          </a:xfrm>
          <a:prstGeom prst="roundRect">
            <a:avLst>
              <a:gd name="adj" fmla="val 9524"/>
            </a:avLst>
          </a:prstGeom>
          <a:solidFill>
            <a:srgbClr val="13314F"/>
          </a:solidFill>
          <a:ln w="25400">
            <a:solidFill>
              <a:srgbClr val="0E7C8B"/>
            </a:solidFill>
            <a:prstDash val="solid"/>
          </a:ln>
        </p:spPr>
        <p:txBody>
          <a:bodyPr/>
          <a:lstStyle/>
          <a:p>
            <a:endParaRPr lang="en-US"/>
          </a:p>
        </p:txBody>
      </p:sp>
      <p:sp>
        <p:nvSpPr>
          <p:cNvPr id="10" name="Text 8"/>
          <p:cNvSpPr/>
          <p:nvPr/>
        </p:nvSpPr>
        <p:spPr>
          <a:xfrm>
            <a:off x="777240" y="5074920"/>
            <a:ext cx="3200400" cy="365760"/>
          </a:xfrm>
          <a:prstGeom prst="rect">
            <a:avLst/>
          </a:prstGeom>
          <a:noFill/>
          <a:ln/>
        </p:spPr>
        <p:txBody>
          <a:bodyPr wrap="square" lIns="0" tIns="0" rIns="0" bIns="0" rtlCol="0" anchor="ctr"/>
          <a:lstStyle/>
          <a:p>
            <a:pPr marL="0" indent="0">
              <a:buNone/>
            </a:pPr>
            <a:r>
              <a:rPr lang="en-US" sz="1600" b="1" dirty="0">
                <a:solidFill>
                  <a:srgbClr val="0E7C8B"/>
                </a:solidFill>
                <a:latin typeface="Cambria" pitchFamily="34" charset="0"/>
                <a:ea typeface="Cambria" pitchFamily="34" charset="-122"/>
                <a:cs typeface="Cambria" pitchFamily="34" charset="-120"/>
              </a:rPr>
              <a:t>LÀ GÌ</a:t>
            </a:r>
            <a:endParaRPr lang="en-US" sz="1600" dirty="0"/>
          </a:p>
        </p:txBody>
      </p:sp>
      <p:sp>
        <p:nvSpPr>
          <p:cNvPr id="11" name="Text 9"/>
          <p:cNvSpPr/>
          <p:nvPr/>
        </p:nvSpPr>
        <p:spPr>
          <a:xfrm>
            <a:off x="777240" y="5468112"/>
            <a:ext cx="3200400" cy="365760"/>
          </a:xfrm>
          <a:prstGeom prst="rect">
            <a:avLst/>
          </a:prstGeom>
          <a:noFill/>
          <a:ln/>
        </p:spPr>
        <p:txBody>
          <a:bodyPr wrap="square" lIns="0" tIns="0" rIns="0" bIns="0" rtlCol="0" anchor="ctr"/>
          <a:lstStyle/>
          <a:p>
            <a:pPr marL="0" indent="0">
              <a:buNone/>
            </a:pPr>
            <a:r>
              <a:rPr lang="en-US" sz="1250" dirty="0">
                <a:solidFill>
                  <a:srgbClr val="AFC6D4"/>
                </a:solidFill>
                <a:latin typeface="Calibri" pitchFamily="34" charset="0"/>
                <a:ea typeface="Calibri" pitchFamily="34" charset="-122"/>
                <a:cs typeface="Calibri" pitchFamily="34" charset="-120"/>
              </a:rPr>
              <a:t>Khái niệm &amp; thành phần</a:t>
            </a:r>
            <a:endParaRPr lang="en-US" sz="1250" dirty="0"/>
          </a:p>
        </p:txBody>
      </p:sp>
      <p:sp>
        <p:nvSpPr>
          <p:cNvPr id="12" name="Shape 10"/>
          <p:cNvSpPr/>
          <p:nvPr/>
        </p:nvSpPr>
        <p:spPr>
          <a:xfrm>
            <a:off x="4306824" y="4937760"/>
            <a:ext cx="3566160" cy="960120"/>
          </a:xfrm>
          <a:prstGeom prst="roundRect">
            <a:avLst>
              <a:gd name="adj" fmla="val 9524"/>
            </a:avLst>
          </a:prstGeom>
          <a:solidFill>
            <a:srgbClr val="13314F"/>
          </a:solidFill>
          <a:ln w="25400">
            <a:solidFill>
              <a:srgbClr val="13314F"/>
            </a:solidFill>
            <a:prstDash val="solid"/>
          </a:ln>
        </p:spPr>
        <p:txBody>
          <a:bodyPr/>
          <a:lstStyle/>
          <a:p>
            <a:endParaRPr lang="en-US"/>
          </a:p>
        </p:txBody>
      </p:sp>
      <p:sp>
        <p:nvSpPr>
          <p:cNvPr id="13" name="Text 11"/>
          <p:cNvSpPr/>
          <p:nvPr/>
        </p:nvSpPr>
        <p:spPr>
          <a:xfrm>
            <a:off x="4535424" y="5074920"/>
            <a:ext cx="3200400" cy="365760"/>
          </a:xfrm>
          <a:prstGeom prst="rect">
            <a:avLst/>
          </a:prstGeom>
          <a:noFill/>
          <a:ln/>
        </p:spPr>
        <p:txBody>
          <a:bodyPr wrap="square" lIns="0" tIns="0" rIns="0" bIns="0" rtlCol="0" anchor="ctr"/>
          <a:lstStyle/>
          <a:p>
            <a:pPr marL="0" indent="0">
              <a:buNone/>
            </a:pPr>
            <a:r>
              <a:rPr lang="en-US" sz="1600" b="1" dirty="0">
                <a:solidFill>
                  <a:srgbClr val="CFE3EC"/>
                </a:solidFill>
                <a:latin typeface="Cambria" pitchFamily="34" charset="0"/>
                <a:ea typeface="Cambria" pitchFamily="34" charset="-122"/>
                <a:cs typeface="Cambria" pitchFamily="34" charset="-120"/>
              </a:rPr>
              <a:t>CÁCH LÀM · LAB</a:t>
            </a:r>
            <a:endParaRPr lang="en-US" sz="1600" dirty="0"/>
          </a:p>
        </p:txBody>
      </p:sp>
      <p:sp>
        <p:nvSpPr>
          <p:cNvPr id="14" name="Text 12"/>
          <p:cNvSpPr/>
          <p:nvPr/>
        </p:nvSpPr>
        <p:spPr>
          <a:xfrm>
            <a:off x="4535424" y="5468112"/>
            <a:ext cx="3200400" cy="365760"/>
          </a:xfrm>
          <a:prstGeom prst="rect">
            <a:avLst/>
          </a:prstGeom>
          <a:noFill/>
          <a:ln/>
        </p:spPr>
        <p:txBody>
          <a:bodyPr wrap="square" lIns="0" tIns="0" rIns="0" bIns="0" rtlCol="0" anchor="ctr"/>
          <a:lstStyle/>
          <a:p>
            <a:pPr marL="0" indent="0">
              <a:buNone/>
            </a:pPr>
            <a:r>
              <a:rPr lang="en-US" sz="1250" dirty="0">
                <a:solidFill>
                  <a:srgbClr val="AFC6D4"/>
                </a:solidFill>
                <a:latin typeface="Calibri" pitchFamily="34" charset="0"/>
                <a:ea typeface="Calibri" pitchFamily="34" charset="-122"/>
                <a:cs typeface="Calibri" pitchFamily="34" charset="-120"/>
              </a:rPr>
              <a:t>Lệnh, cấu hình, thực hành</a:t>
            </a:r>
            <a:endParaRPr lang="en-US" sz="1250" dirty="0"/>
          </a:p>
        </p:txBody>
      </p:sp>
      <p:sp>
        <p:nvSpPr>
          <p:cNvPr id="15" name="Shape 13"/>
          <p:cNvSpPr/>
          <p:nvPr/>
        </p:nvSpPr>
        <p:spPr>
          <a:xfrm>
            <a:off x="8065008" y="4937760"/>
            <a:ext cx="3566160" cy="960120"/>
          </a:xfrm>
          <a:prstGeom prst="roundRect">
            <a:avLst>
              <a:gd name="adj" fmla="val 9524"/>
            </a:avLst>
          </a:prstGeom>
          <a:solidFill>
            <a:srgbClr val="13314F"/>
          </a:solidFill>
          <a:ln w="25400">
            <a:solidFill>
              <a:srgbClr val="C77D1A"/>
            </a:solidFill>
            <a:prstDash val="solid"/>
          </a:ln>
        </p:spPr>
        <p:txBody>
          <a:bodyPr/>
          <a:lstStyle/>
          <a:p>
            <a:endParaRPr lang="en-US"/>
          </a:p>
        </p:txBody>
      </p:sp>
      <p:sp>
        <p:nvSpPr>
          <p:cNvPr id="16" name="Text 14"/>
          <p:cNvSpPr/>
          <p:nvPr/>
        </p:nvSpPr>
        <p:spPr>
          <a:xfrm>
            <a:off x="8293608" y="5074920"/>
            <a:ext cx="3200400" cy="365760"/>
          </a:xfrm>
          <a:prstGeom prst="rect">
            <a:avLst/>
          </a:prstGeom>
          <a:noFill/>
          <a:ln/>
        </p:spPr>
        <p:txBody>
          <a:bodyPr wrap="square" lIns="0" tIns="0" rIns="0" bIns="0" rtlCol="0" anchor="ctr"/>
          <a:lstStyle/>
          <a:p>
            <a:pPr marL="0" indent="0">
              <a:buNone/>
            </a:pPr>
            <a:r>
              <a:rPr lang="en-US" sz="1600" b="1" dirty="0">
                <a:solidFill>
                  <a:srgbClr val="C77D1A"/>
                </a:solidFill>
                <a:latin typeface="Cambria" pitchFamily="34" charset="0"/>
                <a:ea typeface="Cambria" pitchFamily="34" charset="-122"/>
                <a:cs typeface="Cambria" pitchFamily="34" charset="-120"/>
              </a:rPr>
              <a:t>VAI TRÒ DEVOPS</a:t>
            </a:r>
            <a:endParaRPr lang="en-US" sz="1600" dirty="0"/>
          </a:p>
        </p:txBody>
      </p:sp>
      <p:sp>
        <p:nvSpPr>
          <p:cNvPr id="17" name="Text 15"/>
          <p:cNvSpPr/>
          <p:nvPr/>
        </p:nvSpPr>
        <p:spPr>
          <a:xfrm>
            <a:off x="8293608" y="5468112"/>
            <a:ext cx="3200400" cy="365760"/>
          </a:xfrm>
          <a:prstGeom prst="rect">
            <a:avLst/>
          </a:prstGeom>
          <a:noFill/>
          <a:ln/>
        </p:spPr>
        <p:txBody>
          <a:bodyPr wrap="square" lIns="0" tIns="0" rIns="0" bIns="0" rtlCol="0" anchor="ctr"/>
          <a:lstStyle/>
          <a:p>
            <a:pPr marL="0" indent="0">
              <a:buNone/>
            </a:pPr>
            <a:r>
              <a:rPr lang="en-US" sz="1250" dirty="0">
                <a:solidFill>
                  <a:srgbClr val="AFC6D4"/>
                </a:solidFill>
                <a:latin typeface="Calibri" pitchFamily="34" charset="0"/>
                <a:ea typeface="Calibri" pitchFamily="34" charset="-122"/>
                <a:cs typeface="Calibri" pitchFamily="34" charset="-120"/>
              </a:rPr>
              <a:t>Giải quyết vấn đề gì</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4" name="Shape 2"/>
          <p:cNvSpPr/>
          <p:nvPr/>
        </p:nvSpPr>
        <p:spPr>
          <a:xfrm>
            <a:off x="1627632" y="502920"/>
            <a:ext cx="1691640" cy="347472"/>
          </a:xfrm>
          <a:prstGeom prst="roundRect">
            <a:avLst>
              <a:gd name="adj" fmla="val 50000"/>
            </a:avLst>
          </a:prstGeom>
          <a:solidFill>
            <a:srgbClr val="0E7C8B"/>
          </a:solidFill>
          <a:ln/>
        </p:spPr>
        <p:txBody>
          <a:bodyPr/>
          <a:lstStyle/>
          <a:p>
            <a:endParaRPr lang="en-US"/>
          </a:p>
        </p:txBody>
      </p:sp>
      <p:sp>
        <p:nvSpPr>
          <p:cNvPr id="5" name="Text 3"/>
          <p:cNvSpPr/>
          <p:nvPr/>
        </p:nvSpPr>
        <p:spPr>
          <a:xfrm>
            <a:off x="1627632" y="502920"/>
            <a:ext cx="16916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KHÁI NIỆM</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Lộ trình 6 session — 8 giờ</a:t>
            </a:r>
            <a:endParaRPr lang="en-US" sz="2700" dirty="0"/>
          </a:p>
        </p:txBody>
      </p:sp>
      <p:sp>
        <p:nvSpPr>
          <p:cNvPr id="12" name="Shape 10"/>
          <p:cNvSpPr/>
          <p:nvPr/>
        </p:nvSpPr>
        <p:spPr>
          <a:xfrm>
            <a:off x="548640" y="2488859"/>
            <a:ext cx="11091672" cy="539496"/>
          </a:xfrm>
          <a:prstGeom prst="roundRect">
            <a:avLst>
              <a:gd name="adj" fmla="val 8333"/>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3" name="Shape 11"/>
          <p:cNvSpPr/>
          <p:nvPr/>
        </p:nvSpPr>
        <p:spPr>
          <a:xfrm>
            <a:off x="694944" y="2564213"/>
            <a:ext cx="420624" cy="420624"/>
          </a:xfrm>
          <a:prstGeom prst="ellipse">
            <a:avLst/>
          </a:prstGeom>
          <a:solidFill>
            <a:srgbClr val="0E7C8B"/>
          </a:solidFill>
          <a:ln/>
        </p:spPr>
        <p:txBody>
          <a:bodyPr/>
          <a:lstStyle/>
          <a:p>
            <a:endParaRPr lang="en-US"/>
          </a:p>
        </p:txBody>
      </p:sp>
      <p:sp>
        <p:nvSpPr>
          <p:cNvPr id="14" name="Text 12"/>
          <p:cNvSpPr/>
          <p:nvPr/>
        </p:nvSpPr>
        <p:spPr>
          <a:xfrm>
            <a:off x="694944" y="2558880"/>
            <a:ext cx="420624" cy="42062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5" name="Text 13"/>
          <p:cNvSpPr/>
          <p:nvPr/>
        </p:nvSpPr>
        <p:spPr>
          <a:xfrm>
            <a:off x="1298448" y="2580299"/>
            <a:ext cx="6035040" cy="305139"/>
          </a:xfrm>
          <a:prstGeom prst="rect">
            <a:avLst/>
          </a:prstGeom>
          <a:noFill/>
          <a:ln/>
        </p:spPr>
        <p:txBody>
          <a:bodyPr wrap="square" lIns="0" tIns="0" rIns="0" bIns="0" rtlCol="0" anchor="ctr"/>
          <a:lstStyle/>
          <a:p>
            <a:pPr marL="0" indent="0">
              <a:buNone/>
            </a:pPr>
            <a:r>
              <a:rPr lang="en-US" sz="1650" b="1" dirty="0">
                <a:solidFill>
                  <a:srgbClr val="16273A"/>
                </a:solidFill>
                <a:latin typeface="Calibri" pitchFamily="34" charset="0"/>
                <a:ea typeface="Calibri" pitchFamily="34" charset="-122"/>
                <a:cs typeface="Calibri" pitchFamily="34" charset="-120"/>
              </a:rPr>
              <a:t>Version Control (Git/GitLab)</a:t>
            </a:r>
            <a:endParaRPr lang="en-US" sz="1650" dirty="0"/>
          </a:p>
        </p:txBody>
      </p:sp>
      <p:sp>
        <p:nvSpPr>
          <p:cNvPr id="16" name="Text 14"/>
          <p:cNvSpPr/>
          <p:nvPr/>
        </p:nvSpPr>
        <p:spPr>
          <a:xfrm>
            <a:off x="7315200" y="2580299"/>
            <a:ext cx="4206240" cy="658368"/>
          </a:xfrm>
          <a:prstGeom prst="rect">
            <a:avLst/>
          </a:prstGeom>
          <a:noFill/>
          <a:ln/>
        </p:spPr>
        <p:txBody>
          <a:bodyPr wrap="square" lIns="0" tIns="0" rIns="0" bIns="0" rtlCol="0" anchor="ctr"/>
          <a:lstStyle/>
          <a:p>
            <a:pPr marL="0" indent="0" algn="r">
              <a:buNone/>
            </a:pPr>
            <a:r>
              <a:rPr lang="en-US" sz="1300" dirty="0">
                <a:solidFill>
                  <a:srgbClr val="5C7186"/>
                </a:solidFill>
                <a:latin typeface="Calibri" pitchFamily="34" charset="0"/>
                <a:ea typeface="Calibri" pitchFamily="34" charset="-122"/>
                <a:cs typeface="Calibri" pitchFamily="34" charset="-120"/>
              </a:rPr>
              <a:t>Là gì · Cách làm+Lab · Vai trò</a:t>
            </a:r>
            <a:endParaRPr lang="en-US" sz="1300" dirty="0"/>
          </a:p>
        </p:txBody>
      </p:sp>
      <p:sp>
        <p:nvSpPr>
          <p:cNvPr id="17" name="Shape 15"/>
          <p:cNvSpPr/>
          <p:nvPr/>
        </p:nvSpPr>
        <p:spPr>
          <a:xfrm>
            <a:off x="548640" y="3112683"/>
            <a:ext cx="11091672" cy="539496"/>
          </a:xfrm>
          <a:prstGeom prst="roundRect">
            <a:avLst>
              <a:gd name="adj" fmla="val 8333"/>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8" name="Shape 16"/>
          <p:cNvSpPr/>
          <p:nvPr/>
        </p:nvSpPr>
        <p:spPr>
          <a:xfrm>
            <a:off x="694944" y="3185835"/>
            <a:ext cx="420624" cy="420624"/>
          </a:xfrm>
          <a:prstGeom prst="ellipse">
            <a:avLst/>
          </a:prstGeom>
          <a:solidFill>
            <a:srgbClr val="0B2138"/>
          </a:solidFill>
          <a:ln/>
        </p:spPr>
        <p:txBody>
          <a:bodyPr/>
          <a:lstStyle/>
          <a:p>
            <a:endParaRPr lang="en-US"/>
          </a:p>
        </p:txBody>
      </p:sp>
      <p:sp>
        <p:nvSpPr>
          <p:cNvPr id="19" name="Text 17"/>
          <p:cNvSpPr/>
          <p:nvPr/>
        </p:nvSpPr>
        <p:spPr>
          <a:xfrm>
            <a:off x="694944" y="3185835"/>
            <a:ext cx="420624" cy="42062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20" name="Text 18"/>
          <p:cNvSpPr/>
          <p:nvPr/>
        </p:nvSpPr>
        <p:spPr>
          <a:xfrm>
            <a:off x="1298448" y="3066963"/>
            <a:ext cx="6035040" cy="658368"/>
          </a:xfrm>
          <a:prstGeom prst="rect">
            <a:avLst/>
          </a:prstGeom>
          <a:noFill/>
          <a:ln/>
        </p:spPr>
        <p:txBody>
          <a:bodyPr wrap="square" lIns="0" tIns="0" rIns="0" bIns="0" rtlCol="0" anchor="ctr"/>
          <a:lstStyle/>
          <a:p>
            <a:pPr marL="0" indent="0">
              <a:buNone/>
            </a:pPr>
            <a:r>
              <a:rPr lang="en-US" sz="1650" b="1" dirty="0">
                <a:solidFill>
                  <a:srgbClr val="16273A"/>
                </a:solidFill>
                <a:latin typeface="Calibri" pitchFamily="34" charset="0"/>
                <a:ea typeface="Calibri" pitchFamily="34" charset="-122"/>
                <a:cs typeface="Calibri" pitchFamily="34" charset="-120"/>
              </a:rPr>
              <a:t>CI/CD (Runner &amp; Actions)</a:t>
            </a:r>
            <a:endParaRPr lang="en-US" sz="1650" dirty="0"/>
          </a:p>
        </p:txBody>
      </p:sp>
      <p:sp>
        <p:nvSpPr>
          <p:cNvPr id="21" name="Text 19"/>
          <p:cNvSpPr/>
          <p:nvPr/>
        </p:nvSpPr>
        <p:spPr>
          <a:xfrm>
            <a:off x="7315200" y="3066963"/>
            <a:ext cx="4206240" cy="658368"/>
          </a:xfrm>
          <a:prstGeom prst="rect">
            <a:avLst/>
          </a:prstGeom>
          <a:noFill/>
          <a:ln/>
        </p:spPr>
        <p:txBody>
          <a:bodyPr wrap="square" lIns="0" tIns="0" rIns="0" bIns="0" rtlCol="0" anchor="ctr"/>
          <a:lstStyle/>
          <a:p>
            <a:pPr marL="0" indent="0" algn="r">
              <a:buNone/>
            </a:pPr>
            <a:r>
              <a:rPr lang="en-US" sz="1300" dirty="0">
                <a:solidFill>
                  <a:srgbClr val="5C7186"/>
                </a:solidFill>
                <a:latin typeface="Calibri" pitchFamily="34" charset="0"/>
                <a:ea typeface="Calibri" pitchFamily="34" charset="-122"/>
                <a:cs typeface="Calibri" pitchFamily="34" charset="-120"/>
              </a:rPr>
              <a:t>Là gì · Cách làm+Lab · Vai trò</a:t>
            </a:r>
            <a:endParaRPr lang="en-US" sz="1300" dirty="0"/>
          </a:p>
        </p:txBody>
      </p:sp>
      <p:sp>
        <p:nvSpPr>
          <p:cNvPr id="22" name="Shape 20"/>
          <p:cNvSpPr/>
          <p:nvPr/>
        </p:nvSpPr>
        <p:spPr>
          <a:xfrm>
            <a:off x="548576" y="4717965"/>
            <a:ext cx="11091672" cy="486664"/>
          </a:xfrm>
          <a:prstGeom prst="roundRect">
            <a:avLst>
              <a:gd name="adj" fmla="val 8333"/>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23" name="Shape 21"/>
          <p:cNvSpPr/>
          <p:nvPr/>
        </p:nvSpPr>
        <p:spPr>
          <a:xfrm>
            <a:off x="694880" y="4738285"/>
            <a:ext cx="420624" cy="420624"/>
          </a:xfrm>
          <a:prstGeom prst="ellipse">
            <a:avLst/>
          </a:prstGeom>
          <a:solidFill>
            <a:srgbClr val="0E7C8B"/>
          </a:solidFill>
          <a:ln/>
        </p:spPr>
        <p:txBody>
          <a:bodyPr/>
          <a:lstStyle/>
          <a:p>
            <a:endParaRPr lang="en-US"/>
          </a:p>
        </p:txBody>
      </p:sp>
      <p:sp>
        <p:nvSpPr>
          <p:cNvPr id="24" name="Text 22"/>
          <p:cNvSpPr/>
          <p:nvPr/>
        </p:nvSpPr>
        <p:spPr>
          <a:xfrm>
            <a:off x="694880" y="4738285"/>
            <a:ext cx="420624" cy="42062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5" name="Text 23"/>
          <p:cNvSpPr/>
          <p:nvPr/>
        </p:nvSpPr>
        <p:spPr>
          <a:xfrm>
            <a:off x="1298384" y="4619413"/>
            <a:ext cx="6035040" cy="658368"/>
          </a:xfrm>
          <a:prstGeom prst="rect">
            <a:avLst/>
          </a:prstGeom>
          <a:noFill/>
          <a:ln/>
        </p:spPr>
        <p:txBody>
          <a:bodyPr wrap="square" lIns="0" tIns="0" rIns="0" bIns="0" rtlCol="0" anchor="ctr"/>
          <a:lstStyle/>
          <a:p>
            <a:pPr marL="0" indent="0">
              <a:buNone/>
            </a:pPr>
            <a:r>
              <a:rPr lang="en-US" sz="1650" b="1" dirty="0">
                <a:solidFill>
                  <a:srgbClr val="16273A"/>
                </a:solidFill>
                <a:latin typeface="Calibri" pitchFamily="34" charset="0"/>
                <a:ea typeface="Calibri" pitchFamily="34" charset="-122"/>
                <a:cs typeface="Calibri" pitchFamily="34" charset="-120"/>
              </a:rPr>
              <a:t>Docker Fundamentals</a:t>
            </a:r>
            <a:endParaRPr lang="en-US" sz="1650" dirty="0"/>
          </a:p>
        </p:txBody>
      </p:sp>
      <p:sp>
        <p:nvSpPr>
          <p:cNvPr id="26" name="Text 24"/>
          <p:cNvSpPr/>
          <p:nvPr/>
        </p:nvSpPr>
        <p:spPr>
          <a:xfrm>
            <a:off x="7315136" y="4619413"/>
            <a:ext cx="4206240" cy="658368"/>
          </a:xfrm>
          <a:prstGeom prst="rect">
            <a:avLst/>
          </a:prstGeom>
          <a:noFill/>
          <a:ln/>
        </p:spPr>
        <p:txBody>
          <a:bodyPr wrap="square" lIns="0" tIns="0" rIns="0" bIns="0" rtlCol="0" anchor="ctr"/>
          <a:lstStyle/>
          <a:p>
            <a:pPr marL="0" indent="0" algn="r">
              <a:buNone/>
            </a:pPr>
            <a:r>
              <a:rPr lang="en-US" sz="1300" dirty="0">
                <a:solidFill>
                  <a:srgbClr val="5C7186"/>
                </a:solidFill>
                <a:latin typeface="Calibri" pitchFamily="34" charset="0"/>
                <a:ea typeface="Calibri" pitchFamily="34" charset="-122"/>
                <a:cs typeface="Calibri" pitchFamily="34" charset="-120"/>
              </a:rPr>
              <a:t>Là gì · Cách làm+Lab · Vai trò</a:t>
            </a:r>
            <a:endParaRPr lang="en-US" sz="1300" dirty="0"/>
          </a:p>
        </p:txBody>
      </p:sp>
      <p:sp>
        <p:nvSpPr>
          <p:cNvPr id="27" name="Shape 25"/>
          <p:cNvSpPr/>
          <p:nvPr/>
        </p:nvSpPr>
        <p:spPr>
          <a:xfrm>
            <a:off x="548576" y="5284893"/>
            <a:ext cx="11091672" cy="493776"/>
          </a:xfrm>
          <a:prstGeom prst="roundRect">
            <a:avLst>
              <a:gd name="adj" fmla="val 8333"/>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28" name="Shape 26"/>
          <p:cNvSpPr/>
          <p:nvPr/>
        </p:nvSpPr>
        <p:spPr>
          <a:xfrm>
            <a:off x="694880" y="5358045"/>
            <a:ext cx="420624" cy="420624"/>
          </a:xfrm>
          <a:prstGeom prst="ellipse">
            <a:avLst/>
          </a:prstGeom>
          <a:solidFill>
            <a:srgbClr val="0B2138"/>
          </a:solidFill>
          <a:ln/>
        </p:spPr>
        <p:txBody>
          <a:bodyPr/>
          <a:lstStyle/>
          <a:p>
            <a:endParaRPr lang="en-US"/>
          </a:p>
        </p:txBody>
      </p:sp>
      <p:sp>
        <p:nvSpPr>
          <p:cNvPr id="29" name="Text 27"/>
          <p:cNvSpPr/>
          <p:nvPr/>
        </p:nvSpPr>
        <p:spPr>
          <a:xfrm>
            <a:off x="694880" y="5358045"/>
            <a:ext cx="420624" cy="42062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30" name="Text 28"/>
          <p:cNvSpPr/>
          <p:nvPr/>
        </p:nvSpPr>
        <p:spPr>
          <a:xfrm>
            <a:off x="1298448" y="5065776"/>
            <a:ext cx="6035040" cy="658368"/>
          </a:xfrm>
          <a:prstGeom prst="rect">
            <a:avLst/>
          </a:prstGeom>
          <a:noFill/>
          <a:ln/>
        </p:spPr>
        <p:txBody>
          <a:bodyPr wrap="square" lIns="0" tIns="0" rIns="0" bIns="0" rtlCol="0" anchor="ctr"/>
          <a:lstStyle/>
          <a:p>
            <a:pPr marL="0" indent="0">
              <a:buNone/>
            </a:pPr>
            <a:r>
              <a:rPr lang="en-US" sz="1650" b="1" dirty="0">
                <a:solidFill>
                  <a:srgbClr val="16273A"/>
                </a:solidFill>
                <a:latin typeface="Calibri" pitchFamily="34" charset="0"/>
                <a:ea typeface="Calibri" pitchFamily="34" charset="-122"/>
                <a:cs typeface="Calibri" pitchFamily="34" charset="-120"/>
              </a:rPr>
              <a:t>Docker Compose</a:t>
            </a:r>
            <a:endParaRPr lang="en-US" sz="1650" dirty="0"/>
          </a:p>
        </p:txBody>
      </p:sp>
      <p:sp>
        <p:nvSpPr>
          <p:cNvPr id="31" name="Text 29"/>
          <p:cNvSpPr/>
          <p:nvPr/>
        </p:nvSpPr>
        <p:spPr>
          <a:xfrm>
            <a:off x="7315200" y="5065776"/>
            <a:ext cx="4206240" cy="658368"/>
          </a:xfrm>
          <a:prstGeom prst="rect">
            <a:avLst/>
          </a:prstGeom>
          <a:noFill/>
          <a:ln/>
        </p:spPr>
        <p:txBody>
          <a:bodyPr wrap="square" lIns="0" tIns="0" rIns="0" bIns="0" rtlCol="0" anchor="ctr"/>
          <a:lstStyle/>
          <a:p>
            <a:pPr marL="0" indent="0" algn="r">
              <a:buNone/>
            </a:pPr>
            <a:r>
              <a:rPr lang="en-US" sz="1300" dirty="0">
                <a:solidFill>
                  <a:srgbClr val="5C7186"/>
                </a:solidFill>
                <a:latin typeface="Calibri" pitchFamily="34" charset="0"/>
                <a:ea typeface="Calibri" pitchFamily="34" charset="-122"/>
                <a:cs typeface="Calibri" pitchFamily="34" charset="-120"/>
              </a:rPr>
              <a:t>Là gì · Cách làm+Lab · Vai trò</a:t>
            </a:r>
            <a:endParaRPr lang="en-US" sz="1300" dirty="0"/>
          </a:p>
        </p:txBody>
      </p:sp>
      <p:sp>
        <p:nvSpPr>
          <p:cNvPr id="32" name="Shape 30"/>
          <p:cNvSpPr/>
          <p:nvPr/>
        </p:nvSpPr>
        <p:spPr>
          <a:xfrm>
            <a:off x="548640" y="5861304"/>
            <a:ext cx="11091672" cy="493776"/>
          </a:xfrm>
          <a:prstGeom prst="roundRect">
            <a:avLst>
              <a:gd name="adj" fmla="val 8333"/>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33" name="Shape 31"/>
          <p:cNvSpPr/>
          <p:nvPr/>
        </p:nvSpPr>
        <p:spPr>
          <a:xfrm>
            <a:off x="694944" y="5934456"/>
            <a:ext cx="420624" cy="420624"/>
          </a:xfrm>
          <a:prstGeom prst="ellipse">
            <a:avLst/>
          </a:prstGeom>
          <a:solidFill>
            <a:srgbClr val="0E7C8B"/>
          </a:solidFill>
          <a:ln/>
        </p:spPr>
        <p:txBody>
          <a:bodyPr/>
          <a:lstStyle/>
          <a:p>
            <a:endParaRPr lang="en-US"/>
          </a:p>
        </p:txBody>
      </p:sp>
      <p:sp>
        <p:nvSpPr>
          <p:cNvPr id="34" name="Text 32"/>
          <p:cNvSpPr/>
          <p:nvPr/>
        </p:nvSpPr>
        <p:spPr>
          <a:xfrm>
            <a:off x="694944" y="5934456"/>
            <a:ext cx="420624" cy="420624"/>
          </a:xfrm>
          <a:prstGeom prst="rect">
            <a:avLst/>
          </a:prstGeom>
          <a:noFill/>
          <a:ln/>
        </p:spPr>
        <p:txBody>
          <a:bodyPr wrap="square"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35" name="Text 33"/>
          <p:cNvSpPr/>
          <p:nvPr/>
        </p:nvSpPr>
        <p:spPr>
          <a:xfrm>
            <a:off x="1298448" y="5815584"/>
            <a:ext cx="6035040" cy="658368"/>
          </a:xfrm>
          <a:prstGeom prst="rect">
            <a:avLst/>
          </a:prstGeom>
          <a:noFill/>
          <a:ln/>
        </p:spPr>
        <p:txBody>
          <a:bodyPr wrap="square" lIns="0" tIns="0" rIns="0" bIns="0" rtlCol="0" anchor="ctr"/>
          <a:lstStyle/>
          <a:p>
            <a:pPr marL="0" indent="0">
              <a:buNone/>
            </a:pPr>
            <a:r>
              <a:rPr lang="en-US" sz="1650" b="1" dirty="0">
                <a:solidFill>
                  <a:srgbClr val="16273A"/>
                </a:solidFill>
                <a:latin typeface="Calibri" pitchFamily="34" charset="0"/>
                <a:ea typeface="Calibri" pitchFamily="34" charset="-122"/>
                <a:cs typeface="Calibri" pitchFamily="34" charset="-120"/>
              </a:rPr>
              <a:t>Docker Swarm (cluster)</a:t>
            </a:r>
            <a:endParaRPr lang="en-US" sz="1650" dirty="0"/>
          </a:p>
        </p:txBody>
      </p:sp>
      <p:sp>
        <p:nvSpPr>
          <p:cNvPr id="36" name="Text 34"/>
          <p:cNvSpPr/>
          <p:nvPr/>
        </p:nvSpPr>
        <p:spPr>
          <a:xfrm>
            <a:off x="7315200" y="5815584"/>
            <a:ext cx="4206240" cy="658368"/>
          </a:xfrm>
          <a:prstGeom prst="rect">
            <a:avLst/>
          </a:prstGeom>
          <a:noFill/>
          <a:ln/>
        </p:spPr>
        <p:txBody>
          <a:bodyPr wrap="square" lIns="0" tIns="0" rIns="0" bIns="0" rtlCol="0" anchor="ctr"/>
          <a:lstStyle/>
          <a:p>
            <a:pPr marL="0" indent="0" algn="r">
              <a:buNone/>
            </a:pPr>
            <a:r>
              <a:rPr lang="en-US" sz="1300" dirty="0">
                <a:solidFill>
                  <a:srgbClr val="5C7186"/>
                </a:solidFill>
                <a:latin typeface="Calibri" pitchFamily="34" charset="0"/>
                <a:ea typeface="Calibri" pitchFamily="34" charset="-122"/>
                <a:cs typeface="Calibri" pitchFamily="34" charset="-120"/>
              </a:rPr>
              <a:t>Là gì · Cách làm+Lab · Vai trò</a:t>
            </a:r>
            <a:endParaRPr lang="en-US" sz="1300" dirty="0"/>
          </a:p>
        </p:txBody>
      </p:sp>
      <p:sp>
        <p:nvSpPr>
          <p:cNvPr id="37" name="Text 35"/>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Mỗi session (trừ 0) gồm ≥ 3 slide: LÀ GÌ · CÁCH LÀM+LAB · VAI TRÒ DEVOPS</a:t>
            </a:r>
            <a:endParaRPr lang="en-US" sz="1050" dirty="0"/>
          </a:p>
        </p:txBody>
      </p:sp>
      <p:sp>
        <p:nvSpPr>
          <p:cNvPr id="39" name="Shape 2">
            <a:extLst>
              <a:ext uri="{FF2B5EF4-FFF2-40B4-BE49-F238E27FC236}">
                <a16:creationId xmlns:a16="http://schemas.microsoft.com/office/drawing/2014/main" id="{D92979C0-F403-4A1F-2C65-F9EC7A046BF1}"/>
              </a:ext>
            </a:extLst>
          </p:cNvPr>
          <p:cNvSpPr/>
          <p:nvPr/>
        </p:nvSpPr>
        <p:spPr>
          <a:xfrm>
            <a:off x="204216" y="1632710"/>
            <a:ext cx="11436096" cy="786384"/>
          </a:xfrm>
          <a:prstGeom prst="roundRect">
            <a:avLst>
              <a:gd name="adj" fmla="val 10465"/>
            </a:avLst>
          </a:prstGeom>
          <a:solidFill>
            <a:srgbClr val="EEF4FA"/>
          </a:solidFill>
          <a:ln w="12700">
            <a:solidFill>
              <a:srgbClr val="EEF4FA"/>
            </a:solidFill>
            <a:prstDash val="solid"/>
          </a:ln>
          <a:effectLst>
            <a:outerShdw blurRad="88900" dist="25400" dir="5400000" algn="bl" rotWithShape="0">
              <a:srgbClr val="16305A">
                <a:alpha val="16000"/>
              </a:srgbClr>
            </a:outerShdw>
          </a:effectLst>
        </p:spPr>
        <p:txBody>
          <a:bodyPr/>
          <a:lstStyle/>
          <a:p>
            <a:endParaRPr lang="en-US"/>
          </a:p>
        </p:txBody>
      </p:sp>
      <p:sp>
        <p:nvSpPr>
          <p:cNvPr id="41" name="Text 4">
            <a:extLst>
              <a:ext uri="{FF2B5EF4-FFF2-40B4-BE49-F238E27FC236}">
                <a16:creationId xmlns:a16="http://schemas.microsoft.com/office/drawing/2014/main" id="{779EEFB1-DCF6-3AA3-C3FD-A8E180A9F4D3}"/>
              </a:ext>
            </a:extLst>
          </p:cNvPr>
          <p:cNvSpPr/>
          <p:nvPr/>
        </p:nvSpPr>
        <p:spPr>
          <a:xfrm>
            <a:off x="338667" y="1767413"/>
            <a:ext cx="11182709" cy="479386"/>
          </a:xfrm>
          <a:prstGeom prst="rect">
            <a:avLst/>
          </a:prstGeom>
          <a:noFill/>
          <a:ln/>
        </p:spPr>
        <p:txBody>
          <a:bodyPr wrap="square" lIns="0" tIns="0" rIns="0" bIns="0" rtlCol="0" anchor="ctr"/>
          <a:lstStyle/>
          <a:p>
            <a:pPr marL="0" indent="0">
              <a:buNone/>
            </a:pPr>
            <a:r>
              <a:rPr lang="en-US" sz="2400" b="1" dirty="0">
                <a:solidFill>
                  <a:srgbClr val="1F2937"/>
                </a:solidFill>
                <a:latin typeface="Calibri" pitchFamily="34" charset="0"/>
                <a:ea typeface="Calibri" pitchFamily="34" charset="-122"/>
                <a:cs typeface="Calibri" pitchFamily="34" charset="-120"/>
              </a:rPr>
              <a:t>MODULE 3 – Git, CI/CD </a:t>
            </a:r>
            <a:r>
              <a:rPr lang="en-US" sz="2400" b="1" dirty="0" err="1">
                <a:solidFill>
                  <a:srgbClr val="1F2937"/>
                </a:solidFill>
                <a:latin typeface="Calibri" pitchFamily="34" charset="0"/>
                <a:ea typeface="Calibri" pitchFamily="34" charset="-122"/>
                <a:cs typeface="Calibri" pitchFamily="34" charset="-120"/>
              </a:rPr>
              <a:t>và</a:t>
            </a:r>
            <a:r>
              <a:rPr lang="en-US" sz="2400" b="1" dirty="0">
                <a:solidFill>
                  <a:srgbClr val="1F2937"/>
                </a:solidFill>
                <a:latin typeface="Calibri" pitchFamily="34" charset="0"/>
                <a:ea typeface="Calibri" pitchFamily="34" charset="-122"/>
                <a:cs typeface="Calibri" pitchFamily="34" charset="-120"/>
              </a:rPr>
              <a:t> </a:t>
            </a:r>
            <a:r>
              <a:rPr lang="en-US" sz="2400" b="1" dirty="0" err="1">
                <a:solidFill>
                  <a:srgbClr val="1F2937"/>
                </a:solidFill>
                <a:latin typeface="Calibri" pitchFamily="34" charset="0"/>
                <a:ea typeface="Calibri" pitchFamily="34" charset="-122"/>
                <a:cs typeface="Calibri" pitchFamily="34" charset="-120"/>
              </a:rPr>
              <a:t>GitOps</a:t>
            </a:r>
            <a:endParaRPr lang="en-US" sz="2400" b="1" dirty="0"/>
          </a:p>
        </p:txBody>
      </p:sp>
      <p:sp>
        <p:nvSpPr>
          <p:cNvPr id="43" name="Shape 2">
            <a:extLst>
              <a:ext uri="{FF2B5EF4-FFF2-40B4-BE49-F238E27FC236}">
                <a16:creationId xmlns:a16="http://schemas.microsoft.com/office/drawing/2014/main" id="{FBD2539D-DEE5-6D49-0F53-F33E4D4FA9F9}"/>
              </a:ext>
            </a:extLst>
          </p:cNvPr>
          <p:cNvSpPr/>
          <p:nvPr/>
        </p:nvSpPr>
        <p:spPr>
          <a:xfrm>
            <a:off x="204089" y="3841835"/>
            <a:ext cx="11436096" cy="786384"/>
          </a:xfrm>
          <a:prstGeom prst="roundRect">
            <a:avLst>
              <a:gd name="adj" fmla="val 10465"/>
            </a:avLst>
          </a:prstGeom>
          <a:solidFill>
            <a:srgbClr val="EEF4FA"/>
          </a:solidFill>
          <a:ln w="12700">
            <a:solidFill>
              <a:srgbClr val="EEF4FA"/>
            </a:solidFill>
            <a:prstDash val="solid"/>
          </a:ln>
          <a:effectLst>
            <a:outerShdw blurRad="88900" dist="25400" dir="5400000" algn="bl" rotWithShape="0">
              <a:srgbClr val="16305A">
                <a:alpha val="16000"/>
              </a:srgbClr>
            </a:outerShdw>
          </a:effectLst>
        </p:spPr>
        <p:txBody>
          <a:bodyPr/>
          <a:lstStyle/>
          <a:p>
            <a:endParaRPr lang="en-US"/>
          </a:p>
        </p:txBody>
      </p:sp>
      <p:sp>
        <p:nvSpPr>
          <p:cNvPr id="45" name="Text 4">
            <a:extLst>
              <a:ext uri="{FF2B5EF4-FFF2-40B4-BE49-F238E27FC236}">
                <a16:creationId xmlns:a16="http://schemas.microsoft.com/office/drawing/2014/main" id="{18595016-FA84-BE57-E3F8-DA95A6686A78}"/>
              </a:ext>
            </a:extLst>
          </p:cNvPr>
          <p:cNvSpPr/>
          <p:nvPr/>
        </p:nvSpPr>
        <p:spPr>
          <a:xfrm>
            <a:off x="338540" y="3976538"/>
            <a:ext cx="11182709" cy="479386"/>
          </a:xfrm>
          <a:prstGeom prst="rect">
            <a:avLst/>
          </a:prstGeom>
          <a:noFill/>
          <a:ln/>
        </p:spPr>
        <p:txBody>
          <a:bodyPr wrap="square" lIns="0" tIns="0" rIns="0" bIns="0" rtlCol="0" anchor="ctr"/>
          <a:lstStyle/>
          <a:p>
            <a:pPr marL="0" indent="0">
              <a:buNone/>
            </a:pPr>
            <a:r>
              <a:rPr lang="en-US" sz="2400" b="1" dirty="0">
                <a:solidFill>
                  <a:srgbClr val="1F2937"/>
                </a:solidFill>
                <a:latin typeface="Calibri" pitchFamily="34" charset="0"/>
                <a:ea typeface="Calibri" pitchFamily="34" charset="-122"/>
                <a:cs typeface="Calibri" pitchFamily="34" charset="-120"/>
              </a:rPr>
              <a:t>MODULE 4 – Dockers </a:t>
            </a:r>
            <a:r>
              <a:rPr lang="en-US" sz="2400" b="1">
                <a:solidFill>
                  <a:srgbClr val="1F2937"/>
                </a:solidFill>
                <a:latin typeface="Calibri" pitchFamily="34" charset="0"/>
                <a:ea typeface="Calibri" pitchFamily="34" charset="-122"/>
                <a:cs typeface="Calibri" pitchFamily="34" charset="-120"/>
              </a:rPr>
              <a:t>&amp; Container</a:t>
            </a:r>
            <a:endParaRPr lang="en-US"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a:t>
            </a:r>
            <a:endParaRPr lang="en-US" sz="2200" dirty="0"/>
          </a:p>
        </p:txBody>
      </p:sp>
      <p:sp>
        <p:nvSpPr>
          <p:cNvPr id="4" name="Shape 2"/>
          <p:cNvSpPr/>
          <p:nvPr/>
        </p:nvSpPr>
        <p:spPr>
          <a:xfrm>
            <a:off x="1627632" y="502920"/>
            <a:ext cx="1234440" cy="347472"/>
          </a:xfrm>
          <a:prstGeom prst="roundRect">
            <a:avLst>
              <a:gd name="adj" fmla="val 50000"/>
            </a:avLst>
          </a:prstGeom>
          <a:solidFill>
            <a:srgbClr val="0E7C8B"/>
          </a:solidFill>
          <a:ln/>
        </p:spPr>
        <p:txBody>
          <a:bodyPr/>
          <a:lstStyle/>
          <a:p>
            <a:endParaRPr lang="en-US"/>
          </a:p>
        </p:txBody>
      </p:sp>
      <p:sp>
        <p:nvSpPr>
          <p:cNvPr id="5" name="Text 3"/>
          <p:cNvSpPr/>
          <p:nvPr/>
        </p:nvSpPr>
        <p:spPr>
          <a:xfrm>
            <a:off x="1627632" y="502920"/>
            <a:ext cx="12344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LÀ GÌ</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DevOps là gì?</a:t>
            </a:r>
            <a:endParaRPr lang="en-US" sz="2700" dirty="0"/>
          </a:p>
        </p:txBody>
      </p:sp>
      <p:sp>
        <p:nvSpPr>
          <p:cNvPr id="7" name="Text 5"/>
          <p:cNvSpPr/>
          <p:nvPr/>
        </p:nvSpPr>
        <p:spPr>
          <a:xfrm>
            <a:off x="548640" y="1600200"/>
            <a:ext cx="11064240" cy="640080"/>
          </a:xfrm>
          <a:prstGeom prst="rect">
            <a:avLst/>
          </a:prstGeom>
          <a:noFill/>
          <a:ln/>
        </p:spPr>
        <p:txBody>
          <a:bodyPr wrap="square" lIns="0" tIns="0" rIns="0" bIns="0" rtlCol="0" anchor="ctr"/>
          <a:lstStyle/>
          <a:p>
            <a:pPr marL="0" indent="0">
              <a:buNone/>
            </a:pPr>
            <a:r>
              <a:rPr lang="en-US" sz="1600" i="1" dirty="0">
                <a:solidFill>
                  <a:srgbClr val="5C7186"/>
                </a:solidFill>
                <a:latin typeface="Calibri" pitchFamily="34" charset="0"/>
                <a:ea typeface="Calibri" pitchFamily="34" charset="-122"/>
                <a:cs typeface="Calibri" pitchFamily="34" charset="-120"/>
              </a:rPr>
              <a:t>DevOps KHÔNG phải một chức danh hay một công cụ. Đó là cách tổ chức để Dev và Ops chia sẻ cùng mục tiêu và trách nhiệm: "you build it, you run it".</a:t>
            </a:r>
            <a:endParaRPr lang="en-US" sz="1600" dirty="0"/>
          </a:p>
        </p:txBody>
      </p:sp>
      <p:sp>
        <p:nvSpPr>
          <p:cNvPr id="8" name="Shape 6"/>
          <p:cNvSpPr/>
          <p:nvPr/>
        </p:nvSpPr>
        <p:spPr>
          <a:xfrm>
            <a:off x="548640" y="2468880"/>
            <a:ext cx="3566160" cy="1828800"/>
          </a:xfrm>
          <a:prstGeom prst="roundRect">
            <a:avLst>
              <a:gd name="adj" fmla="val 5000"/>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9" name="Shape 7"/>
          <p:cNvSpPr/>
          <p:nvPr/>
        </p:nvSpPr>
        <p:spPr>
          <a:xfrm>
            <a:off x="822960" y="2697480"/>
            <a:ext cx="594360" cy="59436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822960" y="2697480"/>
            <a:ext cx="594360" cy="5943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1554480" y="2724912"/>
            <a:ext cx="2468880" cy="548640"/>
          </a:xfrm>
          <a:prstGeom prst="rect">
            <a:avLst/>
          </a:prstGeom>
          <a:noFill/>
          <a:ln/>
        </p:spPr>
        <p:txBody>
          <a:bodyPr wrap="square" lIns="0" tIns="0" rIns="0" bIns="0" rtlCol="0" anchor="ctr"/>
          <a:lstStyle/>
          <a:p>
            <a:pPr marL="0" indent="0">
              <a:buNone/>
            </a:pPr>
            <a:r>
              <a:rPr lang="en-US" sz="2000" b="1" dirty="0">
                <a:solidFill>
                  <a:srgbClr val="16273A"/>
                </a:solidFill>
                <a:latin typeface="Cambria" pitchFamily="34" charset="0"/>
                <a:ea typeface="Cambria" pitchFamily="34" charset="-122"/>
                <a:cs typeface="Cambria" pitchFamily="34" charset="-120"/>
              </a:rPr>
              <a:t>Văn hóa</a:t>
            </a:r>
            <a:endParaRPr lang="en-US" sz="2000" dirty="0"/>
          </a:p>
        </p:txBody>
      </p:sp>
      <p:sp>
        <p:nvSpPr>
          <p:cNvPr id="12" name="Text 10"/>
          <p:cNvSpPr/>
          <p:nvPr/>
        </p:nvSpPr>
        <p:spPr>
          <a:xfrm>
            <a:off x="822960" y="3429000"/>
            <a:ext cx="3017520" cy="777240"/>
          </a:xfrm>
          <a:prstGeom prst="rect">
            <a:avLst/>
          </a:prstGeom>
          <a:noFill/>
          <a:ln/>
        </p:spPr>
        <p:txBody>
          <a:bodyPr wrap="square" lIns="0" tIns="0" rIns="0" bIns="0" rtlCol="0" anchor="ctr"/>
          <a:lstStyle/>
          <a:p>
            <a:pPr marL="0" indent="0">
              <a:lnSpc>
                <a:spcPct val="115000"/>
              </a:lnSpc>
              <a:buNone/>
            </a:pPr>
            <a:r>
              <a:rPr lang="en-US" sz="1350" dirty="0">
                <a:solidFill>
                  <a:srgbClr val="5C7186"/>
                </a:solidFill>
                <a:latin typeface="Calibri" pitchFamily="34" charset="0"/>
                <a:ea typeface="Calibri" pitchFamily="34" charset="-122"/>
                <a:cs typeface="Calibri" pitchFamily="34" charset="-120"/>
              </a:rPr>
              <a:t>Cùng chịu trách nhiệm cho cả vòng đời, không đổ lỗi qua lại.</a:t>
            </a:r>
            <a:endParaRPr lang="en-US" sz="1350" dirty="0"/>
          </a:p>
        </p:txBody>
      </p:sp>
      <p:sp>
        <p:nvSpPr>
          <p:cNvPr id="13" name="Shape 11"/>
          <p:cNvSpPr/>
          <p:nvPr/>
        </p:nvSpPr>
        <p:spPr>
          <a:xfrm>
            <a:off x="4306824" y="2468880"/>
            <a:ext cx="3566160" cy="1828800"/>
          </a:xfrm>
          <a:prstGeom prst="roundRect">
            <a:avLst>
              <a:gd name="adj" fmla="val 5000"/>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4" name="Shape 12"/>
          <p:cNvSpPr/>
          <p:nvPr/>
        </p:nvSpPr>
        <p:spPr>
          <a:xfrm>
            <a:off x="4581144" y="2697480"/>
            <a:ext cx="594360" cy="594360"/>
          </a:xfrm>
          <a:prstGeom prst="ellipse">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4581144" y="2697480"/>
            <a:ext cx="594360" cy="5943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5312664" y="2724912"/>
            <a:ext cx="2468880" cy="548640"/>
          </a:xfrm>
          <a:prstGeom prst="rect">
            <a:avLst/>
          </a:prstGeom>
          <a:noFill/>
          <a:ln/>
        </p:spPr>
        <p:txBody>
          <a:bodyPr wrap="square" lIns="0" tIns="0" rIns="0" bIns="0" rtlCol="0" anchor="ctr"/>
          <a:lstStyle/>
          <a:p>
            <a:pPr marL="0" indent="0">
              <a:buNone/>
            </a:pPr>
            <a:r>
              <a:rPr lang="en-US" sz="2000" b="1" dirty="0">
                <a:solidFill>
                  <a:srgbClr val="16273A"/>
                </a:solidFill>
                <a:latin typeface="Cambria" pitchFamily="34" charset="0"/>
                <a:ea typeface="Cambria" pitchFamily="34" charset="-122"/>
                <a:cs typeface="Cambria" pitchFamily="34" charset="-120"/>
              </a:rPr>
              <a:t>Quy trình</a:t>
            </a:r>
            <a:endParaRPr lang="en-US" sz="2000" dirty="0"/>
          </a:p>
        </p:txBody>
      </p:sp>
      <p:sp>
        <p:nvSpPr>
          <p:cNvPr id="17" name="Text 15"/>
          <p:cNvSpPr/>
          <p:nvPr/>
        </p:nvSpPr>
        <p:spPr>
          <a:xfrm>
            <a:off x="4581144" y="3429000"/>
            <a:ext cx="3017520" cy="777240"/>
          </a:xfrm>
          <a:prstGeom prst="rect">
            <a:avLst/>
          </a:prstGeom>
          <a:noFill/>
          <a:ln/>
        </p:spPr>
        <p:txBody>
          <a:bodyPr wrap="square" lIns="0" tIns="0" rIns="0" bIns="0" rtlCol="0" anchor="ctr"/>
          <a:lstStyle/>
          <a:p>
            <a:pPr marL="0" indent="0">
              <a:lnSpc>
                <a:spcPct val="115000"/>
              </a:lnSpc>
              <a:buNone/>
            </a:pPr>
            <a:r>
              <a:rPr lang="en-US" sz="1350" dirty="0">
                <a:solidFill>
                  <a:srgbClr val="5C7186"/>
                </a:solidFill>
                <a:latin typeface="Calibri" pitchFamily="34" charset="0"/>
                <a:ea typeface="Calibri" pitchFamily="34" charset="-122"/>
                <a:cs typeface="Calibri" pitchFamily="34" charset="-120"/>
              </a:rPr>
              <a:t>Tự động hóa các bước lặp lại &amp; dễ sai: build, test, deploy.</a:t>
            </a:r>
            <a:endParaRPr lang="en-US" sz="1350" dirty="0"/>
          </a:p>
        </p:txBody>
      </p:sp>
      <p:sp>
        <p:nvSpPr>
          <p:cNvPr id="18" name="Shape 16"/>
          <p:cNvSpPr/>
          <p:nvPr/>
        </p:nvSpPr>
        <p:spPr>
          <a:xfrm>
            <a:off x="8065008" y="2468880"/>
            <a:ext cx="3566160" cy="1828800"/>
          </a:xfrm>
          <a:prstGeom prst="roundRect">
            <a:avLst>
              <a:gd name="adj" fmla="val 5000"/>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9" name="Shape 17"/>
          <p:cNvSpPr/>
          <p:nvPr/>
        </p:nvSpPr>
        <p:spPr>
          <a:xfrm>
            <a:off x="8339328" y="2697480"/>
            <a:ext cx="594360" cy="594360"/>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0" name="Text 18"/>
          <p:cNvSpPr/>
          <p:nvPr/>
        </p:nvSpPr>
        <p:spPr>
          <a:xfrm>
            <a:off x="8339328" y="2697480"/>
            <a:ext cx="594360" cy="594360"/>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9070848" y="2724912"/>
            <a:ext cx="2468880" cy="548640"/>
          </a:xfrm>
          <a:prstGeom prst="rect">
            <a:avLst/>
          </a:prstGeom>
          <a:noFill/>
          <a:ln/>
        </p:spPr>
        <p:txBody>
          <a:bodyPr wrap="square" lIns="0" tIns="0" rIns="0" bIns="0" rtlCol="0" anchor="ctr"/>
          <a:lstStyle/>
          <a:p>
            <a:pPr marL="0" indent="0">
              <a:buNone/>
            </a:pPr>
            <a:r>
              <a:rPr lang="en-US" sz="2000" b="1" dirty="0">
                <a:solidFill>
                  <a:srgbClr val="16273A"/>
                </a:solidFill>
                <a:latin typeface="Cambria" pitchFamily="34" charset="0"/>
                <a:ea typeface="Cambria" pitchFamily="34" charset="-122"/>
                <a:cs typeface="Cambria" pitchFamily="34" charset="-120"/>
              </a:rPr>
              <a:t>Công cụ</a:t>
            </a:r>
            <a:endParaRPr lang="en-US" sz="2000" dirty="0"/>
          </a:p>
        </p:txBody>
      </p:sp>
      <p:sp>
        <p:nvSpPr>
          <p:cNvPr id="22" name="Text 20"/>
          <p:cNvSpPr/>
          <p:nvPr/>
        </p:nvSpPr>
        <p:spPr>
          <a:xfrm>
            <a:off x="8339328" y="3429000"/>
            <a:ext cx="3017520" cy="777240"/>
          </a:xfrm>
          <a:prstGeom prst="rect">
            <a:avLst/>
          </a:prstGeom>
          <a:noFill/>
          <a:ln/>
        </p:spPr>
        <p:txBody>
          <a:bodyPr wrap="square" lIns="0" tIns="0" rIns="0" bIns="0" rtlCol="0" anchor="ctr"/>
          <a:lstStyle/>
          <a:p>
            <a:pPr marL="0" indent="0">
              <a:lnSpc>
                <a:spcPct val="115000"/>
              </a:lnSpc>
              <a:buNone/>
            </a:pPr>
            <a:r>
              <a:rPr lang="en-US" sz="1350" dirty="0">
                <a:solidFill>
                  <a:srgbClr val="5C7186"/>
                </a:solidFill>
                <a:latin typeface="Calibri" pitchFamily="34" charset="0"/>
                <a:ea typeface="Calibri" pitchFamily="34" charset="-122"/>
                <a:cs typeface="Calibri" pitchFamily="34" charset="-120"/>
              </a:rPr>
              <a:t>Git, CI/CD, Docker… chỉ là phương tiện thực thi 2 điều trên.</a:t>
            </a:r>
            <a:endParaRPr lang="en-US" sz="1350" dirty="0"/>
          </a:p>
        </p:txBody>
      </p:sp>
      <p:sp>
        <p:nvSpPr>
          <p:cNvPr id="23" name="Shape 21"/>
          <p:cNvSpPr/>
          <p:nvPr/>
        </p:nvSpPr>
        <p:spPr>
          <a:xfrm>
            <a:off x="548640" y="4572000"/>
            <a:ext cx="11091672" cy="1280160"/>
          </a:xfrm>
          <a:prstGeom prst="roundRect">
            <a:avLst>
              <a:gd name="adj" fmla="val 5714"/>
            </a:avLst>
          </a:prstGeom>
          <a:solidFill>
            <a:srgbClr val="FBF3E4"/>
          </a:solidFill>
          <a:ln w="16510">
            <a:solidFill>
              <a:srgbClr val="C77D1A"/>
            </a:solidFill>
            <a:prstDash val="solid"/>
          </a:ln>
          <a:effectLst>
            <a:outerShdw blurRad="76200" dist="38100" dir="5400000" algn="bl" rotWithShape="0">
              <a:srgbClr val="8DA0B0">
                <a:alpha val="35000"/>
              </a:srgbClr>
            </a:outerShdw>
          </a:effectLst>
        </p:spPr>
        <p:txBody>
          <a:bodyPr/>
          <a:lstStyle/>
          <a:p>
            <a:endParaRPr lang="en-US"/>
          </a:p>
        </p:txBody>
      </p:sp>
      <p:sp>
        <p:nvSpPr>
          <p:cNvPr id="24" name="Text 22"/>
          <p:cNvSpPr/>
          <p:nvPr/>
        </p:nvSpPr>
        <p:spPr>
          <a:xfrm>
            <a:off x="822960" y="4736592"/>
            <a:ext cx="10543032" cy="950976"/>
          </a:xfrm>
          <a:prstGeom prst="rect">
            <a:avLst/>
          </a:prstGeom>
          <a:noFill/>
          <a:ln/>
        </p:spPr>
        <p:txBody>
          <a:bodyPr wrap="square" lIns="0" tIns="0" rIns="0" bIns="0" rtlCol="0" anchor="ctr"/>
          <a:lstStyle/>
          <a:p>
            <a:pPr marL="0" indent="0">
              <a:lnSpc>
                <a:spcPct val="115000"/>
              </a:lnSpc>
              <a:buNone/>
            </a:pPr>
            <a:r>
              <a:rPr lang="en-US" sz="1400" b="1" dirty="0">
                <a:solidFill>
                  <a:srgbClr val="C77D1A"/>
                </a:solidFill>
                <a:latin typeface="Calibri" pitchFamily="34" charset="0"/>
                <a:ea typeface="Calibri" pitchFamily="34" charset="-122"/>
                <a:cs typeface="Calibri" pitchFamily="34" charset="-120"/>
              </a:rPr>
              <a:t>VÌ SAO?  </a:t>
            </a:r>
            <a:r>
              <a:rPr lang="en-US" sz="1400" dirty="0">
                <a:solidFill>
                  <a:srgbClr val="6E4E14"/>
                </a:solidFill>
                <a:latin typeface="Calibri" pitchFamily="34" charset="0"/>
                <a:ea typeface="Calibri" pitchFamily="34" charset="-122"/>
                <a:cs typeface="Calibri" pitchFamily="34" charset="-120"/>
              </a:rPr>
              <a:t>Nếu chỉ mua công cụ mà không đổi văn hóa, bạn có "Jenkins nhưng vẫn quăng code qua tường". Công cụ là hệ quả của tư duy, không phải ngược lại — đó là lý do ta bắt đầu từ đây.</a:t>
            </a:r>
            <a:endParaRPr lang="en-US" sz="1400" dirty="0"/>
          </a:p>
        </p:txBody>
      </p:sp>
      <p:sp>
        <p:nvSpPr>
          <p:cNvPr id="25" name="Text 23"/>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0 · Tư duy DevOps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0</a:t>
            </a:r>
            <a:endParaRPr lang="en-US" sz="2200" dirty="0"/>
          </a:p>
        </p:txBody>
      </p:sp>
      <p:sp>
        <p:nvSpPr>
          <p:cNvPr id="4" name="Shape 2"/>
          <p:cNvSpPr/>
          <p:nvPr/>
        </p:nvSpPr>
        <p:spPr>
          <a:xfrm>
            <a:off x="1627632" y="502920"/>
            <a:ext cx="1691640" cy="347472"/>
          </a:xfrm>
          <a:prstGeom prst="roundRect">
            <a:avLst>
              <a:gd name="adj" fmla="val 50000"/>
            </a:avLst>
          </a:prstGeom>
          <a:solidFill>
            <a:srgbClr val="0E7C8B"/>
          </a:solidFill>
          <a:ln/>
        </p:spPr>
        <p:txBody>
          <a:bodyPr/>
          <a:lstStyle/>
          <a:p>
            <a:endParaRPr lang="en-US"/>
          </a:p>
        </p:txBody>
      </p:sp>
      <p:sp>
        <p:nvSpPr>
          <p:cNvPr id="5" name="Text 3"/>
          <p:cNvSpPr/>
          <p:nvPr/>
        </p:nvSpPr>
        <p:spPr>
          <a:xfrm>
            <a:off x="1627632" y="502920"/>
            <a:ext cx="16916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KHÁI NIỆM</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Vòng đời DevOps (∞)</a:t>
            </a:r>
            <a:endParaRPr lang="en-US" sz="2700" dirty="0"/>
          </a:p>
        </p:txBody>
      </p:sp>
      <p:sp>
        <p:nvSpPr>
          <p:cNvPr id="7" name="Text 5"/>
          <p:cNvSpPr/>
          <p:nvPr/>
        </p:nvSpPr>
        <p:spPr>
          <a:xfrm>
            <a:off x="548640" y="1600200"/>
            <a:ext cx="11064240" cy="457200"/>
          </a:xfrm>
          <a:prstGeom prst="rect">
            <a:avLst/>
          </a:prstGeom>
          <a:noFill/>
          <a:ln/>
        </p:spPr>
        <p:txBody>
          <a:bodyPr wrap="square" lIns="0" tIns="0" rIns="0" bIns="0" rtlCol="0" anchor="ctr"/>
          <a:lstStyle/>
          <a:p>
            <a:pPr marL="0" indent="0">
              <a:buNone/>
            </a:pPr>
            <a:r>
              <a:rPr lang="en-US" sz="1550" i="1" dirty="0">
                <a:solidFill>
                  <a:srgbClr val="5C7186"/>
                </a:solidFill>
                <a:latin typeface="Calibri" pitchFamily="34" charset="0"/>
                <a:ea typeface="Calibri" pitchFamily="34" charset="-122"/>
                <a:cs typeface="Calibri" pitchFamily="34" charset="-120"/>
              </a:rPr>
              <a:t>Phần mềm không bao giờ "xong": mỗi lần vận hành sinh dữ liệu cho vòng kế tiếp. Đây là bản đồ của cả khóa học.</a:t>
            </a:r>
            <a:endParaRPr lang="en-US" sz="1550" dirty="0"/>
          </a:p>
        </p:txBody>
      </p:sp>
      <p:sp>
        <p:nvSpPr>
          <p:cNvPr id="8" name="Shape 6"/>
          <p:cNvSpPr/>
          <p:nvPr/>
        </p:nvSpPr>
        <p:spPr>
          <a:xfrm>
            <a:off x="813816" y="2468880"/>
            <a:ext cx="731520" cy="731520"/>
          </a:xfrm>
          <a:prstGeom prst="ellipse">
            <a:avLst/>
          </a:prstGeom>
          <a:solidFill>
            <a:srgbClr val="C6D5DE"/>
          </a:solidFill>
          <a:ln w="25400">
            <a:solidFill>
              <a:srgbClr val="C6D5DE"/>
            </a:solidFill>
            <a:prstDash val="solid"/>
          </a:ln>
          <a:effectLst>
            <a:outerShdw blurRad="76200" dist="38100" dir="5400000" algn="bl" rotWithShape="0">
              <a:srgbClr val="8DA0B0">
                <a:alpha val="35000"/>
              </a:srgbClr>
            </a:outerShdw>
          </a:effectLst>
        </p:spPr>
        <p:txBody>
          <a:bodyPr/>
          <a:lstStyle/>
          <a:p>
            <a:endParaRPr lang="en-US"/>
          </a:p>
        </p:txBody>
      </p:sp>
      <p:sp>
        <p:nvSpPr>
          <p:cNvPr id="9" name="Text 7"/>
          <p:cNvSpPr/>
          <p:nvPr/>
        </p:nvSpPr>
        <p:spPr>
          <a:xfrm>
            <a:off x="813816" y="2468880"/>
            <a:ext cx="731520" cy="7315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548640" y="3291840"/>
            <a:ext cx="1261872" cy="320040"/>
          </a:xfrm>
          <a:prstGeom prst="rect">
            <a:avLst/>
          </a:prstGeom>
          <a:noFill/>
          <a:ln/>
        </p:spPr>
        <p:txBody>
          <a:bodyPr wrap="square" lIns="0" tIns="0" rIns="0" bIns="0" rtlCol="0" anchor="ctr"/>
          <a:lstStyle/>
          <a:p>
            <a:pPr marL="0" indent="0" algn="ctr">
              <a:buNone/>
            </a:pPr>
            <a:r>
              <a:rPr lang="en-US" sz="1400" b="1" dirty="0">
                <a:solidFill>
                  <a:srgbClr val="16273A"/>
                </a:solidFill>
                <a:latin typeface="Calibri" pitchFamily="34" charset="0"/>
                <a:ea typeface="Calibri" pitchFamily="34" charset="-122"/>
                <a:cs typeface="Calibri" pitchFamily="34" charset="-120"/>
              </a:rPr>
              <a:t>Plan</a:t>
            </a:r>
            <a:endParaRPr lang="en-US" sz="1400" dirty="0"/>
          </a:p>
        </p:txBody>
      </p:sp>
      <p:sp>
        <p:nvSpPr>
          <p:cNvPr id="11" name="Text 9"/>
          <p:cNvSpPr/>
          <p:nvPr/>
        </p:nvSpPr>
        <p:spPr>
          <a:xfrm>
            <a:off x="548640" y="3584448"/>
            <a:ext cx="1261872" cy="320040"/>
          </a:xfrm>
          <a:prstGeom prst="rect">
            <a:avLst/>
          </a:prstGeom>
          <a:noFill/>
          <a:ln/>
        </p:spPr>
        <p:txBody>
          <a:bodyPr wrap="square" lIns="0" tIns="0" rIns="0" bIns="0" rtlCol="0" anchor="ctr"/>
          <a:lstStyle/>
          <a:p>
            <a:pPr marL="0" indent="0" algn="ctr">
              <a:buNone/>
            </a:pPr>
            <a:endParaRPr lang="en-US" sz="1100" dirty="0"/>
          </a:p>
        </p:txBody>
      </p:sp>
      <p:sp>
        <p:nvSpPr>
          <p:cNvPr id="12" name="Text 10"/>
          <p:cNvSpPr/>
          <p:nvPr/>
        </p:nvSpPr>
        <p:spPr>
          <a:xfrm>
            <a:off x="1602159" y="2468880"/>
            <a:ext cx="416705" cy="731520"/>
          </a:xfrm>
          <a:prstGeom prst="rect">
            <a:avLst/>
          </a:prstGeom>
          <a:noFill/>
          <a:ln/>
        </p:spPr>
        <p:txBody>
          <a:bodyPr wrap="square" rtlCol="0" anchor="ctr"/>
          <a:lstStyle/>
          <a:p>
            <a:pPr marL="0" indent="0" algn="ctr">
              <a:buNone/>
            </a:pPr>
            <a:r>
              <a:rPr lang="en-US" sz="2000" b="1" dirty="0">
                <a:solidFill>
                  <a:srgbClr val="27C6A6"/>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2218073" y="2468880"/>
            <a:ext cx="731520" cy="731520"/>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14" name="Text 12"/>
          <p:cNvSpPr/>
          <p:nvPr/>
        </p:nvSpPr>
        <p:spPr>
          <a:xfrm>
            <a:off x="2218073" y="2468880"/>
            <a:ext cx="731520" cy="7315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952897" y="3291840"/>
            <a:ext cx="1261872" cy="320040"/>
          </a:xfrm>
          <a:prstGeom prst="rect">
            <a:avLst/>
          </a:prstGeom>
          <a:noFill/>
          <a:ln/>
        </p:spPr>
        <p:txBody>
          <a:bodyPr wrap="square" lIns="0" tIns="0" rIns="0" bIns="0" rtlCol="0" anchor="ctr"/>
          <a:lstStyle/>
          <a:p>
            <a:pPr marL="0" indent="0" algn="ctr">
              <a:buNone/>
            </a:pPr>
            <a:r>
              <a:rPr lang="en-US" sz="1400" b="1" dirty="0">
                <a:solidFill>
                  <a:srgbClr val="16273A"/>
                </a:solidFill>
                <a:latin typeface="Calibri" pitchFamily="34" charset="0"/>
                <a:ea typeface="Calibri" pitchFamily="34" charset="-122"/>
                <a:cs typeface="Calibri" pitchFamily="34" charset="-120"/>
              </a:rPr>
              <a:t>Code</a:t>
            </a:r>
            <a:endParaRPr lang="en-US" sz="1400" dirty="0"/>
          </a:p>
        </p:txBody>
      </p:sp>
      <p:sp>
        <p:nvSpPr>
          <p:cNvPr id="16" name="Text 14"/>
          <p:cNvSpPr/>
          <p:nvPr/>
        </p:nvSpPr>
        <p:spPr>
          <a:xfrm>
            <a:off x="1952897" y="3584448"/>
            <a:ext cx="1261872" cy="320040"/>
          </a:xfrm>
          <a:prstGeom prst="rect">
            <a:avLst/>
          </a:prstGeom>
          <a:noFill/>
          <a:ln/>
        </p:spPr>
        <p:txBody>
          <a:bodyPr wrap="square" lIns="0" tIns="0" rIns="0" bIns="0" rtlCol="0" anchor="ctr"/>
          <a:lstStyle/>
          <a:p>
            <a:pPr marL="0" indent="0" algn="ctr">
              <a:buNone/>
            </a:pPr>
            <a:r>
              <a:rPr lang="en-US" sz="1100" dirty="0">
                <a:solidFill>
                  <a:srgbClr val="0E7C8B"/>
                </a:solidFill>
                <a:latin typeface="Calibri" pitchFamily="34" charset="0"/>
                <a:ea typeface="Calibri" pitchFamily="34" charset="-122"/>
                <a:cs typeface="Calibri" pitchFamily="34" charset="-120"/>
              </a:rPr>
              <a:t>Git/GitLab</a:t>
            </a:r>
            <a:endParaRPr lang="en-US" sz="1100" dirty="0"/>
          </a:p>
        </p:txBody>
      </p:sp>
      <p:sp>
        <p:nvSpPr>
          <p:cNvPr id="17" name="Text 15"/>
          <p:cNvSpPr/>
          <p:nvPr/>
        </p:nvSpPr>
        <p:spPr>
          <a:xfrm>
            <a:off x="3006417" y="2468880"/>
            <a:ext cx="416705" cy="731520"/>
          </a:xfrm>
          <a:prstGeom prst="rect">
            <a:avLst/>
          </a:prstGeom>
          <a:noFill/>
          <a:ln/>
        </p:spPr>
        <p:txBody>
          <a:bodyPr wrap="square" rtlCol="0" anchor="ctr"/>
          <a:lstStyle/>
          <a:p>
            <a:pPr marL="0" indent="0" algn="ctr">
              <a:buNone/>
            </a:pPr>
            <a:r>
              <a:rPr lang="en-US" sz="2000" b="1" dirty="0">
                <a:solidFill>
                  <a:srgbClr val="27C6A6"/>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3622330" y="2468880"/>
            <a:ext cx="731520" cy="731520"/>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19" name="Text 17"/>
          <p:cNvSpPr/>
          <p:nvPr/>
        </p:nvSpPr>
        <p:spPr>
          <a:xfrm>
            <a:off x="3622330" y="2468880"/>
            <a:ext cx="731520" cy="7315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3357154" y="3291840"/>
            <a:ext cx="1261872" cy="320040"/>
          </a:xfrm>
          <a:prstGeom prst="rect">
            <a:avLst/>
          </a:prstGeom>
          <a:noFill/>
          <a:ln/>
        </p:spPr>
        <p:txBody>
          <a:bodyPr wrap="square" lIns="0" tIns="0" rIns="0" bIns="0" rtlCol="0" anchor="ctr"/>
          <a:lstStyle/>
          <a:p>
            <a:pPr marL="0" indent="0" algn="ctr">
              <a:buNone/>
            </a:pPr>
            <a:r>
              <a:rPr lang="en-US" sz="1400" b="1" dirty="0">
                <a:solidFill>
                  <a:srgbClr val="16273A"/>
                </a:solidFill>
                <a:latin typeface="Calibri" pitchFamily="34" charset="0"/>
                <a:ea typeface="Calibri" pitchFamily="34" charset="-122"/>
                <a:cs typeface="Calibri" pitchFamily="34" charset="-120"/>
              </a:rPr>
              <a:t>Build</a:t>
            </a:r>
            <a:endParaRPr lang="en-US" sz="1400" dirty="0"/>
          </a:p>
        </p:txBody>
      </p:sp>
      <p:sp>
        <p:nvSpPr>
          <p:cNvPr id="21" name="Text 19"/>
          <p:cNvSpPr/>
          <p:nvPr/>
        </p:nvSpPr>
        <p:spPr>
          <a:xfrm>
            <a:off x="3357154" y="3584448"/>
            <a:ext cx="1261872" cy="320040"/>
          </a:xfrm>
          <a:prstGeom prst="rect">
            <a:avLst/>
          </a:prstGeom>
          <a:noFill/>
          <a:ln/>
        </p:spPr>
        <p:txBody>
          <a:bodyPr wrap="square" lIns="0" tIns="0" rIns="0" bIns="0" rtlCol="0" anchor="ctr"/>
          <a:lstStyle/>
          <a:p>
            <a:pPr marL="0" indent="0" algn="ctr">
              <a:buNone/>
            </a:pPr>
            <a:r>
              <a:rPr lang="en-US" sz="1100" dirty="0">
                <a:solidFill>
                  <a:srgbClr val="0E7C8B"/>
                </a:solidFill>
                <a:latin typeface="Calibri" pitchFamily="34" charset="0"/>
                <a:ea typeface="Calibri" pitchFamily="34" charset="-122"/>
                <a:cs typeface="Calibri" pitchFamily="34" charset="-120"/>
              </a:rPr>
              <a:t>CI · Docker</a:t>
            </a:r>
            <a:endParaRPr lang="en-US" sz="1100" dirty="0"/>
          </a:p>
        </p:txBody>
      </p:sp>
      <p:sp>
        <p:nvSpPr>
          <p:cNvPr id="22" name="Text 20"/>
          <p:cNvSpPr/>
          <p:nvPr/>
        </p:nvSpPr>
        <p:spPr>
          <a:xfrm>
            <a:off x="4410674" y="2468880"/>
            <a:ext cx="416705" cy="731520"/>
          </a:xfrm>
          <a:prstGeom prst="rect">
            <a:avLst/>
          </a:prstGeom>
          <a:noFill/>
          <a:ln/>
        </p:spPr>
        <p:txBody>
          <a:bodyPr wrap="square" rtlCol="0" anchor="ctr"/>
          <a:lstStyle/>
          <a:p>
            <a:pPr marL="0" indent="0" algn="ctr">
              <a:buNone/>
            </a:pPr>
            <a:r>
              <a:rPr lang="en-US" sz="2000" b="1" dirty="0">
                <a:solidFill>
                  <a:srgbClr val="27C6A6"/>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5026587" y="2468880"/>
            <a:ext cx="731520" cy="731520"/>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24" name="Text 22"/>
          <p:cNvSpPr/>
          <p:nvPr/>
        </p:nvSpPr>
        <p:spPr>
          <a:xfrm>
            <a:off x="5026587" y="2468880"/>
            <a:ext cx="731520" cy="7315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4761411" y="3291840"/>
            <a:ext cx="1261872" cy="320040"/>
          </a:xfrm>
          <a:prstGeom prst="rect">
            <a:avLst/>
          </a:prstGeom>
          <a:noFill/>
          <a:ln/>
        </p:spPr>
        <p:txBody>
          <a:bodyPr wrap="square" lIns="0" tIns="0" rIns="0" bIns="0" rtlCol="0" anchor="ctr"/>
          <a:lstStyle/>
          <a:p>
            <a:pPr marL="0" indent="0" algn="ctr">
              <a:buNone/>
            </a:pPr>
            <a:r>
              <a:rPr lang="en-US" sz="1400" b="1" dirty="0">
                <a:solidFill>
                  <a:srgbClr val="16273A"/>
                </a:solidFill>
                <a:latin typeface="Calibri" pitchFamily="34" charset="0"/>
                <a:ea typeface="Calibri" pitchFamily="34" charset="-122"/>
                <a:cs typeface="Calibri" pitchFamily="34" charset="-120"/>
              </a:rPr>
              <a:t>Test</a:t>
            </a:r>
            <a:endParaRPr lang="en-US" sz="1400" dirty="0"/>
          </a:p>
        </p:txBody>
      </p:sp>
      <p:sp>
        <p:nvSpPr>
          <p:cNvPr id="26" name="Text 24"/>
          <p:cNvSpPr/>
          <p:nvPr/>
        </p:nvSpPr>
        <p:spPr>
          <a:xfrm>
            <a:off x="4761411" y="3584448"/>
            <a:ext cx="1261872" cy="320040"/>
          </a:xfrm>
          <a:prstGeom prst="rect">
            <a:avLst/>
          </a:prstGeom>
          <a:noFill/>
          <a:ln/>
        </p:spPr>
        <p:txBody>
          <a:bodyPr wrap="square" lIns="0" tIns="0" rIns="0" bIns="0" rtlCol="0" anchor="ctr"/>
          <a:lstStyle/>
          <a:p>
            <a:pPr marL="0" indent="0" algn="ctr">
              <a:buNone/>
            </a:pPr>
            <a:r>
              <a:rPr lang="en-US" sz="1100" dirty="0">
                <a:solidFill>
                  <a:srgbClr val="0E7C8B"/>
                </a:solidFill>
                <a:latin typeface="Calibri" pitchFamily="34" charset="0"/>
                <a:ea typeface="Calibri" pitchFamily="34" charset="-122"/>
                <a:cs typeface="Calibri" pitchFamily="34" charset="-120"/>
              </a:rPr>
              <a:t>CI</a:t>
            </a:r>
            <a:endParaRPr lang="en-US" sz="1100" dirty="0"/>
          </a:p>
        </p:txBody>
      </p:sp>
      <p:sp>
        <p:nvSpPr>
          <p:cNvPr id="27" name="Text 25"/>
          <p:cNvSpPr/>
          <p:nvPr/>
        </p:nvSpPr>
        <p:spPr>
          <a:xfrm>
            <a:off x="5814931" y="2468880"/>
            <a:ext cx="416705" cy="731520"/>
          </a:xfrm>
          <a:prstGeom prst="rect">
            <a:avLst/>
          </a:prstGeom>
          <a:noFill/>
          <a:ln/>
        </p:spPr>
        <p:txBody>
          <a:bodyPr wrap="square" rtlCol="0" anchor="ctr"/>
          <a:lstStyle/>
          <a:p>
            <a:pPr marL="0" indent="0" algn="ctr">
              <a:buNone/>
            </a:pPr>
            <a:r>
              <a:rPr lang="en-US" sz="2000" b="1" dirty="0">
                <a:solidFill>
                  <a:srgbClr val="27C6A6"/>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6430845" y="2468880"/>
            <a:ext cx="731520" cy="731520"/>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29" name="Text 27"/>
          <p:cNvSpPr/>
          <p:nvPr/>
        </p:nvSpPr>
        <p:spPr>
          <a:xfrm>
            <a:off x="6430845" y="2468880"/>
            <a:ext cx="731520" cy="7315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0" name="Text 28"/>
          <p:cNvSpPr/>
          <p:nvPr/>
        </p:nvSpPr>
        <p:spPr>
          <a:xfrm>
            <a:off x="6165669" y="3291840"/>
            <a:ext cx="1261872" cy="320040"/>
          </a:xfrm>
          <a:prstGeom prst="rect">
            <a:avLst/>
          </a:prstGeom>
          <a:noFill/>
          <a:ln/>
        </p:spPr>
        <p:txBody>
          <a:bodyPr wrap="square" lIns="0" tIns="0" rIns="0" bIns="0" rtlCol="0" anchor="ctr"/>
          <a:lstStyle/>
          <a:p>
            <a:pPr marL="0" indent="0" algn="ctr">
              <a:buNone/>
            </a:pPr>
            <a:r>
              <a:rPr lang="en-US" sz="1400" b="1" dirty="0">
                <a:solidFill>
                  <a:srgbClr val="16273A"/>
                </a:solidFill>
                <a:latin typeface="Calibri" pitchFamily="34" charset="0"/>
                <a:ea typeface="Calibri" pitchFamily="34" charset="-122"/>
                <a:cs typeface="Calibri" pitchFamily="34" charset="-120"/>
              </a:rPr>
              <a:t>Release</a:t>
            </a:r>
            <a:endParaRPr lang="en-US" sz="1400" dirty="0"/>
          </a:p>
        </p:txBody>
      </p:sp>
      <p:sp>
        <p:nvSpPr>
          <p:cNvPr id="31" name="Text 29"/>
          <p:cNvSpPr/>
          <p:nvPr/>
        </p:nvSpPr>
        <p:spPr>
          <a:xfrm>
            <a:off x="6165669" y="3584448"/>
            <a:ext cx="1261872" cy="320040"/>
          </a:xfrm>
          <a:prstGeom prst="rect">
            <a:avLst/>
          </a:prstGeom>
          <a:noFill/>
          <a:ln/>
        </p:spPr>
        <p:txBody>
          <a:bodyPr wrap="square" lIns="0" tIns="0" rIns="0" bIns="0" rtlCol="0" anchor="ctr"/>
          <a:lstStyle/>
          <a:p>
            <a:pPr marL="0" indent="0" algn="ctr">
              <a:buNone/>
            </a:pPr>
            <a:r>
              <a:rPr lang="en-US" sz="1100" dirty="0">
                <a:solidFill>
                  <a:srgbClr val="0E7C8B"/>
                </a:solidFill>
                <a:latin typeface="Calibri" pitchFamily="34" charset="0"/>
                <a:ea typeface="Calibri" pitchFamily="34" charset="-122"/>
                <a:cs typeface="Calibri" pitchFamily="34" charset="-120"/>
              </a:rPr>
              <a:t>Registry</a:t>
            </a:r>
            <a:endParaRPr lang="en-US" sz="1100" dirty="0"/>
          </a:p>
        </p:txBody>
      </p:sp>
      <p:sp>
        <p:nvSpPr>
          <p:cNvPr id="32" name="Text 30"/>
          <p:cNvSpPr/>
          <p:nvPr/>
        </p:nvSpPr>
        <p:spPr>
          <a:xfrm>
            <a:off x="7219188" y="2468880"/>
            <a:ext cx="416705" cy="731520"/>
          </a:xfrm>
          <a:prstGeom prst="rect">
            <a:avLst/>
          </a:prstGeom>
          <a:noFill/>
          <a:ln/>
        </p:spPr>
        <p:txBody>
          <a:bodyPr wrap="square" rtlCol="0" anchor="ctr"/>
          <a:lstStyle/>
          <a:p>
            <a:pPr marL="0" indent="0" algn="ctr">
              <a:buNone/>
            </a:pPr>
            <a:r>
              <a:rPr lang="en-US" sz="2000" b="1" dirty="0">
                <a:solidFill>
                  <a:srgbClr val="27C6A6"/>
                </a:solidFill>
                <a:latin typeface="Calibri" pitchFamily="34" charset="0"/>
                <a:ea typeface="Calibri" pitchFamily="34" charset="-122"/>
                <a:cs typeface="Calibri" pitchFamily="34" charset="-120"/>
              </a:rPr>
              <a:t>›</a:t>
            </a:r>
            <a:endParaRPr lang="en-US" sz="2000" dirty="0"/>
          </a:p>
        </p:txBody>
      </p:sp>
      <p:sp>
        <p:nvSpPr>
          <p:cNvPr id="33" name="Shape 31"/>
          <p:cNvSpPr/>
          <p:nvPr/>
        </p:nvSpPr>
        <p:spPr>
          <a:xfrm>
            <a:off x="7835102" y="2468880"/>
            <a:ext cx="731520" cy="731520"/>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4" name="Text 32"/>
          <p:cNvSpPr/>
          <p:nvPr/>
        </p:nvSpPr>
        <p:spPr>
          <a:xfrm>
            <a:off x="7835102" y="2468880"/>
            <a:ext cx="731520" cy="7315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5" name="Text 33"/>
          <p:cNvSpPr/>
          <p:nvPr/>
        </p:nvSpPr>
        <p:spPr>
          <a:xfrm>
            <a:off x="7569926" y="3291840"/>
            <a:ext cx="1261872" cy="320040"/>
          </a:xfrm>
          <a:prstGeom prst="rect">
            <a:avLst/>
          </a:prstGeom>
          <a:noFill/>
          <a:ln/>
        </p:spPr>
        <p:txBody>
          <a:bodyPr wrap="square" lIns="0" tIns="0" rIns="0" bIns="0" rtlCol="0" anchor="ctr"/>
          <a:lstStyle/>
          <a:p>
            <a:pPr marL="0" indent="0" algn="ctr">
              <a:buNone/>
            </a:pPr>
            <a:r>
              <a:rPr lang="en-US" sz="1400" b="1" dirty="0">
                <a:solidFill>
                  <a:srgbClr val="16273A"/>
                </a:solidFill>
                <a:latin typeface="Calibri" pitchFamily="34" charset="0"/>
                <a:ea typeface="Calibri" pitchFamily="34" charset="-122"/>
                <a:cs typeface="Calibri" pitchFamily="34" charset="-120"/>
              </a:rPr>
              <a:t>Deploy</a:t>
            </a:r>
            <a:endParaRPr lang="en-US" sz="1400" dirty="0"/>
          </a:p>
        </p:txBody>
      </p:sp>
      <p:sp>
        <p:nvSpPr>
          <p:cNvPr id="36" name="Text 34"/>
          <p:cNvSpPr/>
          <p:nvPr/>
        </p:nvSpPr>
        <p:spPr>
          <a:xfrm>
            <a:off x="7569926" y="3584448"/>
            <a:ext cx="1261872" cy="320040"/>
          </a:xfrm>
          <a:prstGeom prst="rect">
            <a:avLst/>
          </a:prstGeom>
          <a:noFill/>
          <a:ln/>
        </p:spPr>
        <p:txBody>
          <a:bodyPr wrap="square" lIns="0" tIns="0" rIns="0" bIns="0" rtlCol="0" anchor="ctr"/>
          <a:lstStyle/>
          <a:p>
            <a:pPr marL="0" indent="0" algn="ctr">
              <a:buNone/>
            </a:pPr>
            <a:r>
              <a:rPr lang="en-US" sz="1100" dirty="0">
                <a:solidFill>
                  <a:srgbClr val="0E7C8B"/>
                </a:solidFill>
                <a:latin typeface="Calibri" pitchFamily="34" charset="0"/>
                <a:ea typeface="Calibri" pitchFamily="34" charset="-122"/>
                <a:cs typeface="Calibri" pitchFamily="34" charset="-120"/>
              </a:rPr>
              <a:t>Docker</a:t>
            </a:r>
            <a:endParaRPr lang="en-US" sz="1100" dirty="0"/>
          </a:p>
        </p:txBody>
      </p:sp>
      <p:sp>
        <p:nvSpPr>
          <p:cNvPr id="37" name="Text 35"/>
          <p:cNvSpPr/>
          <p:nvPr/>
        </p:nvSpPr>
        <p:spPr>
          <a:xfrm>
            <a:off x="8623445" y="2468880"/>
            <a:ext cx="416705" cy="731520"/>
          </a:xfrm>
          <a:prstGeom prst="rect">
            <a:avLst/>
          </a:prstGeom>
          <a:noFill/>
          <a:ln/>
        </p:spPr>
        <p:txBody>
          <a:bodyPr wrap="square" rtlCol="0" anchor="ctr"/>
          <a:lstStyle/>
          <a:p>
            <a:pPr marL="0" indent="0" algn="ctr">
              <a:buNone/>
            </a:pPr>
            <a:r>
              <a:rPr lang="en-US" sz="2000" b="1" dirty="0">
                <a:solidFill>
                  <a:srgbClr val="27C6A6"/>
                </a:solidFill>
                <a:latin typeface="Calibri" pitchFamily="34" charset="0"/>
                <a:ea typeface="Calibri" pitchFamily="34" charset="-122"/>
                <a:cs typeface="Calibri" pitchFamily="34" charset="-120"/>
              </a:rPr>
              <a:t>›</a:t>
            </a:r>
            <a:endParaRPr lang="en-US" sz="2000" dirty="0"/>
          </a:p>
        </p:txBody>
      </p:sp>
      <p:sp>
        <p:nvSpPr>
          <p:cNvPr id="38" name="Shape 36"/>
          <p:cNvSpPr/>
          <p:nvPr/>
        </p:nvSpPr>
        <p:spPr>
          <a:xfrm>
            <a:off x="9239359" y="2468880"/>
            <a:ext cx="731520" cy="731520"/>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9" name="Text 37"/>
          <p:cNvSpPr/>
          <p:nvPr/>
        </p:nvSpPr>
        <p:spPr>
          <a:xfrm>
            <a:off x="9239359" y="2468880"/>
            <a:ext cx="731520" cy="7315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0" name="Text 38"/>
          <p:cNvSpPr/>
          <p:nvPr/>
        </p:nvSpPr>
        <p:spPr>
          <a:xfrm>
            <a:off x="8974183" y="3291840"/>
            <a:ext cx="1261872" cy="320040"/>
          </a:xfrm>
          <a:prstGeom prst="rect">
            <a:avLst/>
          </a:prstGeom>
          <a:noFill/>
          <a:ln/>
        </p:spPr>
        <p:txBody>
          <a:bodyPr wrap="square" lIns="0" tIns="0" rIns="0" bIns="0" rtlCol="0" anchor="ctr"/>
          <a:lstStyle/>
          <a:p>
            <a:pPr marL="0" indent="0" algn="ctr">
              <a:buNone/>
            </a:pPr>
            <a:r>
              <a:rPr lang="en-US" sz="1400" b="1" dirty="0">
                <a:solidFill>
                  <a:srgbClr val="16273A"/>
                </a:solidFill>
                <a:latin typeface="Calibri" pitchFamily="34" charset="0"/>
                <a:ea typeface="Calibri" pitchFamily="34" charset="-122"/>
                <a:cs typeface="Calibri" pitchFamily="34" charset="-120"/>
              </a:rPr>
              <a:t>Operate</a:t>
            </a:r>
            <a:endParaRPr lang="en-US" sz="1400" dirty="0"/>
          </a:p>
        </p:txBody>
      </p:sp>
      <p:sp>
        <p:nvSpPr>
          <p:cNvPr id="41" name="Text 39"/>
          <p:cNvSpPr/>
          <p:nvPr/>
        </p:nvSpPr>
        <p:spPr>
          <a:xfrm>
            <a:off x="8974183" y="3584448"/>
            <a:ext cx="1261872" cy="320040"/>
          </a:xfrm>
          <a:prstGeom prst="rect">
            <a:avLst/>
          </a:prstGeom>
          <a:noFill/>
          <a:ln/>
        </p:spPr>
        <p:txBody>
          <a:bodyPr wrap="square" lIns="0" tIns="0" rIns="0" bIns="0" rtlCol="0" anchor="ctr"/>
          <a:lstStyle/>
          <a:p>
            <a:pPr marL="0" indent="0" algn="ctr">
              <a:buNone/>
            </a:pPr>
            <a:r>
              <a:rPr lang="en-US" sz="1100" dirty="0">
                <a:solidFill>
                  <a:srgbClr val="0E7C8B"/>
                </a:solidFill>
                <a:latin typeface="Calibri" pitchFamily="34" charset="0"/>
                <a:ea typeface="Calibri" pitchFamily="34" charset="-122"/>
                <a:cs typeface="Calibri" pitchFamily="34" charset="-120"/>
              </a:rPr>
              <a:t>Swarm</a:t>
            </a:r>
            <a:endParaRPr lang="en-US" sz="1100" dirty="0"/>
          </a:p>
        </p:txBody>
      </p:sp>
      <p:sp>
        <p:nvSpPr>
          <p:cNvPr id="42" name="Text 40"/>
          <p:cNvSpPr/>
          <p:nvPr/>
        </p:nvSpPr>
        <p:spPr>
          <a:xfrm>
            <a:off x="10027702" y="2468880"/>
            <a:ext cx="416705" cy="731520"/>
          </a:xfrm>
          <a:prstGeom prst="rect">
            <a:avLst/>
          </a:prstGeom>
          <a:noFill/>
          <a:ln/>
        </p:spPr>
        <p:txBody>
          <a:bodyPr wrap="square" rtlCol="0" anchor="ctr"/>
          <a:lstStyle/>
          <a:p>
            <a:pPr marL="0" indent="0" algn="ctr">
              <a:buNone/>
            </a:pPr>
            <a:r>
              <a:rPr lang="en-US" sz="2000" b="1" dirty="0">
                <a:solidFill>
                  <a:srgbClr val="27C6A6"/>
                </a:solidFill>
                <a:latin typeface="Calibri" pitchFamily="34" charset="0"/>
                <a:ea typeface="Calibri" pitchFamily="34" charset="-122"/>
                <a:cs typeface="Calibri" pitchFamily="34" charset="-120"/>
              </a:rPr>
              <a:t>›</a:t>
            </a:r>
            <a:endParaRPr lang="en-US" sz="2000" dirty="0"/>
          </a:p>
        </p:txBody>
      </p:sp>
      <p:sp>
        <p:nvSpPr>
          <p:cNvPr id="43" name="Shape 41"/>
          <p:cNvSpPr/>
          <p:nvPr/>
        </p:nvSpPr>
        <p:spPr>
          <a:xfrm>
            <a:off x="10643616" y="2468880"/>
            <a:ext cx="731520" cy="731520"/>
          </a:xfrm>
          <a:prstGeom prst="ellipse">
            <a:avLst/>
          </a:prstGeom>
          <a:solidFill>
            <a:srgbClr val="C6D5DE"/>
          </a:solidFill>
          <a:ln w="25400">
            <a:solidFill>
              <a:srgbClr val="C6D5DE"/>
            </a:solidFill>
            <a:prstDash val="solid"/>
          </a:ln>
          <a:effectLst>
            <a:outerShdw blurRad="76200" dist="38100" dir="5400000" algn="bl" rotWithShape="0">
              <a:srgbClr val="8DA0B0">
                <a:alpha val="35000"/>
              </a:srgbClr>
            </a:outerShdw>
          </a:effectLst>
        </p:spPr>
        <p:txBody>
          <a:bodyPr/>
          <a:lstStyle/>
          <a:p>
            <a:endParaRPr lang="en-US"/>
          </a:p>
        </p:txBody>
      </p:sp>
      <p:sp>
        <p:nvSpPr>
          <p:cNvPr id="44" name="Text 42"/>
          <p:cNvSpPr/>
          <p:nvPr/>
        </p:nvSpPr>
        <p:spPr>
          <a:xfrm>
            <a:off x="10643616" y="2468880"/>
            <a:ext cx="731520" cy="7315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5" name="Text 43"/>
          <p:cNvSpPr/>
          <p:nvPr/>
        </p:nvSpPr>
        <p:spPr>
          <a:xfrm>
            <a:off x="10378440" y="3291840"/>
            <a:ext cx="1261872" cy="320040"/>
          </a:xfrm>
          <a:prstGeom prst="rect">
            <a:avLst/>
          </a:prstGeom>
          <a:noFill/>
          <a:ln/>
        </p:spPr>
        <p:txBody>
          <a:bodyPr wrap="square" lIns="0" tIns="0" rIns="0" bIns="0" rtlCol="0" anchor="ctr"/>
          <a:lstStyle/>
          <a:p>
            <a:pPr marL="0" indent="0" algn="ctr">
              <a:buNone/>
            </a:pPr>
            <a:r>
              <a:rPr lang="en-US" sz="1400" b="1" dirty="0">
                <a:solidFill>
                  <a:srgbClr val="16273A"/>
                </a:solidFill>
                <a:latin typeface="Calibri" pitchFamily="34" charset="0"/>
                <a:ea typeface="Calibri" pitchFamily="34" charset="-122"/>
                <a:cs typeface="Calibri" pitchFamily="34" charset="-120"/>
              </a:rPr>
              <a:t>Monitor</a:t>
            </a:r>
            <a:endParaRPr lang="en-US" sz="1400" dirty="0"/>
          </a:p>
        </p:txBody>
      </p:sp>
      <p:sp>
        <p:nvSpPr>
          <p:cNvPr id="46" name="Text 44"/>
          <p:cNvSpPr/>
          <p:nvPr/>
        </p:nvSpPr>
        <p:spPr>
          <a:xfrm>
            <a:off x="10378440" y="3584448"/>
            <a:ext cx="1261872" cy="320040"/>
          </a:xfrm>
          <a:prstGeom prst="rect">
            <a:avLst/>
          </a:prstGeom>
          <a:noFill/>
          <a:ln/>
        </p:spPr>
        <p:txBody>
          <a:bodyPr wrap="square" lIns="0" tIns="0" rIns="0" bIns="0" rtlCol="0" anchor="ctr"/>
          <a:lstStyle/>
          <a:p>
            <a:pPr marL="0" indent="0" algn="ctr">
              <a:buNone/>
            </a:pPr>
            <a:r>
              <a:rPr lang="en-US" sz="1100" dirty="0">
                <a:solidFill>
                  <a:srgbClr val="0E7C8B"/>
                </a:solidFill>
                <a:latin typeface="Calibri" pitchFamily="34" charset="0"/>
                <a:ea typeface="Calibri" pitchFamily="34" charset="-122"/>
                <a:cs typeface="Calibri" pitchFamily="34" charset="-120"/>
              </a:rPr>
              <a:t>Logs</a:t>
            </a:r>
            <a:endParaRPr lang="en-US" sz="1100" dirty="0"/>
          </a:p>
        </p:txBody>
      </p:sp>
      <p:sp>
        <p:nvSpPr>
          <p:cNvPr id="47" name="Text 45"/>
          <p:cNvSpPr/>
          <p:nvPr/>
        </p:nvSpPr>
        <p:spPr>
          <a:xfrm>
            <a:off x="548640" y="4114800"/>
            <a:ext cx="11064240" cy="365760"/>
          </a:xfrm>
          <a:prstGeom prst="rect">
            <a:avLst/>
          </a:prstGeom>
          <a:noFill/>
          <a:ln/>
        </p:spPr>
        <p:txBody>
          <a:bodyPr wrap="square" rtlCol="0" anchor="ctr"/>
          <a:lstStyle/>
          <a:p>
            <a:pPr marL="0" indent="0" algn="ctr">
              <a:buNone/>
            </a:pPr>
            <a:r>
              <a:rPr lang="en-US" sz="1400" dirty="0">
                <a:solidFill>
                  <a:srgbClr val="5C7186"/>
                </a:solidFill>
                <a:latin typeface="Calibri" pitchFamily="34" charset="0"/>
                <a:ea typeface="Calibri" pitchFamily="34" charset="-122"/>
                <a:cs typeface="Calibri" pitchFamily="34" charset="-120"/>
              </a:rPr>
              <a:t>Phần tô đậm (Code → Operate) chính là những gì Day 2 này bao phủ.</a:t>
            </a:r>
            <a:endParaRPr lang="en-US" sz="1400" dirty="0"/>
          </a:p>
        </p:txBody>
      </p:sp>
      <p:sp>
        <p:nvSpPr>
          <p:cNvPr id="48" name="Shape 46"/>
          <p:cNvSpPr/>
          <p:nvPr/>
        </p:nvSpPr>
        <p:spPr>
          <a:xfrm>
            <a:off x="548640" y="4617720"/>
            <a:ext cx="11091672" cy="1234440"/>
          </a:xfrm>
          <a:prstGeom prst="roundRect">
            <a:avLst>
              <a:gd name="adj" fmla="val 5926"/>
            </a:avLst>
          </a:prstGeom>
          <a:solidFill>
            <a:srgbClr val="FBF3E4"/>
          </a:solidFill>
          <a:ln w="16510">
            <a:solidFill>
              <a:srgbClr val="C77D1A"/>
            </a:solidFill>
            <a:prstDash val="solid"/>
          </a:ln>
          <a:effectLst>
            <a:outerShdw blurRad="76200" dist="38100" dir="5400000" algn="bl" rotWithShape="0">
              <a:srgbClr val="8DA0B0">
                <a:alpha val="35000"/>
              </a:srgbClr>
            </a:outerShdw>
          </a:effectLst>
        </p:spPr>
        <p:txBody>
          <a:bodyPr/>
          <a:lstStyle/>
          <a:p>
            <a:endParaRPr lang="en-US"/>
          </a:p>
        </p:txBody>
      </p:sp>
      <p:sp>
        <p:nvSpPr>
          <p:cNvPr id="49" name="Text 47"/>
          <p:cNvSpPr/>
          <p:nvPr/>
        </p:nvSpPr>
        <p:spPr>
          <a:xfrm>
            <a:off x="822960" y="4782312"/>
            <a:ext cx="10543032" cy="905256"/>
          </a:xfrm>
          <a:prstGeom prst="rect">
            <a:avLst/>
          </a:prstGeom>
          <a:noFill/>
          <a:ln/>
        </p:spPr>
        <p:txBody>
          <a:bodyPr wrap="square" lIns="0" tIns="0" rIns="0" bIns="0" rtlCol="0" anchor="ctr"/>
          <a:lstStyle/>
          <a:p>
            <a:pPr marL="0" indent="0">
              <a:lnSpc>
                <a:spcPct val="115000"/>
              </a:lnSpc>
              <a:buNone/>
            </a:pPr>
            <a:r>
              <a:rPr lang="en-US" sz="1400" b="1" dirty="0">
                <a:solidFill>
                  <a:srgbClr val="C77D1A"/>
                </a:solidFill>
                <a:latin typeface="Calibri" pitchFamily="34" charset="0"/>
                <a:ea typeface="Calibri" pitchFamily="34" charset="-122"/>
                <a:cs typeface="Calibri" pitchFamily="34" charset="-120"/>
              </a:rPr>
              <a:t>VÌ SAO?  </a:t>
            </a:r>
            <a:r>
              <a:rPr lang="en-US" sz="1400" dirty="0">
                <a:solidFill>
                  <a:srgbClr val="6E4E14"/>
                </a:solidFill>
                <a:latin typeface="Calibri" pitchFamily="34" charset="0"/>
                <a:ea typeface="Calibri" pitchFamily="34" charset="-122"/>
                <a:cs typeface="Calibri" pitchFamily="34" charset="-120"/>
              </a:rPr>
              <a:t>Rút ngắn vòng lặp = phản hồi nhanh = mỗi thay đổi nhỏ hơn. Thay đổi nhỏ thì ít rủi ro, dễ tìm lỗi, dễ rollback. Toàn bộ công cụ phía sau tồn tại để làm vòng lặp này ngắn và an toàn.</a:t>
            </a:r>
            <a:endParaRPr lang="en-US" sz="1400" dirty="0"/>
          </a:p>
        </p:txBody>
      </p:sp>
      <p:sp>
        <p:nvSpPr>
          <p:cNvPr id="50" name="Text 48"/>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0 · Tư duy DevOps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138"/>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27C6A6"/>
          </a:solidFill>
          <a:ln w="254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0B2138"/>
                </a:solidFill>
                <a:latin typeface="Cambria" pitchFamily="34" charset="0"/>
                <a:ea typeface="Cambria" pitchFamily="34" charset="-122"/>
                <a:cs typeface="Cambria" pitchFamily="34" charset="-120"/>
              </a:rPr>
              <a:t>0</a:t>
            </a:r>
            <a:endParaRPr lang="en-US" sz="2200" dirty="0"/>
          </a:p>
        </p:txBody>
      </p:sp>
      <p:sp>
        <p:nvSpPr>
          <p:cNvPr id="4" name="Shape 2"/>
          <p:cNvSpPr/>
          <p:nvPr/>
        </p:nvSpPr>
        <p:spPr>
          <a:xfrm>
            <a:off x="1627632" y="502920"/>
            <a:ext cx="2743200" cy="347472"/>
          </a:xfrm>
          <a:prstGeom prst="roundRect">
            <a:avLst>
              <a:gd name="adj" fmla="val 50000"/>
            </a:avLst>
          </a:prstGeom>
          <a:solidFill>
            <a:srgbClr val="C77D1A"/>
          </a:solidFill>
          <a:ln/>
        </p:spPr>
        <p:txBody>
          <a:bodyPr/>
          <a:lstStyle/>
          <a:p>
            <a:endParaRPr lang="en-US"/>
          </a:p>
        </p:txBody>
      </p:sp>
      <p:sp>
        <p:nvSpPr>
          <p:cNvPr id="5" name="Text 3"/>
          <p:cNvSpPr/>
          <p:nvPr/>
        </p:nvSpPr>
        <p:spPr>
          <a:xfrm>
            <a:off x="1627632" y="502920"/>
            <a:ext cx="274320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VÌ SAO QUAN TRỌNG</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Bốn ý niệm xuyên suốt khóa</a:t>
            </a:r>
            <a:endParaRPr lang="en-US" sz="2700" dirty="0"/>
          </a:p>
        </p:txBody>
      </p:sp>
      <p:sp>
        <p:nvSpPr>
          <p:cNvPr id="7" name="Shape 5"/>
          <p:cNvSpPr/>
          <p:nvPr/>
        </p:nvSpPr>
        <p:spPr>
          <a:xfrm>
            <a:off x="548640" y="1965960"/>
            <a:ext cx="5440680" cy="1737360"/>
          </a:xfrm>
          <a:prstGeom prst="roundRect">
            <a:avLst>
              <a:gd name="adj" fmla="val 5263"/>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8" name="Text 6"/>
          <p:cNvSpPr/>
          <p:nvPr/>
        </p:nvSpPr>
        <p:spPr>
          <a:xfrm>
            <a:off x="822960" y="2167128"/>
            <a:ext cx="1463040" cy="640080"/>
          </a:xfrm>
          <a:prstGeom prst="rect">
            <a:avLst/>
          </a:prstGeom>
          <a:noFill/>
          <a:ln/>
        </p:spPr>
        <p:txBody>
          <a:bodyPr wrap="square" lIns="0" tIns="0" rIns="0" bIns="0" rtlCol="0" anchor="ctr"/>
          <a:lstStyle/>
          <a:p>
            <a:pPr marL="0" indent="0">
              <a:buNone/>
            </a:pPr>
            <a:r>
              <a:rPr lang="en-US" sz="3000" b="1" dirty="0">
                <a:solidFill>
                  <a:srgbClr val="27C6A6"/>
                </a:solidFill>
                <a:latin typeface="Cambria" pitchFamily="34" charset="0"/>
                <a:ea typeface="Cambria" pitchFamily="34" charset="-122"/>
                <a:cs typeface="Cambria" pitchFamily="34" charset="-120"/>
              </a:rPr>
              <a:t>CI</a:t>
            </a:r>
            <a:endParaRPr lang="en-US" sz="3000" dirty="0"/>
          </a:p>
        </p:txBody>
      </p:sp>
      <p:sp>
        <p:nvSpPr>
          <p:cNvPr id="9" name="Text 7"/>
          <p:cNvSpPr/>
          <p:nvPr/>
        </p:nvSpPr>
        <p:spPr>
          <a:xfrm>
            <a:off x="2148840" y="2221992"/>
            <a:ext cx="3657600" cy="5486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Continuous Integration</a:t>
            </a:r>
            <a:endParaRPr lang="en-US" sz="1600" dirty="0"/>
          </a:p>
        </p:txBody>
      </p:sp>
      <p:sp>
        <p:nvSpPr>
          <p:cNvPr id="10" name="Text 8"/>
          <p:cNvSpPr/>
          <p:nvPr/>
        </p:nvSpPr>
        <p:spPr>
          <a:xfrm>
            <a:off x="841248" y="2880360"/>
            <a:ext cx="4892040" cy="731520"/>
          </a:xfrm>
          <a:prstGeom prst="rect">
            <a:avLst/>
          </a:prstGeom>
          <a:noFill/>
          <a:ln/>
        </p:spPr>
        <p:txBody>
          <a:bodyPr wrap="square" lIns="0" tIns="0" rIns="0" bIns="0" rtlCol="0" anchor="ctr"/>
          <a:lstStyle/>
          <a:p>
            <a:pPr marL="0" indent="0">
              <a:lnSpc>
                <a:spcPct val="112000"/>
              </a:lnSpc>
              <a:buNone/>
            </a:pPr>
            <a:r>
              <a:rPr lang="en-US" sz="1350" dirty="0">
                <a:solidFill>
                  <a:srgbClr val="CFE3EC"/>
                </a:solidFill>
                <a:latin typeface="Calibri" pitchFamily="34" charset="0"/>
                <a:ea typeface="Calibri" pitchFamily="34" charset="-122"/>
                <a:cs typeface="Calibri" pitchFamily="34" charset="-120"/>
              </a:rPr>
              <a:t>Mỗi commit tự động build + test ngay → hết "integration hell".</a:t>
            </a:r>
            <a:endParaRPr lang="en-US" sz="1350" dirty="0"/>
          </a:p>
        </p:txBody>
      </p:sp>
      <p:sp>
        <p:nvSpPr>
          <p:cNvPr id="11" name="Shape 9"/>
          <p:cNvSpPr/>
          <p:nvPr/>
        </p:nvSpPr>
        <p:spPr>
          <a:xfrm>
            <a:off x="6181344" y="1965960"/>
            <a:ext cx="5440680" cy="1737360"/>
          </a:xfrm>
          <a:prstGeom prst="roundRect">
            <a:avLst>
              <a:gd name="adj" fmla="val 5263"/>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2" name="Text 10"/>
          <p:cNvSpPr/>
          <p:nvPr/>
        </p:nvSpPr>
        <p:spPr>
          <a:xfrm>
            <a:off x="6455664" y="2167128"/>
            <a:ext cx="1463040" cy="640080"/>
          </a:xfrm>
          <a:prstGeom prst="rect">
            <a:avLst/>
          </a:prstGeom>
          <a:noFill/>
          <a:ln/>
        </p:spPr>
        <p:txBody>
          <a:bodyPr wrap="square" lIns="0" tIns="0" rIns="0" bIns="0" rtlCol="0" anchor="ctr"/>
          <a:lstStyle/>
          <a:p>
            <a:pPr marL="0" indent="0">
              <a:buNone/>
            </a:pPr>
            <a:r>
              <a:rPr lang="en-US" sz="3000" b="1" dirty="0">
                <a:solidFill>
                  <a:srgbClr val="27C6A6"/>
                </a:solidFill>
                <a:latin typeface="Cambria" pitchFamily="34" charset="0"/>
                <a:ea typeface="Cambria" pitchFamily="34" charset="-122"/>
                <a:cs typeface="Cambria" pitchFamily="34" charset="-120"/>
              </a:rPr>
              <a:t>CD</a:t>
            </a:r>
            <a:endParaRPr lang="en-US" sz="3000" dirty="0"/>
          </a:p>
        </p:txBody>
      </p:sp>
      <p:sp>
        <p:nvSpPr>
          <p:cNvPr id="13" name="Text 11"/>
          <p:cNvSpPr/>
          <p:nvPr/>
        </p:nvSpPr>
        <p:spPr>
          <a:xfrm>
            <a:off x="7781544" y="2221992"/>
            <a:ext cx="3657600" cy="5486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Continuous Delivery/Deployment</a:t>
            </a:r>
            <a:endParaRPr lang="en-US" sz="1600" dirty="0"/>
          </a:p>
        </p:txBody>
      </p:sp>
      <p:sp>
        <p:nvSpPr>
          <p:cNvPr id="14" name="Text 12"/>
          <p:cNvSpPr/>
          <p:nvPr/>
        </p:nvSpPr>
        <p:spPr>
          <a:xfrm>
            <a:off x="6473952" y="2880360"/>
            <a:ext cx="4892040" cy="731520"/>
          </a:xfrm>
          <a:prstGeom prst="rect">
            <a:avLst/>
          </a:prstGeom>
          <a:noFill/>
          <a:ln/>
        </p:spPr>
        <p:txBody>
          <a:bodyPr wrap="square" lIns="0" tIns="0" rIns="0" bIns="0" rtlCol="0" anchor="ctr"/>
          <a:lstStyle/>
          <a:p>
            <a:pPr marL="0" indent="0">
              <a:lnSpc>
                <a:spcPct val="112000"/>
              </a:lnSpc>
              <a:buNone/>
            </a:pPr>
            <a:r>
              <a:rPr lang="en-US" sz="1350" dirty="0">
                <a:solidFill>
                  <a:srgbClr val="CFE3EC"/>
                </a:solidFill>
                <a:latin typeface="Calibri" pitchFamily="34" charset="0"/>
                <a:ea typeface="Calibri" pitchFamily="34" charset="-122"/>
                <a:cs typeface="Calibri" pitchFamily="34" charset="-120"/>
              </a:rPr>
              <a:t>Qua test là sẵn sàng (hoặc tự động) phát hành.</a:t>
            </a:r>
            <a:endParaRPr lang="en-US" sz="1350" dirty="0"/>
          </a:p>
        </p:txBody>
      </p:sp>
      <p:sp>
        <p:nvSpPr>
          <p:cNvPr id="15" name="Shape 13"/>
          <p:cNvSpPr/>
          <p:nvPr/>
        </p:nvSpPr>
        <p:spPr>
          <a:xfrm>
            <a:off x="548640" y="3886200"/>
            <a:ext cx="5440680" cy="1737360"/>
          </a:xfrm>
          <a:prstGeom prst="roundRect">
            <a:avLst>
              <a:gd name="adj" fmla="val 5263"/>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6" name="Text 14"/>
          <p:cNvSpPr/>
          <p:nvPr/>
        </p:nvSpPr>
        <p:spPr>
          <a:xfrm>
            <a:off x="822960" y="4087368"/>
            <a:ext cx="1463040" cy="640080"/>
          </a:xfrm>
          <a:prstGeom prst="rect">
            <a:avLst/>
          </a:prstGeom>
          <a:noFill/>
          <a:ln/>
        </p:spPr>
        <p:txBody>
          <a:bodyPr wrap="square" lIns="0" tIns="0" rIns="0" bIns="0" rtlCol="0" anchor="ctr"/>
          <a:lstStyle/>
          <a:p>
            <a:pPr marL="0" indent="0">
              <a:buNone/>
            </a:pPr>
            <a:r>
              <a:rPr lang="en-US" sz="3000" b="1" dirty="0">
                <a:solidFill>
                  <a:srgbClr val="27C6A6"/>
                </a:solidFill>
                <a:latin typeface="Cambria" pitchFamily="34" charset="0"/>
                <a:ea typeface="Cambria" pitchFamily="34" charset="-122"/>
                <a:cs typeface="Cambria" pitchFamily="34" charset="-120"/>
              </a:rPr>
              <a:t>IaC</a:t>
            </a:r>
            <a:endParaRPr lang="en-US" sz="3000" dirty="0"/>
          </a:p>
        </p:txBody>
      </p:sp>
      <p:sp>
        <p:nvSpPr>
          <p:cNvPr id="17" name="Text 15"/>
          <p:cNvSpPr/>
          <p:nvPr/>
        </p:nvSpPr>
        <p:spPr>
          <a:xfrm>
            <a:off x="2148840" y="4142232"/>
            <a:ext cx="3657600" cy="5486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Infrastructure as Code</a:t>
            </a:r>
            <a:endParaRPr lang="en-US" sz="1600" dirty="0"/>
          </a:p>
        </p:txBody>
      </p:sp>
      <p:sp>
        <p:nvSpPr>
          <p:cNvPr id="18" name="Text 16"/>
          <p:cNvSpPr/>
          <p:nvPr/>
        </p:nvSpPr>
        <p:spPr>
          <a:xfrm>
            <a:off x="841248" y="4800600"/>
            <a:ext cx="4892040" cy="731520"/>
          </a:xfrm>
          <a:prstGeom prst="rect">
            <a:avLst/>
          </a:prstGeom>
          <a:noFill/>
          <a:ln/>
        </p:spPr>
        <p:txBody>
          <a:bodyPr wrap="square" lIns="0" tIns="0" rIns="0" bIns="0" rtlCol="0" anchor="ctr"/>
          <a:lstStyle/>
          <a:p>
            <a:pPr marL="0" indent="0">
              <a:lnSpc>
                <a:spcPct val="112000"/>
              </a:lnSpc>
              <a:buNone/>
            </a:pPr>
            <a:r>
              <a:rPr lang="en-US" sz="1350" dirty="0">
                <a:solidFill>
                  <a:srgbClr val="CFE3EC"/>
                </a:solidFill>
                <a:latin typeface="Calibri" pitchFamily="34" charset="0"/>
                <a:ea typeface="Calibri" pitchFamily="34" charset="-122"/>
                <a:cs typeface="Calibri" pitchFamily="34" charset="-120"/>
              </a:rPr>
              <a:t>Mô tả hạ tầng bằng file → version, review, tái lập được.</a:t>
            </a:r>
            <a:endParaRPr lang="en-US" sz="1350" dirty="0"/>
          </a:p>
        </p:txBody>
      </p:sp>
      <p:sp>
        <p:nvSpPr>
          <p:cNvPr id="19" name="Shape 17"/>
          <p:cNvSpPr/>
          <p:nvPr/>
        </p:nvSpPr>
        <p:spPr>
          <a:xfrm>
            <a:off x="6181344" y="3886200"/>
            <a:ext cx="5440680" cy="1737360"/>
          </a:xfrm>
          <a:prstGeom prst="roundRect">
            <a:avLst>
              <a:gd name="adj" fmla="val 5263"/>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20" name="Text 18"/>
          <p:cNvSpPr/>
          <p:nvPr/>
        </p:nvSpPr>
        <p:spPr>
          <a:xfrm>
            <a:off x="6455664" y="4087368"/>
            <a:ext cx="1463040" cy="640080"/>
          </a:xfrm>
          <a:prstGeom prst="rect">
            <a:avLst/>
          </a:prstGeom>
          <a:noFill/>
          <a:ln/>
        </p:spPr>
        <p:txBody>
          <a:bodyPr wrap="square" lIns="0" tIns="0" rIns="0" bIns="0" rtlCol="0" anchor="ctr"/>
          <a:lstStyle/>
          <a:p>
            <a:pPr marL="0" indent="0">
              <a:buNone/>
            </a:pPr>
            <a:r>
              <a:rPr lang="en-US" sz="3000" b="1" dirty="0">
                <a:solidFill>
                  <a:srgbClr val="27C6A6"/>
                </a:solidFill>
                <a:latin typeface="Cambria" pitchFamily="34" charset="0"/>
                <a:ea typeface="Cambria" pitchFamily="34" charset="-122"/>
                <a:cs typeface="Cambria" pitchFamily="34" charset="-120"/>
              </a:rPr>
              <a:t>GitOps</a:t>
            </a:r>
            <a:endParaRPr lang="en-US" sz="3000" dirty="0"/>
          </a:p>
        </p:txBody>
      </p:sp>
      <p:sp>
        <p:nvSpPr>
          <p:cNvPr id="21" name="Text 19"/>
          <p:cNvSpPr/>
          <p:nvPr/>
        </p:nvSpPr>
        <p:spPr>
          <a:xfrm>
            <a:off x="7781544" y="4142232"/>
            <a:ext cx="3657600" cy="54864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Git là nguồn chân lý</a:t>
            </a:r>
            <a:endParaRPr lang="en-US" sz="1600" dirty="0"/>
          </a:p>
        </p:txBody>
      </p:sp>
      <p:sp>
        <p:nvSpPr>
          <p:cNvPr id="22" name="Text 20"/>
          <p:cNvSpPr/>
          <p:nvPr/>
        </p:nvSpPr>
        <p:spPr>
          <a:xfrm>
            <a:off x="6473952" y="4800600"/>
            <a:ext cx="4892040" cy="731520"/>
          </a:xfrm>
          <a:prstGeom prst="rect">
            <a:avLst/>
          </a:prstGeom>
          <a:noFill/>
          <a:ln/>
        </p:spPr>
        <p:txBody>
          <a:bodyPr wrap="square" lIns="0" tIns="0" rIns="0" bIns="0" rtlCol="0" anchor="ctr"/>
          <a:lstStyle/>
          <a:p>
            <a:pPr marL="0" indent="0">
              <a:lnSpc>
                <a:spcPct val="112000"/>
              </a:lnSpc>
              <a:buNone/>
            </a:pPr>
            <a:r>
              <a:rPr lang="en-US" sz="1350" dirty="0">
                <a:solidFill>
                  <a:srgbClr val="CFE3EC"/>
                </a:solidFill>
                <a:latin typeface="Calibri" pitchFamily="34" charset="0"/>
                <a:ea typeface="Calibri" pitchFamily="34" charset="-122"/>
                <a:cs typeface="Calibri" pitchFamily="34" charset="-120"/>
              </a:rPr>
              <a:t>Muốn đổi production thì sửa file trong Git, không gõ tay.</a:t>
            </a:r>
            <a:endParaRPr lang="en-US" sz="1350" dirty="0"/>
          </a:p>
        </p:txBody>
      </p:sp>
      <p:sp>
        <p:nvSpPr>
          <p:cNvPr id="23" name="Text 21"/>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6E8598"/>
                </a:solidFill>
                <a:latin typeface="Calibri" pitchFamily="34" charset="0"/>
                <a:ea typeface="Calibri" pitchFamily="34" charset="-122"/>
                <a:cs typeface="Calibri" pitchFamily="34" charset="-120"/>
              </a:rPr>
              <a:t>Session 0 · Tư duy DevOps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Shape 2"/>
          <p:cNvSpPr/>
          <p:nvPr/>
        </p:nvSpPr>
        <p:spPr>
          <a:xfrm>
            <a:off x="1627632" y="502920"/>
            <a:ext cx="1234440" cy="347472"/>
          </a:xfrm>
          <a:prstGeom prst="roundRect">
            <a:avLst>
              <a:gd name="adj" fmla="val 50000"/>
            </a:avLst>
          </a:prstGeom>
          <a:solidFill>
            <a:srgbClr val="0E7C8B"/>
          </a:solidFill>
          <a:ln/>
        </p:spPr>
        <p:txBody>
          <a:bodyPr/>
          <a:lstStyle/>
          <a:p>
            <a:endParaRPr lang="en-US"/>
          </a:p>
        </p:txBody>
      </p:sp>
      <p:sp>
        <p:nvSpPr>
          <p:cNvPr id="5" name="Text 3"/>
          <p:cNvSpPr/>
          <p:nvPr/>
        </p:nvSpPr>
        <p:spPr>
          <a:xfrm>
            <a:off x="1627632" y="502920"/>
            <a:ext cx="12344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LÀ GÌ</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Version Control là gì?</a:t>
            </a:r>
            <a:endParaRPr lang="en-US" sz="2700" dirty="0"/>
          </a:p>
        </p:txBody>
      </p:sp>
      <p:sp>
        <p:nvSpPr>
          <p:cNvPr id="7" name="Text 5"/>
          <p:cNvSpPr/>
          <p:nvPr/>
        </p:nvSpPr>
        <p:spPr>
          <a:xfrm>
            <a:off x="548640" y="1600200"/>
            <a:ext cx="11064240" cy="548640"/>
          </a:xfrm>
          <a:prstGeom prst="rect">
            <a:avLst/>
          </a:prstGeom>
          <a:noFill/>
          <a:ln/>
        </p:spPr>
        <p:txBody>
          <a:bodyPr wrap="square" lIns="0" tIns="0" rIns="0" bIns="0" rtlCol="0" anchor="ctr"/>
          <a:lstStyle/>
          <a:p>
            <a:pPr marL="0" indent="0">
              <a:buNone/>
            </a:pPr>
            <a:r>
              <a:rPr lang="en-US" sz="1550" i="1" dirty="0">
                <a:solidFill>
                  <a:srgbClr val="5C7186"/>
                </a:solidFill>
                <a:latin typeface="Calibri" pitchFamily="34" charset="0"/>
                <a:ea typeface="Calibri" pitchFamily="34" charset="-122"/>
                <a:cs typeface="Calibri" pitchFamily="34" charset="-120"/>
              </a:rPr>
              <a:t>Hệ thống ghi lại MỌI thay đổi của mã nguồn theo thời gian, cho phép nhiều người cùng làm, quay lại quá khứ, và thử nghiệm an toàn.</a:t>
            </a:r>
            <a:endParaRPr lang="en-US" sz="1550" dirty="0"/>
          </a:p>
        </p:txBody>
      </p:sp>
      <p:sp>
        <p:nvSpPr>
          <p:cNvPr id="8" name="Text 6"/>
          <p:cNvSpPr/>
          <p:nvPr/>
        </p:nvSpPr>
        <p:spPr>
          <a:xfrm>
            <a:off x="548640" y="2240280"/>
            <a:ext cx="6400800" cy="365760"/>
          </a:xfrm>
          <a:prstGeom prst="rect">
            <a:avLst/>
          </a:prstGeom>
          <a:noFill/>
          <a:ln/>
        </p:spPr>
        <p:txBody>
          <a:bodyPr wrap="square" lIns="0" tIns="0" rIns="0" bIns="0" rtlCol="0" anchor="ctr"/>
          <a:lstStyle/>
          <a:p>
            <a:pPr marL="0" indent="0">
              <a:buNone/>
            </a:pPr>
            <a:r>
              <a:rPr lang="en-US" sz="1600" b="1" dirty="0">
                <a:solidFill>
                  <a:srgbClr val="16273A"/>
                </a:solidFill>
                <a:latin typeface="Cambria" pitchFamily="34" charset="0"/>
                <a:ea typeface="Cambria" pitchFamily="34" charset="-122"/>
                <a:cs typeface="Cambria" pitchFamily="34" charset="-120"/>
              </a:rPr>
              <a:t>Ba trạng thái của một file trong Git</a:t>
            </a:r>
            <a:endParaRPr lang="en-US" sz="1600" dirty="0"/>
          </a:p>
        </p:txBody>
      </p:sp>
      <p:sp>
        <p:nvSpPr>
          <p:cNvPr id="9" name="Shape 7"/>
          <p:cNvSpPr/>
          <p:nvPr/>
        </p:nvSpPr>
        <p:spPr>
          <a:xfrm>
            <a:off x="548640" y="2697480"/>
            <a:ext cx="1965960" cy="868680"/>
          </a:xfrm>
          <a:prstGeom prst="roundRect">
            <a:avLst>
              <a:gd name="adj" fmla="val 8421"/>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548640" y="2697480"/>
            <a:ext cx="1965960" cy="8686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Working Dir</a:t>
            </a:r>
            <a:endParaRPr lang="en-US" sz="1500" dirty="0"/>
          </a:p>
          <a:p>
            <a:pPr marL="0" indent="0" algn="ctr">
              <a:buNone/>
            </a:pPr>
            <a:r>
              <a:rPr lang="en-US" sz="1100" dirty="0">
                <a:solidFill>
                  <a:srgbClr val="E6F2F5"/>
                </a:solidFill>
                <a:latin typeface="Calibri" pitchFamily="34" charset="0"/>
                <a:ea typeface="Calibri" pitchFamily="34" charset="-122"/>
                <a:cs typeface="Calibri" pitchFamily="34" charset="-120"/>
              </a:rPr>
              <a:t>đang sửa</a:t>
            </a:r>
            <a:endParaRPr lang="en-US" sz="1500" dirty="0"/>
          </a:p>
        </p:txBody>
      </p:sp>
      <p:sp>
        <p:nvSpPr>
          <p:cNvPr id="11" name="Text 9"/>
          <p:cNvSpPr/>
          <p:nvPr/>
        </p:nvSpPr>
        <p:spPr>
          <a:xfrm>
            <a:off x="2514600" y="2697480"/>
            <a:ext cx="1051560" cy="868680"/>
          </a:xfrm>
          <a:prstGeom prst="rect">
            <a:avLst/>
          </a:prstGeom>
          <a:noFill/>
          <a:ln/>
        </p:spPr>
        <p:txBody>
          <a:bodyPr wrap="square" rtlCol="0" anchor="ctr"/>
          <a:lstStyle/>
          <a:p>
            <a:pPr marL="0" indent="0" algn="ctr">
              <a:buNone/>
            </a:pPr>
            <a:r>
              <a:rPr lang="en-US" sz="1050" b="1" dirty="0">
                <a:solidFill>
                  <a:srgbClr val="0E7C8B"/>
                </a:solidFill>
                <a:latin typeface="Consolas" pitchFamily="34" charset="0"/>
                <a:ea typeface="Consolas" pitchFamily="34" charset="-122"/>
                <a:cs typeface="Consolas" pitchFamily="34" charset="-120"/>
              </a:rPr>
              <a:t>git add</a:t>
            </a:r>
            <a:endParaRPr lang="en-US" sz="1050" dirty="0"/>
          </a:p>
        </p:txBody>
      </p:sp>
      <p:sp>
        <p:nvSpPr>
          <p:cNvPr id="12" name="Shape 10"/>
          <p:cNvSpPr/>
          <p:nvPr/>
        </p:nvSpPr>
        <p:spPr>
          <a:xfrm>
            <a:off x="3566160" y="2697480"/>
            <a:ext cx="1965960" cy="868680"/>
          </a:xfrm>
          <a:prstGeom prst="roundRect">
            <a:avLst>
              <a:gd name="adj" fmla="val 8421"/>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13" name="Text 11"/>
          <p:cNvSpPr/>
          <p:nvPr/>
        </p:nvSpPr>
        <p:spPr>
          <a:xfrm>
            <a:off x="3566160" y="2697480"/>
            <a:ext cx="1965960" cy="8686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Staging</a:t>
            </a:r>
            <a:endParaRPr lang="en-US" sz="1500" dirty="0"/>
          </a:p>
          <a:p>
            <a:pPr marL="0" indent="0" algn="ctr">
              <a:buNone/>
            </a:pPr>
            <a:r>
              <a:rPr lang="en-US" sz="1100" dirty="0">
                <a:solidFill>
                  <a:srgbClr val="E6F2F5"/>
                </a:solidFill>
                <a:latin typeface="Calibri" pitchFamily="34" charset="0"/>
                <a:ea typeface="Calibri" pitchFamily="34" charset="-122"/>
                <a:cs typeface="Calibri" pitchFamily="34" charset="-120"/>
              </a:rPr>
              <a:t>chuẩn bị lưu</a:t>
            </a:r>
            <a:endParaRPr lang="en-US" sz="1500" dirty="0"/>
          </a:p>
        </p:txBody>
      </p:sp>
      <p:sp>
        <p:nvSpPr>
          <p:cNvPr id="14" name="Text 12"/>
          <p:cNvSpPr/>
          <p:nvPr/>
        </p:nvSpPr>
        <p:spPr>
          <a:xfrm>
            <a:off x="5532120" y="2697480"/>
            <a:ext cx="1051560" cy="868680"/>
          </a:xfrm>
          <a:prstGeom prst="rect">
            <a:avLst/>
          </a:prstGeom>
          <a:noFill/>
          <a:ln/>
        </p:spPr>
        <p:txBody>
          <a:bodyPr wrap="square" rtlCol="0" anchor="ctr"/>
          <a:lstStyle/>
          <a:p>
            <a:pPr marL="0" indent="0" algn="ctr">
              <a:buNone/>
            </a:pPr>
            <a:r>
              <a:rPr lang="en-US" sz="1050" b="1" dirty="0">
                <a:solidFill>
                  <a:srgbClr val="0E7C8B"/>
                </a:solidFill>
                <a:latin typeface="Consolas" pitchFamily="34" charset="0"/>
                <a:ea typeface="Consolas" pitchFamily="34" charset="-122"/>
                <a:cs typeface="Consolas" pitchFamily="34" charset="-120"/>
              </a:rPr>
              <a:t>git commit</a:t>
            </a:r>
            <a:endParaRPr lang="en-US" sz="1050" dirty="0"/>
          </a:p>
        </p:txBody>
      </p:sp>
      <p:sp>
        <p:nvSpPr>
          <p:cNvPr id="15" name="Shape 13"/>
          <p:cNvSpPr/>
          <p:nvPr/>
        </p:nvSpPr>
        <p:spPr>
          <a:xfrm>
            <a:off x="6583680" y="2697480"/>
            <a:ext cx="1965960" cy="868680"/>
          </a:xfrm>
          <a:prstGeom prst="roundRect">
            <a:avLst>
              <a:gd name="adj" fmla="val 8421"/>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6" name="Text 14"/>
          <p:cNvSpPr/>
          <p:nvPr/>
        </p:nvSpPr>
        <p:spPr>
          <a:xfrm>
            <a:off x="6583680" y="2697480"/>
            <a:ext cx="1965960" cy="868680"/>
          </a:xfrm>
          <a:prstGeom prst="rect">
            <a:avLst/>
          </a:prstGeom>
          <a:noFill/>
          <a:ln/>
        </p:spPr>
        <p:txBody>
          <a:bodyPr wrap="square" lIns="0" tIns="0" rIns="0" bIns="0" rtlCol="0" anchor="ctr"/>
          <a:lstStyle/>
          <a:p>
            <a:pPr marL="0" indent="0" algn="ctr">
              <a:buNone/>
            </a:pPr>
            <a:r>
              <a:rPr lang="en-US" sz="1500" b="1" dirty="0">
                <a:solidFill>
                  <a:srgbClr val="0B2138"/>
                </a:solidFill>
                <a:latin typeface="Calibri" pitchFamily="34" charset="0"/>
                <a:ea typeface="Calibri" pitchFamily="34" charset="-122"/>
                <a:cs typeface="Calibri" pitchFamily="34" charset="-120"/>
              </a:rPr>
              <a:t>Repository</a:t>
            </a:r>
            <a:endParaRPr lang="en-US" sz="1500" dirty="0"/>
          </a:p>
          <a:p>
            <a:pPr marL="0" indent="0" algn="ctr">
              <a:buNone/>
            </a:pPr>
            <a:r>
              <a:rPr lang="en-US" sz="1100" dirty="0">
                <a:solidFill>
                  <a:srgbClr val="0B2138"/>
                </a:solidFill>
                <a:latin typeface="Calibri" pitchFamily="34" charset="0"/>
                <a:ea typeface="Calibri" pitchFamily="34" charset="-122"/>
                <a:cs typeface="Calibri" pitchFamily="34" charset="-120"/>
              </a:rPr>
              <a:t>đã lưu</a:t>
            </a:r>
            <a:endParaRPr lang="en-US" sz="1500" dirty="0"/>
          </a:p>
        </p:txBody>
      </p:sp>
      <p:sp>
        <p:nvSpPr>
          <p:cNvPr id="17" name="Shape 15"/>
          <p:cNvSpPr/>
          <p:nvPr/>
        </p:nvSpPr>
        <p:spPr>
          <a:xfrm>
            <a:off x="548640" y="3886200"/>
            <a:ext cx="5440680" cy="1965960"/>
          </a:xfrm>
          <a:prstGeom prst="roundRect">
            <a:avLst>
              <a:gd name="adj" fmla="val 3721"/>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8" name="Text 16"/>
          <p:cNvSpPr/>
          <p:nvPr/>
        </p:nvSpPr>
        <p:spPr>
          <a:xfrm>
            <a:off x="822960" y="4023360"/>
            <a:ext cx="4572000" cy="365760"/>
          </a:xfrm>
          <a:prstGeom prst="rect">
            <a:avLst/>
          </a:prstGeom>
          <a:noFill/>
          <a:ln/>
        </p:spPr>
        <p:txBody>
          <a:bodyPr wrap="square" lIns="0" tIns="0" rIns="0" bIns="0" rtlCol="0" anchor="ctr"/>
          <a:lstStyle/>
          <a:p>
            <a:pPr marL="0" indent="0">
              <a:buNone/>
            </a:pPr>
            <a:r>
              <a:rPr lang="en-US" sz="1800" b="1" dirty="0">
                <a:solidFill>
                  <a:srgbClr val="0B2138"/>
                </a:solidFill>
                <a:latin typeface="Cambria" pitchFamily="34" charset="0"/>
                <a:ea typeface="Cambria" pitchFamily="34" charset="-122"/>
                <a:cs typeface="Cambria" pitchFamily="34" charset="-120"/>
              </a:rPr>
              <a:t>GitHub</a:t>
            </a:r>
            <a:endParaRPr lang="en-US" sz="1800" dirty="0"/>
          </a:p>
        </p:txBody>
      </p:sp>
      <p:sp>
        <p:nvSpPr>
          <p:cNvPr id="19" name="Text 17"/>
          <p:cNvSpPr/>
          <p:nvPr/>
        </p:nvSpPr>
        <p:spPr>
          <a:xfrm>
            <a:off x="868680" y="4434840"/>
            <a:ext cx="4937760" cy="1280160"/>
          </a:xfrm>
          <a:prstGeom prst="rect">
            <a:avLst/>
          </a:prstGeom>
          <a:noFill/>
          <a:ln/>
        </p:spPr>
        <p:txBody>
          <a:bodyPr wrap="square" lIns="0" tIns="0" rIns="0" bIns="0" rtlCol="0" anchor="ctr"/>
          <a:lstStyle/>
          <a:p>
            <a:pPr marL="342900" indent="-342900">
              <a:spcAft>
                <a:spcPts val="500"/>
              </a:spcAft>
              <a:buSzPct val="100000"/>
              <a:buChar char="•"/>
            </a:pPr>
            <a:r>
              <a:rPr lang="en-US" sz="1350" dirty="0">
                <a:solidFill>
                  <a:srgbClr val="16273A"/>
                </a:solidFill>
                <a:latin typeface="Calibri" pitchFamily="34" charset="0"/>
                <a:ea typeface="Calibri" pitchFamily="34" charset="-122"/>
                <a:cs typeface="Calibri" pitchFamily="34" charset="-120"/>
              </a:rPr>
              <a:t>CI/CD: GitHub Actions (marketplace lớn)</a:t>
            </a:r>
            <a:endParaRPr lang="en-US" sz="1350" dirty="0"/>
          </a:p>
          <a:p>
            <a:pPr marL="342900" indent="-342900">
              <a:spcAft>
                <a:spcPts val="500"/>
              </a:spcAft>
              <a:buSzPct val="100000"/>
              <a:buChar char="•"/>
            </a:pPr>
            <a:r>
              <a:rPr lang="en-US" sz="1350" dirty="0">
                <a:solidFill>
                  <a:srgbClr val="16273A"/>
                </a:solidFill>
                <a:latin typeface="Calibri" pitchFamily="34" charset="0"/>
                <a:ea typeface="Calibri" pitchFamily="34" charset="-122"/>
                <a:cs typeface="Calibri" pitchFamily="34" charset="-120"/>
              </a:rPr>
              <a:t>Trung tâm của open-source thế giới</a:t>
            </a:r>
            <a:endParaRPr lang="en-US" sz="1350" dirty="0"/>
          </a:p>
          <a:p>
            <a:pPr marL="342900" indent="-342900">
              <a:spcAft>
                <a:spcPts val="500"/>
              </a:spcAft>
              <a:buSzPct val="100000"/>
              <a:buChar char="•"/>
            </a:pPr>
            <a:r>
              <a:rPr lang="en-US" sz="1350" dirty="0">
                <a:solidFill>
                  <a:srgbClr val="16273A"/>
                </a:solidFill>
                <a:latin typeface="Calibri" pitchFamily="34" charset="0"/>
                <a:ea typeface="Calibri" pitchFamily="34" charset="-122"/>
                <a:cs typeface="Calibri" pitchFamily="34" charset="-120"/>
              </a:rPr>
              <a:t>Registry: GHCR</a:t>
            </a:r>
            <a:endParaRPr lang="en-US" sz="1350" dirty="0"/>
          </a:p>
        </p:txBody>
      </p:sp>
      <p:sp>
        <p:nvSpPr>
          <p:cNvPr id="20" name="Shape 18"/>
          <p:cNvSpPr/>
          <p:nvPr/>
        </p:nvSpPr>
        <p:spPr>
          <a:xfrm>
            <a:off x="6199632" y="3886200"/>
            <a:ext cx="5440680" cy="1965960"/>
          </a:xfrm>
          <a:prstGeom prst="roundRect">
            <a:avLst>
              <a:gd name="adj" fmla="val 3721"/>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21" name="Text 19"/>
          <p:cNvSpPr/>
          <p:nvPr/>
        </p:nvSpPr>
        <p:spPr>
          <a:xfrm>
            <a:off x="6473952" y="4023360"/>
            <a:ext cx="4572000" cy="365760"/>
          </a:xfrm>
          <a:prstGeom prst="rect">
            <a:avLst/>
          </a:prstGeom>
          <a:noFill/>
          <a:ln/>
        </p:spPr>
        <p:txBody>
          <a:bodyPr wrap="square" lIns="0" tIns="0" rIns="0" bIns="0" rtlCol="0" anchor="ctr"/>
          <a:lstStyle/>
          <a:p>
            <a:pPr marL="0" indent="0">
              <a:buNone/>
            </a:pPr>
            <a:r>
              <a:rPr lang="en-US" sz="1800" b="1" dirty="0">
                <a:solidFill>
                  <a:srgbClr val="0E7C8B"/>
                </a:solidFill>
                <a:latin typeface="Cambria" pitchFamily="34" charset="0"/>
                <a:ea typeface="Cambria" pitchFamily="34" charset="-122"/>
                <a:cs typeface="Cambria" pitchFamily="34" charset="-120"/>
              </a:rPr>
              <a:t>GitLab</a:t>
            </a:r>
            <a:endParaRPr lang="en-US" sz="1800" dirty="0"/>
          </a:p>
        </p:txBody>
      </p:sp>
      <p:sp>
        <p:nvSpPr>
          <p:cNvPr id="22" name="Text 20"/>
          <p:cNvSpPr/>
          <p:nvPr/>
        </p:nvSpPr>
        <p:spPr>
          <a:xfrm>
            <a:off x="6519672" y="4434840"/>
            <a:ext cx="4937760" cy="1280160"/>
          </a:xfrm>
          <a:prstGeom prst="rect">
            <a:avLst/>
          </a:prstGeom>
          <a:noFill/>
          <a:ln/>
        </p:spPr>
        <p:txBody>
          <a:bodyPr wrap="square" lIns="0" tIns="0" rIns="0" bIns="0" rtlCol="0" anchor="ctr"/>
          <a:lstStyle/>
          <a:p>
            <a:pPr marL="342900" indent="-342900">
              <a:spcAft>
                <a:spcPts val="500"/>
              </a:spcAft>
              <a:buSzPct val="100000"/>
              <a:buChar char="•"/>
            </a:pPr>
            <a:r>
              <a:rPr lang="en-US" sz="1350" dirty="0">
                <a:solidFill>
                  <a:srgbClr val="16273A"/>
                </a:solidFill>
                <a:latin typeface="Calibri" pitchFamily="34" charset="0"/>
                <a:ea typeface="Calibri" pitchFamily="34" charset="-122"/>
                <a:cs typeface="Calibri" pitchFamily="34" charset="-120"/>
              </a:rPr>
              <a:t>CI/CD tích hợp sẵn (built-in)</a:t>
            </a:r>
            <a:endParaRPr lang="en-US" sz="1350" dirty="0"/>
          </a:p>
          <a:p>
            <a:pPr marL="342900" indent="-342900">
              <a:spcAft>
                <a:spcPts val="500"/>
              </a:spcAft>
              <a:buSzPct val="100000"/>
              <a:buChar char="•"/>
            </a:pPr>
            <a:r>
              <a:rPr lang="en-US" sz="1350" dirty="0">
                <a:solidFill>
                  <a:srgbClr val="16273A"/>
                </a:solidFill>
                <a:latin typeface="Calibri" pitchFamily="34" charset="0"/>
                <a:ea typeface="Calibri" pitchFamily="34" charset="-122"/>
                <a:cs typeface="Calibri" pitchFamily="34" charset="-120"/>
              </a:rPr>
              <a:t>Self-host miễn phí (CE) — hợp on-premise</a:t>
            </a:r>
            <a:endParaRPr lang="en-US" sz="1350" dirty="0"/>
          </a:p>
          <a:p>
            <a:pPr marL="342900" indent="-342900">
              <a:spcAft>
                <a:spcPts val="500"/>
              </a:spcAft>
              <a:buSzPct val="100000"/>
              <a:buChar char="•"/>
            </a:pPr>
            <a:r>
              <a:rPr lang="en-US" sz="1350" dirty="0">
                <a:solidFill>
                  <a:srgbClr val="16273A"/>
                </a:solidFill>
                <a:latin typeface="Calibri" pitchFamily="34" charset="0"/>
                <a:ea typeface="Calibri" pitchFamily="34" charset="-122"/>
                <a:cs typeface="Calibri" pitchFamily="34" charset="-120"/>
              </a:rPr>
              <a:t>Nền tảng DevOps all-in-one</a:t>
            </a:r>
            <a:endParaRPr lang="en-US" sz="1350" dirty="0"/>
          </a:p>
        </p:txBody>
      </p:sp>
      <p:sp>
        <p:nvSpPr>
          <p:cNvPr id="23" name="Text 21"/>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1 · Version Control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Shape 2"/>
          <p:cNvSpPr/>
          <p:nvPr/>
        </p:nvSpPr>
        <p:spPr>
          <a:xfrm>
            <a:off x="1627632" y="502920"/>
            <a:ext cx="2331720" cy="347472"/>
          </a:xfrm>
          <a:prstGeom prst="roundRect">
            <a:avLst>
              <a:gd name="adj" fmla="val 50000"/>
            </a:avLst>
          </a:prstGeom>
          <a:solidFill>
            <a:srgbClr val="0B2138"/>
          </a:solidFill>
          <a:ln/>
        </p:spPr>
        <p:txBody>
          <a:bodyPr/>
          <a:lstStyle/>
          <a:p>
            <a:endParaRPr lang="en-US"/>
          </a:p>
        </p:txBody>
      </p:sp>
      <p:sp>
        <p:nvSpPr>
          <p:cNvPr id="5" name="Text 3"/>
          <p:cNvSpPr/>
          <p:nvPr/>
        </p:nvSpPr>
        <p:spPr>
          <a:xfrm>
            <a:off x="1627632" y="502920"/>
            <a:ext cx="233172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CÁCH LÀM · LAB</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Lệnh Git, cài GitLab &amp; Lab</a:t>
            </a:r>
            <a:endParaRPr lang="en-US" sz="2700" dirty="0"/>
          </a:p>
        </p:txBody>
      </p:sp>
      <p:sp>
        <p:nvSpPr>
          <p:cNvPr id="7" name="Shape 5"/>
          <p:cNvSpPr/>
          <p:nvPr/>
        </p:nvSpPr>
        <p:spPr>
          <a:xfrm>
            <a:off x="548640" y="1691640"/>
            <a:ext cx="5760720" cy="2880360"/>
          </a:xfrm>
          <a:prstGeom prst="roundRect">
            <a:avLst>
              <a:gd name="adj" fmla="val 2222"/>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8" name="Text 6"/>
          <p:cNvSpPr/>
          <p:nvPr/>
        </p:nvSpPr>
        <p:spPr>
          <a:xfrm>
            <a:off x="804672" y="1819656"/>
            <a:ext cx="5303520"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Các lệnh Git cốt lõi</a:t>
            </a:r>
            <a:endParaRPr lang="en-US" sz="1300" dirty="0"/>
          </a:p>
        </p:txBody>
      </p:sp>
      <p:sp>
        <p:nvSpPr>
          <p:cNvPr id="9" name="Text 7"/>
          <p:cNvSpPr/>
          <p:nvPr/>
        </p:nvSpPr>
        <p:spPr>
          <a:xfrm>
            <a:off x="804672" y="2203704"/>
            <a:ext cx="5248656" cy="2221992"/>
          </a:xfrm>
          <a:prstGeom prst="rect">
            <a:avLst/>
          </a:prstGeom>
          <a:noFill/>
          <a:ln/>
        </p:spPr>
        <p:txBody>
          <a:bodyPr wrap="square" lIns="0" tIns="0" rIns="0" bIns="0" rtlCol="0" anchor="t"/>
          <a:lstStyle/>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git clone &lt;url&gt;</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git add &lt;file&gt;        # -&gt; staging</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git commit -m "vì sao..."</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git push / git pull</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git switch -c feature/x</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git merge feature/x</a:t>
            </a:r>
            <a:endParaRPr lang="en-US" sz="1250" dirty="0"/>
          </a:p>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git log --oneline</a:t>
            </a:r>
            <a:endParaRPr lang="en-US" sz="1250" dirty="0"/>
          </a:p>
        </p:txBody>
      </p:sp>
      <p:sp>
        <p:nvSpPr>
          <p:cNvPr id="10" name="Shape 8"/>
          <p:cNvSpPr/>
          <p:nvPr/>
        </p:nvSpPr>
        <p:spPr>
          <a:xfrm>
            <a:off x="548640" y="4663440"/>
            <a:ext cx="5760720" cy="1371600"/>
          </a:xfrm>
          <a:prstGeom prst="roundRect">
            <a:avLst>
              <a:gd name="adj" fmla="val 4667"/>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1" name="Text 9"/>
          <p:cNvSpPr/>
          <p:nvPr/>
        </p:nvSpPr>
        <p:spPr>
          <a:xfrm>
            <a:off x="804672" y="4791456"/>
            <a:ext cx="5303520"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Cài GitLab CE (Ubuntu)</a:t>
            </a:r>
            <a:endParaRPr lang="en-US" sz="1300" dirty="0"/>
          </a:p>
        </p:txBody>
      </p:sp>
      <p:sp>
        <p:nvSpPr>
          <p:cNvPr id="12" name="Text 10"/>
          <p:cNvSpPr/>
          <p:nvPr/>
        </p:nvSpPr>
        <p:spPr>
          <a:xfrm>
            <a:off x="804672" y="5175504"/>
            <a:ext cx="5248656" cy="713232"/>
          </a:xfrm>
          <a:prstGeom prst="rect">
            <a:avLst/>
          </a:prstGeom>
          <a:noFill/>
          <a:ln/>
        </p:spPr>
        <p:txBody>
          <a:bodyPr wrap="square" lIns="0" tIns="0" rIns="0" bIns="0" rtlCol="0" anchor="t"/>
          <a:lstStyle/>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curl .../script.deb.sh | sudo bash</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sudo EXTERNAL_URL="http://gitlab.lan" \</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apt install gitlab-ce</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sudo gitlab-ctl reconfigure</a:t>
            </a:r>
            <a:endParaRPr lang="en-US" sz="1250" dirty="0"/>
          </a:p>
        </p:txBody>
      </p:sp>
      <p:sp>
        <p:nvSpPr>
          <p:cNvPr id="13" name="Text 11"/>
          <p:cNvSpPr/>
          <p:nvPr/>
        </p:nvSpPr>
        <p:spPr>
          <a:xfrm>
            <a:off x="6537960" y="1691640"/>
            <a:ext cx="4937760" cy="411480"/>
          </a:xfrm>
          <a:prstGeom prst="rect">
            <a:avLst/>
          </a:prstGeom>
          <a:noFill/>
          <a:ln/>
        </p:spPr>
        <p:txBody>
          <a:bodyPr wrap="square" lIns="0" tIns="0" rIns="0" bIns="0" rtlCol="0" anchor="ctr"/>
          <a:lstStyle/>
          <a:p>
            <a:pPr marL="0" indent="0">
              <a:buNone/>
            </a:pPr>
            <a:r>
              <a:rPr lang="en-US" sz="1900" b="1" dirty="0">
                <a:solidFill>
                  <a:srgbClr val="0E7C8B"/>
                </a:solidFill>
                <a:latin typeface="Cambria" pitchFamily="34" charset="0"/>
                <a:ea typeface="Cambria" pitchFamily="34" charset="-122"/>
                <a:cs typeface="Cambria" pitchFamily="34" charset="-120"/>
              </a:rPr>
              <a:t>🧪  Lab: Quản lý mã nguồn</a:t>
            </a:r>
            <a:endParaRPr lang="en-US" sz="1900" dirty="0"/>
          </a:p>
        </p:txBody>
      </p:sp>
      <p:sp>
        <p:nvSpPr>
          <p:cNvPr id="14" name="Shape 12"/>
          <p:cNvSpPr/>
          <p:nvPr/>
        </p:nvSpPr>
        <p:spPr>
          <a:xfrm>
            <a:off x="6537960" y="2240280"/>
            <a:ext cx="475488" cy="475488"/>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6537960" y="2240280"/>
            <a:ext cx="475488" cy="4754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6" name="Text 14"/>
          <p:cNvSpPr/>
          <p:nvPr/>
        </p:nvSpPr>
        <p:spPr>
          <a:xfrm>
            <a:off x="7150608" y="2194560"/>
            <a:ext cx="4480560" cy="566928"/>
          </a:xfrm>
          <a:prstGeom prst="rect">
            <a:avLst/>
          </a:prstGeom>
          <a:noFill/>
          <a:ln/>
        </p:spPr>
        <p:txBody>
          <a:bodyPr wrap="square" lIns="0" tIns="0" rIns="0" bIns="0" rtlCol="0" anchor="ctr"/>
          <a:lstStyle/>
          <a:p>
            <a:pPr marL="0" indent="0">
              <a:buNone/>
            </a:pPr>
            <a:r>
              <a:rPr lang="en-US" sz="1450" dirty="0">
                <a:solidFill>
                  <a:srgbClr val="16273A"/>
                </a:solidFill>
                <a:latin typeface="Calibri" pitchFamily="34" charset="0"/>
                <a:ea typeface="Calibri" pitchFamily="34" charset="-122"/>
                <a:cs typeface="Calibri" pitchFamily="34" charset="-120"/>
              </a:rPr>
              <a:t>Tạo repo trên GitLab, clone về máy</a:t>
            </a:r>
            <a:endParaRPr lang="en-US" sz="1450" dirty="0"/>
          </a:p>
        </p:txBody>
      </p:sp>
      <p:sp>
        <p:nvSpPr>
          <p:cNvPr id="17" name="Shape 15"/>
          <p:cNvSpPr/>
          <p:nvPr/>
        </p:nvSpPr>
        <p:spPr>
          <a:xfrm>
            <a:off x="6537960" y="2898648"/>
            <a:ext cx="475488" cy="475488"/>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8" name="Text 16"/>
          <p:cNvSpPr/>
          <p:nvPr/>
        </p:nvSpPr>
        <p:spPr>
          <a:xfrm>
            <a:off x="6537960" y="2898648"/>
            <a:ext cx="475488" cy="4754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9" name="Text 17"/>
          <p:cNvSpPr/>
          <p:nvPr/>
        </p:nvSpPr>
        <p:spPr>
          <a:xfrm>
            <a:off x="7150608" y="2852928"/>
            <a:ext cx="4480560" cy="566928"/>
          </a:xfrm>
          <a:prstGeom prst="rect">
            <a:avLst/>
          </a:prstGeom>
          <a:noFill/>
          <a:ln/>
        </p:spPr>
        <p:txBody>
          <a:bodyPr wrap="square" lIns="0" tIns="0" rIns="0" bIns="0" rtlCol="0" anchor="ctr"/>
          <a:lstStyle/>
          <a:p>
            <a:pPr marL="0" indent="0">
              <a:buNone/>
            </a:pPr>
            <a:r>
              <a:rPr lang="en-US" sz="1450" dirty="0">
                <a:solidFill>
                  <a:srgbClr val="16273A"/>
                </a:solidFill>
                <a:latin typeface="Calibri" pitchFamily="34" charset="0"/>
                <a:ea typeface="Calibri" pitchFamily="34" charset="-122"/>
                <a:cs typeface="Calibri" pitchFamily="34" charset="-120"/>
              </a:rPr>
              <a:t>Nhánh feature/login → commit → push</a:t>
            </a:r>
            <a:endParaRPr lang="en-US" sz="1450" dirty="0"/>
          </a:p>
        </p:txBody>
      </p:sp>
      <p:sp>
        <p:nvSpPr>
          <p:cNvPr id="20" name="Shape 18"/>
          <p:cNvSpPr/>
          <p:nvPr/>
        </p:nvSpPr>
        <p:spPr>
          <a:xfrm>
            <a:off x="6537960" y="3557016"/>
            <a:ext cx="475488" cy="475488"/>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1" name="Text 19"/>
          <p:cNvSpPr/>
          <p:nvPr/>
        </p:nvSpPr>
        <p:spPr>
          <a:xfrm>
            <a:off x="6537960" y="3557016"/>
            <a:ext cx="475488" cy="4754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p:nvPr/>
        </p:nvSpPr>
        <p:spPr>
          <a:xfrm>
            <a:off x="7150608" y="3511296"/>
            <a:ext cx="4480560" cy="566928"/>
          </a:xfrm>
          <a:prstGeom prst="rect">
            <a:avLst/>
          </a:prstGeom>
          <a:noFill/>
          <a:ln/>
        </p:spPr>
        <p:txBody>
          <a:bodyPr wrap="square" lIns="0" tIns="0" rIns="0" bIns="0" rtlCol="0" anchor="ctr"/>
          <a:lstStyle/>
          <a:p>
            <a:pPr marL="0" indent="0">
              <a:buNone/>
            </a:pPr>
            <a:r>
              <a:rPr lang="en-US" sz="1450" dirty="0">
                <a:solidFill>
                  <a:srgbClr val="16273A"/>
                </a:solidFill>
                <a:latin typeface="Calibri" pitchFamily="34" charset="0"/>
                <a:ea typeface="Calibri" pitchFamily="34" charset="-122"/>
                <a:cs typeface="Calibri" pitchFamily="34" charset="-120"/>
              </a:rPr>
              <a:t>Tạo Merge Request → review → merge</a:t>
            </a:r>
            <a:endParaRPr lang="en-US" sz="1450" dirty="0"/>
          </a:p>
        </p:txBody>
      </p:sp>
      <p:sp>
        <p:nvSpPr>
          <p:cNvPr id="23" name="Shape 21"/>
          <p:cNvSpPr/>
          <p:nvPr/>
        </p:nvSpPr>
        <p:spPr>
          <a:xfrm>
            <a:off x="6537960" y="4215384"/>
            <a:ext cx="475488" cy="475488"/>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4" name="Text 22"/>
          <p:cNvSpPr/>
          <p:nvPr/>
        </p:nvSpPr>
        <p:spPr>
          <a:xfrm>
            <a:off x="6537960" y="4215384"/>
            <a:ext cx="475488" cy="47548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7150608" y="4169664"/>
            <a:ext cx="4480560" cy="566928"/>
          </a:xfrm>
          <a:prstGeom prst="rect">
            <a:avLst/>
          </a:prstGeom>
          <a:noFill/>
          <a:ln/>
        </p:spPr>
        <p:txBody>
          <a:bodyPr wrap="square" lIns="0" tIns="0" rIns="0" bIns="0" rtlCol="0" anchor="ctr"/>
          <a:lstStyle/>
          <a:p>
            <a:pPr marL="0" indent="0">
              <a:buNone/>
            </a:pPr>
            <a:r>
              <a:rPr lang="en-US" sz="1450" dirty="0">
                <a:solidFill>
                  <a:srgbClr val="16273A"/>
                </a:solidFill>
                <a:latin typeface="Calibri" pitchFamily="34" charset="0"/>
                <a:ea typeface="Calibri" pitchFamily="34" charset="-122"/>
                <a:cs typeface="Calibri" pitchFamily="34" charset="-120"/>
              </a:rPr>
              <a:t>Cố tình tạo conflict và tự giải quyết</a:t>
            </a:r>
            <a:endParaRPr lang="en-US" sz="1450" dirty="0"/>
          </a:p>
        </p:txBody>
      </p:sp>
      <p:sp>
        <p:nvSpPr>
          <p:cNvPr id="26" name="Shape 24"/>
          <p:cNvSpPr/>
          <p:nvPr/>
        </p:nvSpPr>
        <p:spPr>
          <a:xfrm>
            <a:off x="6537960" y="4892040"/>
            <a:ext cx="5074920" cy="1143000"/>
          </a:xfrm>
          <a:prstGeom prst="roundRect">
            <a:avLst>
              <a:gd name="adj" fmla="val 6400"/>
            </a:avLst>
          </a:prstGeom>
          <a:solidFill>
            <a:srgbClr val="FBF3E4"/>
          </a:solidFill>
          <a:ln w="16510">
            <a:solidFill>
              <a:srgbClr val="C77D1A"/>
            </a:solidFill>
            <a:prstDash val="solid"/>
          </a:ln>
          <a:effectLst>
            <a:outerShdw blurRad="76200" dist="38100" dir="5400000" algn="bl" rotWithShape="0">
              <a:srgbClr val="8DA0B0">
                <a:alpha val="35000"/>
              </a:srgbClr>
            </a:outerShdw>
          </a:effectLst>
        </p:spPr>
        <p:txBody>
          <a:bodyPr/>
          <a:lstStyle/>
          <a:p>
            <a:endParaRPr lang="en-US"/>
          </a:p>
        </p:txBody>
      </p:sp>
      <p:sp>
        <p:nvSpPr>
          <p:cNvPr id="27" name="Text 25"/>
          <p:cNvSpPr/>
          <p:nvPr/>
        </p:nvSpPr>
        <p:spPr>
          <a:xfrm>
            <a:off x="6812280" y="5056632"/>
            <a:ext cx="4526280" cy="813816"/>
          </a:xfrm>
          <a:prstGeom prst="rect">
            <a:avLst/>
          </a:prstGeom>
          <a:noFill/>
          <a:ln/>
        </p:spPr>
        <p:txBody>
          <a:bodyPr wrap="square" lIns="0" tIns="0" rIns="0" bIns="0" rtlCol="0" anchor="ctr"/>
          <a:lstStyle/>
          <a:p>
            <a:pPr marL="0" indent="0">
              <a:lnSpc>
                <a:spcPct val="115000"/>
              </a:lnSpc>
              <a:buNone/>
            </a:pPr>
            <a:r>
              <a:rPr lang="en-US" sz="1400" b="1" dirty="0">
                <a:solidFill>
                  <a:srgbClr val="C77D1A"/>
                </a:solidFill>
                <a:latin typeface="Calibri" pitchFamily="34" charset="0"/>
                <a:ea typeface="Calibri" pitchFamily="34" charset="-122"/>
                <a:cs typeface="Calibri" pitchFamily="34" charset="-120"/>
              </a:rPr>
              <a:t>VÌ SAO?  </a:t>
            </a:r>
            <a:r>
              <a:rPr lang="en-US" sz="1400" dirty="0">
                <a:solidFill>
                  <a:srgbClr val="6E4E14"/>
                </a:solidFill>
                <a:latin typeface="Calibri" pitchFamily="34" charset="0"/>
                <a:ea typeface="Calibri" pitchFamily="34" charset="-122"/>
                <a:cs typeface="Calibri" pitchFamily="34" charset="-120"/>
              </a:rPr>
              <a:t>Commit message tốt giải thích "tại sao", không chỉ "cái gì". 6 tháng sau, lý do mới là thứ cứu bạn.</a:t>
            </a:r>
            <a:endParaRPr lang="en-US" sz="1400" dirty="0"/>
          </a:p>
        </p:txBody>
      </p:sp>
      <p:sp>
        <p:nvSpPr>
          <p:cNvPr id="28" name="Text 26"/>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1 · Version Control</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138"/>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27C6A6"/>
          </a:solidFill>
          <a:ln w="254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0B2138"/>
                </a:solidFill>
                <a:latin typeface="Cambria" pitchFamily="34" charset="0"/>
                <a:ea typeface="Cambria" pitchFamily="34" charset="-122"/>
                <a:cs typeface="Cambria" pitchFamily="34" charset="-120"/>
              </a:rPr>
              <a:t>1</a:t>
            </a:r>
            <a:endParaRPr lang="en-US" sz="2200" dirty="0"/>
          </a:p>
        </p:txBody>
      </p:sp>
      <p:sp>
        <p:nvSpPr>
          <p:cNvPr id="4" name="Shape 2"/>
          <p:cNvSpPr/>
          <p:nvPr/>
        </p:nvSpPr>
        <p:spPr>
          <a:xfrm>
            <a:off x="1627632" y="502920"/>
            <a:ext cx="3063240" cy="347472"/>
          </a:xfrm>
          <a:prstGeom prst="roundRect">
            <a:avLst>
              <a:gd name="adj" fmla="val 50000"/>
            </a:avLst>
          </a:prstGeom>
          <a:solidFill>
            <a:srgbClr val="C77D1A"/>
          </a:solidFill>
          <a:ln/>
        </p:spPr>
        <p:txBody>
          <a:bodyPr/>
          <a:lstStyle/>
          <a:p>
            <a:endParaRPr lang="en-US"/>
          </a:p>
        </p:txBody>
      </p:sp>
      <p:sp>
        <p:nvSpPr>
          <p:cNvPr id="5" name="Text 3"/>
          <p:cNvSpPr/>
          <p:nvPr/>
        </p:nvSpPr>
        <p:spPr>
          <a:xfrm>
            <a:off x="1627632" y="502920"/>
            <a:ext cx="30632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VAI TRÒ TRONG DEVOPS</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VCS: nền móng của mọi thứ</a:t>
            </a:r>
            <a:endParaRPr lang="en-US" sz="2700" dirty="0"/>
          </a:p>
        </p:txBody>
      </p:sp>
      <p:sp>
        <p:nvSpPr>
          <p:cNvPr id="7" name="Text 5"/>
          <p:cNvSpPr/>
          <p:nvPr/>
        </p:nvSpPr>
        <p:spPr>
          <a:xfrm>
            <a:off x="548640" y="1645920"/>
            <a:ext cx="10972800" cy="548640"/>
          </a:xfrm>
          <a:prstGeom prst="rect">
            <a:avLst/>
          </a:prstGeom>
          <a:noFill/>
          <a:ln/>
        </p:spPr>
        <p:txBody>
          <a:bodyPr wrap="square" lIns="0" tIns="0" rIns="0" bIns="0" rtlCol="0" anchor="ctr"/>
          <a:lstStyle/>
          <a:p>
            <a:pPr marL="0" indent="0">
              <a:buNone/>
            </a:pPr>
            <a:r>
              <a:rPr lang="en-US" sz="1600" i="1" dirty="0">
                <a:solidFill>
                  <a:srgbClr val="AFC6D4"/>
                </a:solidFill>
                <a:latin typeface="Calibri" pitchFamily="34" charset="0"/>
                <a:ea typeface="Calibri" pitchFamily="34" charset="-122"/>
                <a:cs typeface="Calibri" pitchFamily="34" charset="-120"/>
              </a:rPr>
              <a:t>Không kiểm soát được code thay đổi thế nào thì không thể tự động hóa build/test/deploy một cách đáng tin.</a:t>
            </a:r>
            <a:endParaRPr lang="en-US" sz="1600" dirty="0"/>
          </a:p>
        </p:txBody>
      </p:sp>
      <p:sp>
        <p:nvSpPr>
          <p:cNvPr id="8" name="Shape 6"/>
          <p:cNvSpPr/>
          <p:nvPr/>
        </p:nvSpPr>
        <p:spPr>
          <a:xfrm>
            <a:off x="548640"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9" name="Shape 7"/>
          <p:cNvSpPr/>
          <p:nvPr/>
        </p:nvSpPr>
        <p:spPr>
          <a:xfrm>
            <a:off x="822960"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822960"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804672" y="3474720"/>
            <a:ext cx="3063240" cy="8229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Giai đoạn "Code"</a:t>
            </a:r>
            <a:endParaRPr lang="en-US" sz="1800" dirty="0"/>
          </a:p>
        </p:txBody>
      </p:sp>
      <p:sp>
        <p:nvSpPr>
          <p:cNvPr id="12" name="Text 10"/>
          <p:cNvSpPr/>
          <p:nvPr/>
        </p:nvSpPr>
        <p:spPr>
          <a:xfrm>
            <a:off x="804672" y="420624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Git là nơi mã nguồn sống — mắt xích đầu của pipeline.</a:t>
            </a:r>
            <a:endParaRPr lang="en-US" sz="1350" dirty="0"/>
          </a:p>
        </p:txBody>
      </p:sp>
      <p:sp>
        <p:nvSpPr>
          <p:cNvPr id="13" name="Shape 11"/>
          <p:cNvSpPr/>
          <p:nvPr/>
        </p:nvSpPr>
        <p:spPr>
          <a:xfrm>
            <a:off x="4306824"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4" name="Shape 12"/>
          <p:cNvSpPr/>
          <p:nvPr/>
        </p:nvSpPr>
        <p:spPr>
          <a:xfrm>
            <a:off x="4581144"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4581144"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4562856" y="3474720"/>
            <a:ext cx="3063240" cy="8229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Kích hoạt CI/CD</a:t>
            </a:r>
            <a:endParaRPr lang="en-US" sz="1800" dirty="0"/>
          </a:p>
        </p:txBody>
      </p:sp>
      <p:sp>
        <p:nvSpPr>
          <p:cNvPr id="17" name="Text 15"/>
          <p:cNvSpPr/>
          <p:nvPr/>
        </p:nvSpPr>
        <p:spPr>
          <a:xfrm>
            <a:off x="4562856" y="420624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Mỗi git push là tín hiệu khởi động toàn bộ pipeline tự động.</a:t>
            </a:r>
            <a:endParaRPr lang="en-US" sz="1350" dirty="0"/>
          </a:p>
        </p:txBody>
      </p:sp>
      <p:sp>
        <p:nvSpPr>
          <p:cNvPr id="18" name="Shape 16"/>
          <p:cNvSpPr/>
          <p:nvPr/>
        </p:nvSpPr>
        <p:spPr>
          <a:xfrm>
            <a:off x="8065008"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9" name="Shape 17"/>
          <p:cNvSpPr/>
          <p:nvPr/>
        </p:nvSpPr>
        <p:spPr>
          <a:xfrm>
            <a:off x="8339328"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0" name="Text 18"/>
          <p:cNvSpPr/>
          <p:nvPr/>
        </p:nvSpPr>
        <p:spPr>
          <a:xfrm>
            <a:off x="8339328"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8321040" y="3474720"/>
            <a:ext cx="3063240" cy="8229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Nguồn chân lý (GitOps)</a:t>
            </a:r>
            <a:endParaRPr lang="en-US" sz="1800" dirty="0"/>
          </a:p>
        </p:txBody>
      </p:sp>
      <p:sp>
        <p:nvSpPr>
          <p:cNvPr id="22" name="Text 20"/>
          <p:cNvSpPr/>
          <p:nvPr/>
        </p:nvSpPr>
        <p:spPr>
          <a:xfrm>
            <a:off x="8321040" y="420624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Trạng thái hệ thống được khai báo trong Git, không gõ tay trên server.</a:t>
            </a:r>
            <a:endParaRPr lang="en-US" sz="1350" dirty="0"/>
          </a:p>
        </p:txBody>
      </p:sp>
      <p:sp>
        <p:nvSpPr>
          <p:cNvPr id="23" name="Text 21"/>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6E8598"/>
                </a:solidFill>
                <a:latin typeface="Calibri" pitchFamily="34" charset="0"/>
                <a:ea typeface="Calibri" pitchFamily="34" charset="-122"/>
                <a:cs typeface="Calibri" pitchFamily="34" charset="-120"/>
              </a:rPr>
              <a:t>Session 1 · Version Control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Shape 2"/>
          <p:cNvSpPr/>
          <p:nvPr/>
        </p:nvSpPr>
        <p:spPr>
          <a:xfrm>
            <a:off x="1627632" y="502920"/>
            <a:ext cx="1234440" cy="347472"/>
          </a:xfrm>
          <a:prstGeom prst="roundRect">
            <a:avLst>
              <a:gd name="adj" fmla="val 50000"/>
            </a:avLst>
          </a:prstGeom>
          <a:solidFill>
            <a:srgbClr val="0E7C8B"/>
          </a:solidFill>
          <a:ln/>
        </p:spPr>
        <p:txBody>
          <a:bodyPr/>
          <a:lstStyle/>
          <a:p>
            <a:endParaRPr lang="en-US"/>
          </a:p>
        </p:txBody>
      </p:sp>
      <p:sp>
        <p:nvSpPr>
          <p:cNvPr id="5" name="Text 3"/>
          <p:cNvSpPr/>
          <p:nvPr/>
        </p:nvSpPr>
        <p:spPr>
          <a:xfrm>
            <a:off x="1627632" y="502920"/>
            <a:ext cx="12344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LÀ GÌ</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CI/CD &amp; pipeline là gì?</a:t>
            </a:r>
            <a:endParaRPr lang="en-US" sz="2700" dirty="0"/>
          </a:p>
        </p:txBody>
      </p:sp>
      <p:sp>
        <p:nvSpPr>
          <p:cNvPr id="7" name="Text 5"/>
          <p:cNvSpPr/>
          <p:nvPr/>
        </p:nvSpPr>
        <p:spPr>
          <a:xfrm>
            <a:off x="548640" y="1600200"/>
            <a:ext cx="11064240" cy="548640"/>
          </a:xfrm>
          <a:prstGeom prst="rect">
            <a:avLst/>
          </a:prstGeom>
          <a:noFill/>
          <a:ln/>
        </p:spPr>
        <p:txBody>
          <a:bodyPr wrap="square" lIns="0" tIns="0" rIns="0" bIns="0" rtlCol="0" anchor="ctr"/>
          <a:lstStyle/>
          <a:p>
            <a:pPr marL="0" indent="0">
              <a:buNone/>
            </a:pPr>
            <a:r>
              <a:rPr lang="en-US" sz="1550" i="1" dirty="0">
                <a:solidFill>
                  <a:srgbClr val="5C7186"/>
                </a:solidFill>
                <a:latin typeface="Calibri" pitchFamily="34" charset="0"/>
                <a:ea typeface="Calibri" pitchFamily="34" charset="-122"/>
                <a:cs typeface="Calibri" pitchFamily="34" charset="-120"/>
              </a:rPr>
              <a:t>CI = tự động build + test mỗi thay đổi. CD = luôn sẵn sàng (Delivery) hoặc tự động (Deployment) phát hành. Pipeline là chuỗi các bước đó.</a:t>
            </a:r>
            <a:endParaRPr lang="en-US" sz="1550" dirty="0"/>
          </a:p>
        </p:txBody>
      </p:sp>
      <p:sp>
        <p:nvSpPr>
          <p:cNvPr id="8" name="Shape 6"/>
          <p:cNvSpPr/>
          <p:nvPr/>
        </p:nvSpPr>
        <p:spPr>
          <a:xfrm>
            <a:off x="548640" y="2331720"/>
            <a:ext cx="5440680" cy="1097280"/>
          </a:xfrm>
          <a:prstGeom prst="roundRect">
            <a:avLst>
              <a:gd name="adj" fmla="val 6667"/>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9" name="Text 7"/>
          <p:cNvSpPr/>
          <p:nvPr/>
        </p:nvSpPr>
        <p:spPr>
          <a:xfrm>
            <a:off x="822960" y="2441448"/>
            <a:ext cx="4846320" cy="411480"/>
          </a:xfrm>
          <a:prstGeom prst="rect">
            <a:avLst/>
          </a:prstGeom>
          <a:noFill/>
          <a:ln/>
        </p:spPr>
        <p:txBody>
          <a:bodyPr wrap="square" lIns="0" tIns="0" rIns="0" bIns="0" rtlCol="0" anchor="ctr"/>
          <a:lstStyle/>
          <a:p>
            <a:pPr marL="0" indent="0">
              <a:buNone/>
            </a:pPr>
            <a:r>
              <a:rPr lang="en-US" sz="1800" b="1" dirty="0">
                <a:solidFill>
                  <a:srgbClr val="0E7C8B"/>
                </a:solidFill>
                <a:latin typeface="Cambria" pitchFamily="34" charset="0"/>
                <a:ea typeface="Cambria" pitchFamily="34" charset="-122"/>
                <a:cs typeface="Cambria" pitchFamily="34" charset="-120"/>
              </a:rPr>
              <a:t>Stage</a:t>
            </a:r>
            <a:endParaRPr lang="en-US" sz="1800" dirty="0"/>
          </a:p>
        </p:txBody>
      </p:sp>
      <p:sp>
        <p:nvSpPr>
          <p:cNvPr id="10" name="Text 8"/>
          <p:cNvSpPr/>
          <p:nvPr/>
        </p:nvSpPr>
        <p:spPr>
          <a:xfrm>
            <a:off x="822960" y="2880360"/>
            <a:ext cx="4937760" cy="457200"/>
          </a:xfrm>
          <a:prstGeom prst="rect">
            <a:avLst/>
          </a:prstGeom>
          <a:noFill/>
          <a:ln/>
        </p:spPr>
        <p:txBody>
          <a:bodyPr wrap="square" lIns="0" tIns="0" rIns="0" bIns="0" rtlCol="0" anchor="ctr"/>
          <a:lstStyle/>
          <a:p>
            <a:pPr marL="0" indent="0">
              <a:buNone/>
            </a:pPr>
            <a:r>
              <a:rPr lang="en-US" sz="1350" dirty="0">
                <a:solidFill>
                  <a:srgbClr val="5C7186"/>
                </a:solidFill>
                <a:latin typeface="Calibri" pitchFamily="34" charset="0"/>
                <a:ea typeface="Calibri" pitchFamily="34" charset="-122"/>
                <a:cs typeface="Calibri" pitchFamily="34" charset="-120"/>
              </a:rPr>
              <a:t>Nhóm job theo giai đoạn (build→test→deploy)</a:t>
            </a:r>
            <a:endParaRPr lang="en-US" sz="1350" dirty="0"/>
          </a:p>
        </p:txBody>
      </p:sp>
      <p:sp>
        <p:nvSpPr>
          <p:cNvPr id="11" name="Shape 9"/>
          <p:cNvSpPr/>
          <p:nvPr/>
        </p:nvSpPr>
        <p:spPr>
          <a:xfrm>
            <a:off x="6181344" y="2331720"/>
            <a:ext cx="5440680" cy="1097280"/>
          </a:xfrm>
          <a:prstGeom prst="roundRect">
            <a:avLst>
              <a:gd name="adj" fmla="val 6667"/>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2" name="Text 10"/>
          <p:cNvSpPr/>
          <p:nvPr/>
        </p:nvSpPr>
        <p:spPr>
          <a:xfrm>
            <a:off x="6455664" y="2441448"/>
            <a:ext cx="4846320" cy="411480"/>
          </a:xfrm>
          <a:prstGeom prst="rect">
            <a:avLst/>
          </a:prstGeom>
          <a:noFill/>
          <a:ln/>
        </p:spPr>
        <p:txBody>
          <a:bodyPr wrap="square" lIns="0" tIns="0" rIns="0" bIns="0" rtlCol="0" anchor="ctr"/>
          <a:lstStyle/>
          <a:p>
            <a:pPr marL="0" indent="0">
              <a:buNone/>
            </a:pPr>
            <a:r>
              <a:rPr lang="en-US" sz="1800" b="1" dirty="0">
                <a:solidFill>
                  <a:srgbClr val="0E7C8B"/>
                </a:solidFill>
                <a:latin typeface="Cambria" pitchFamily="34" charset="0"/>
                <a:ea typeface="Cambria" pitchFamily="34" charset="-122"/>
                <a:cs typeface="Cambria" pitchFamily="34" charset="-120"/>
              </a:rPr>
              <a:t>Job</a:t>
            </a:r>
            <a:endParaRPr lang="en-US" sz="1800" dirty="0"/>
          </a:p>
        </p:txBody>
      </p:sp>
      <p:sp>
        <p:nvSpPr>
          <p:cNvPr id="13" name="Text 11"/>
          <p:cNvSpPr/>
          <p:nvPr/>
        </p:nvSpPr>
        <p:spPr>
          <a:xfrm>
            <a:off x="6455664" y="2880360"/>
            <a:ext cx="4937760" cy="457200"/>
          </a:xfrm>
          <a:prstGeom prst="rect">
            <a:avLst/>
          </a:prstGeom>
          <a:noFill/>
          <a:ln/>
        </p:spPr>
        <p:txBody>
          <a:bodyPr wrap="square" lIns="0" tIns="0" rIns="0" bIns="0" rtlCol="0" anchor="ctr"/>
          <a:lstStyle/>
          <a:p>
            <a:pPr marL="0" indent="0">
              <a:buNone/>
            </a:pPr>
            <a:r>
              <a:rPr lang="en-US" sz="1350" dirty="0">
                <a:solidFill>
                  <a:srgbClr val="5C7186"/>
                </a:solidFill>
                <a:latin typeface="Calibri" pitchFamily="34" charset="0"/>
                <a:ea typeface="Calibri" pitchFamily="34" charset="-122"/>
                <a:cs typeface="Calibri" pitchFamily="34" charset="-120"/>
              </a:rPr>
              <a:t>Một đơn vị việc chạy script</a:t>
            </a:r>
            <a:endParaRPr lang="en-US" sz="1350" dirty="0"/>
          </a:p>
        </p:txBody>
      </p:sp>
      <p:sp>
        <p:nvSpPr>
          <p:cNvPr id="14" name="Shape 12"/>
          <p:cNvSpPr/>
          <p:nvPr/>
        </p:nvSpPr>
        <p:spPr>
          <a:xfrm>
            <a:off x="548640" y="3566160"/>
            <a:ext cx="5440680" cy="1097280"/>
          </a:xfrm>
          <a:prstGeom prst="roundRect">
            <a:avLst>
              <a:gd name="adj" fmla="val 6667"/>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822960" y="3675888"/>
            <a:ext cx="4846320" cy="411480"/>
          </a:xfrm>
          <a:prstGeom prst="rect">
            <a:avLst/>
          </a:prstGeom>
          <a:noFill/>
          <a:ln/>
        </p:spPr>
        <p:txBody>
          <a:bodyPr wrap="square" lIns="0" tIns="0" rIns="0" bIns="0" rtlCol="0" anchor="ctr"/>
          <a:lstStyle/>
          <a:p>
            <a:pPr marL="0" indent="0">
              <a:buNone/>
            </a:pPr>
            <a:r>
              <a:rPr lang="en-US" sz="1800" b="1" dirty="0">
                <a:solidFill>
                  <a:srgbClr val="0E7C8B"/>
                </a:solidFill>
                <a:latin typeface="Cambria" pitchFamily="34" charset="0"/>
                <a:ea typeface="Cambria" pitchFamily="34" charset="-122"/>
                <a:cs typeface="Cambria" pitchFamily="34" charset="-120"/>
              </a:rPr>
              <a:t>Runner</a:t>
            </a:r>
            <a:endParaRPr lang="en-US" sz="1800" dirty="0"/>
          </a:p>
        </p:txBody>
      </p:sp>
      <p:sp>
        <p:nvSpPr>
          <p:cNvPr id="16" name="Text 14"/>
          <p:cNvSpPr/>
          <p:nvPr/>
        </p:nvSpPr>
        <p:spPr>
          <a:xfrm>
            <a:off x="822960" y="4114800"/>
            <a:ext cx="4937760" cy="457200"/>
          </a:xfrm>
          <a:prstGeom prst="rect">
            <a:avLst/>
          </a:prstGeom>
          <a:noFill/>
          <a:ln/>
        </p:spPr>
        <p:txBody>
          <a:bodyPr wrap="square" lIns="0" tIns="0" rIns="0" bIns="0" rtlCol="0" anchor="ctr"/>
          <a:lstStyle/>
          <a:p>
            <a:pPr marL="0" indent="0">
              <a:buNone/>
            </a:pPr>
            <a:r>
              <a:rPr lang="en-US" sz="1350" dirty="0">
                <a:solidFill>
                  <a:srgbClr val="5C7186"/>
                </a:solidFill>
                <a:latin typeface="Calibri" pitchFamily="34" charset="0"/>
                <a:ea typeface="Calibri" pitchFamily="34" charset="-122"/>
                <a:cs typeface="Calibri" pitchFamily="34" charset="-120"/>
              </a:rPr>
              <a:t>Máy/agent thực thi job (shell/docker/k8s)</a:t>
            </a:r>
            <a:endParaRPr lang="en-US" sz="1350" dirty="0"/>
          </a:p>
        </p:txBody>
      </p:sp>
      <p:sp>
        <p:nvSpPr>
          <p:cNvPr id="17" name="Shape 15"/>
          <p:cNvSpPr/>
          <p:nvPr/>
        </p:nvSpPr>
        <p:spPr>
          <a:xfrm>
            <a:off x="6181344" y="3566160"/>
            <a:ext cx="5440680" cy="1097280"/>
          </a:xfrm>
          <a:prstGeom prst="roundRect">
            <a:avLst>
              <a:gd name="adj" fmla="val 6667"/>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8" name="Text 16"/>
          <p:cNvSpPr/>
          <p:nvPr/>
        </p:nvSpPr>
        <p:spPr>
          <a:xfrm>
            <a:off x="6455664" y="3675888"/>
            <a:ext cx="4846320" cy="411480"/>
          </a:xfrm>
          <a:prstGeom prst="rect">
            <a:avLst/>
          </a:prstGeom>
          <a:noFill/>
          <a:ln/>
        </p:spPr>
        <p:txBody>
          <a:bodyPr wrap="square" lIns="0" tIns="0" rIns="0" bIns="0" rtlCol="0" anchor="ctr"/>
          <a:lstStyle/>
          <a:p>
            <a:pPr marL="0" indent="0">
              <a:buNone/>
            </a:pPr>
            <a:r>
              <a:rPr lang="en-US" sz="1800" b="1" dirty="0">
                <a:solidFill>
                  <a:srgbClr val="0E7C8B"/>
                </a:solidFill>
                <a:latin typeface="Cambria" pitchFamily="34" charset="0"/>
                <a:ea typeface="Cambria" pitchFamily="34" charset="-122"/>
                <a:cs typeface="Cambria" pitchFamily="34" charset="-120"/>
              </a:rPr>
              <a:t>Artifact</a:t>
            </a:r>
            <a:endParaRPr lang="en-US" sz="1800" dirty="0"/>
          </a:p>
        </p:txBody>
      </p:sp>
      <p:sp>
        <p:nvSpPr>
          <p:cNvPr id="19" name="Text 17"/>
          <p:cNvSpPr/>
          <p:nvPr/>
        </p:nvSpPr>
        <p:spPr>
          <a:xfrm>
            <a:off x="6455664" y="4114800"/>
            <a:ext cx="4937760" cy="457200"/>
          </a:xfrm>
          <a:prstGeom prst="rect">
            <a:avLst/>
          </a:prstGeom>
          <a:noFill/>
          <a:ln/>
        </p:spPr>
        <p:txBody>
          <a:bodyPr wrap="square" lIns="0" tIns="0" rIns="0" bIns="0" rtlCol="0" anchor="ctr"/>
          <a:lstStyle/>
          <a:p>
            <a:pPr marL="0" indent="0">
              <a:buNone/>
            </a:pPr>
            <a:r>
              <a:rPr lang="en-US" sz="1350" dirty="0">
                <a:solidFill>
                  <a:srgbClr val="5C7186"/>
                </a:solidFill>
                <a:latin typeface="Calibri" pitchFamily="34" charset="0"/>
                <a:ea typeface="Calibri" pitchFamily="34" charset="-122"/>
                <a:cs typeface="Calibri" pitchFamily="34" charset="-120"/>
              </a:rPr>
              <a:t>Kết quả job để lại &amp; truyền đi</a:t>
            </a:r>
            <a:endParaRPr lang="en-US" sz="1350" dirty="0"/>
          </a:p>
        </p:txBody>
      </p:sp>
      <p:sp>
        <p:nvSpPr>
          <p:cNvPr id="20" name="Shape 18"/>
          <p:cNvSpPr/>
          <p:nvPr/>
        </p:nvSpPr>
        <p:spPr>
          <a:xfrm>
            <a:off x="548640" y="4892040"/>
            <a:ext cx="11091672" cy="1143000"/>
          </a:xfrm>
          <a:prstGeom prst="roundRect">
            <a:avLst>
              <a:gd name="adj" fmla="val 6400"/>
            </a:avLst>
          </a:prstGeom>
          <a:solidFill>
            <a:srgbClr val="FBF3E4"/>
          </a:solidFill>
          <a:ln w="16510">
            <a:solidFill>
              <a:srgbClr val="C77D1A"/>
            </a:solidFill>
            <a:prstDash val="solid"/>
          </a:ln>
          <a:effectLst>
            <a:outerShdw blurRad="76200" dist="38100" dir="5400000" algn="bl" rotWithShape="0">
              <a:srgbClr val="8DA0B0">
                <a:alpha val="35000"/>
              </a:srgbClr>
            </a:outerShdw>
          </a:effectLst>
        </p:spPr>
        <p:txBody>
          <a:bodyPr/>
          <a:lstStyle/>
          <a:p>
            <a:endParaRPr lang="en-US"/>
          </a:p>
        </p:txBody>
      </p:sp>
      <p:sp>
        <p:nvSpPr>
          <p:cNvPr id="21" name="Text 19"/>
          <p:cNvSpPr/>
          <p:nvPr/>
        </p:nvSpPr>
        <p:spPr>
          <a:xfrm>
            <a:off x="822960" y="5056632"/>
            <a:ext cx="10543032" cy="813816"/>
          </a:xfrm>
          <a:prstGeom prst="rect">
            <a:avLst/>
          </a:prstGeom>
          <a:noFill/>
          <a:ln/>
        </p:spPr>
        <p:txBody>
          <a:bodyPr wrap="square" lIns="0" tIns="0" rIns="0" bIns="0" rtlCol="0" anchor="ctr"/>
          <a:lstStyle/>
          <a:p>
            <a:pPr marL="0" indent="0">
              <a:lnSpc>
                <a:spcPct val="115000"/>
              </a:lnSpc>
              <a:buNone/>
            </a:pPr>
            <a:r>
              <a:rPr lang="en-US" sz="1400" b="1" dirty="0">
                <a:solidFill>
                  <a:srgbClr val="C77D1A"/>
                </a:solidFill>
                <a:latin typeface="Calibri" pitchFamily="34" charset="0"/>
                <a:ea typeface="Calibri" pitchFamily="34" charset="-122"/>
                <a:cs typeface="Calibri" pitchFamily="34" charset="-120"/>
              </a:rPr>
              <a:t>VÌ SAO?  </a:t>
            </a:r>
            <a:r>
              <a:rPr lang="en-US" sz="1400" dirty="0">
                <a:solidFill>
                  <a:srgbClr val="6E4E14"/>
                </a:solidFill>
                <a:latin typeface="Calibri" pitchFamily="34" charset="0"/>
                <a:ea typeface="Calibri" pitchFamily="34" charset="-122"/>
                <a:cs typeface="Calibri" pitchFamily="34" charset="-120"/>
              </a:rPr>
              <a:t>Tách Runner khỏi định nghĩa pipeline: "việc cần làm" không gắn cứng với "máy nào làm". Đổi hạ tầng chỉ cần đổi runner, không đụng file pipeline.</a:t>
            </a:r>
            <a:endParaRPr lang="en-US" sz="1400" dirty="0"/>
          </a:p>
        </p:txBody>
      </p:sp>
      <p:sp>
        <p:nvSpPr>
          <p:cNvPr id="22" name="Text 20"/>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2 · CI/CD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Shape 2"/>
          <p:cNvSpPr/>
          <p:nvPr/>
        </p:nvSpPr>
        <p:spPr>
          <a:xfrm>
            <a:off x="1627632" y="502920"/>
            <a:ext cx="2331720" cy="347472"/>
          </a:xfrm>
          <a:prstGeom prst="roundRect">
            <a:avLst>
              <a:gd name="adj" fmla="val 50000"/>
            </a:avLst>
          </a:prstGeom>
          <a:solidFill>
            <a:srgbClr val="0B2138"/>
          </a:solidFill>
          <a:ln/>
        </p:spPr>
        <p:txBody>
          <a:bodyPr/>
          <a:lstStyle/>
          <a:p>
            <a:endParaRPr lang="en-US"/>
          </a:p>
        </p:txBody>
      </p:sp>
      <p:sp>
        <p:nvSpPr>
          <p:cNvPr id="5" name="Text 3"/>
          <p:cNvSpPr/>
          <p:nvPr/>
        </p:nvSpPr>
        <p:spPr>
          <a:xfrm>
            <a:off x="1627632" y="502920"/>
            <a:ext cx="233172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CÁCH LÀM · LAB</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Viết pipeline &amp; Lab runner</a:t>
            </a:r>
            <a:endParaRPr lang="en-US" sz="2700" dirty="0"/>
          </a:p>
        </p:txBody>
      </p:sp>
      <p:sp>
        <p:nvSpPr>
          <p:cNvPr id="7" name="Shape 5"/>
          <p:cNvSpPr/>
          <p:nvPr/>
        </p:nvSpPr>
        <p:spPr>
          <a:xfrm>
            <a:off x="548640" y="1691640"/>
            <a:ext cx="5669280" cy="2788920"/>
          </a:xfrm>
          <a:prstGeom prst="roundRect">
            <a:avLst>
              <a:gd name="adj" fmla="val 2295"/>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8" name="Text 6"/>
          <p:cNvSpPr/>
          <p:nvPr/>
        </p:nvSpPr>
        <p:spPr>
          <a:xfrm>
            <a:off x="804672" y="1819656"/>
            <a:ext cx="5212080"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.gitlab-ci.yml</a:t>
            </a:r>
            <a:endParaRPr lang="en-US" sz="1300" dirty="0"/>
          </a:p>
        </p:txBody>
      </p:sp>
      <p:sp>
        <p:nvSpPr>
          <p:cNvPr id="9" name="Text 7"/>
          <p:cNvSpPr/>
          <p:nvPr/>
        </p:nvSpPr>
        <p:spPr>
          <a:xfrm>
            <a:off x="804672" y="2203704"/>
            <a:ext cx="5157216" cy="2130552"/>
          </a:xfrm>
          <a:prstGeom prst="rect">
            <a:avLst/>
          </a:prstGeom>
          <a:noFill/>
          <a:ln/>
        </p:spPr>
        <p:txBody>
          <a:bodyPr wrap="square" lIns="0" tIns="0" rIns="0" bIns="0" rtlCol="0" anchor="t"/>
          <a:lstStyle/>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stages: [build, test, deploy]</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build:</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image: node:20</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script: [npm ci, npm run build]</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artifacts: { paths: [dist/] }</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deploy:</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rules:</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 if: $CI_COMMIT_BRANCH=="main"</a:t>
            </a:r>
            <a:endParaRPr lang="en-US" sz="1250" dirty="0"/>
          </a:p>
        </p:txBody>
      </p:sp>
      <p:sp>
        <p:nvSpPr>
          <p:cNvPr id="10" name="Shape 8"/>
          <p:cNvSpPr/>
          <p:nvPr/>
        </p:nvSpPr>
        <p:spPr>
          <a:xfrm>
            <a:off x="548640" y="4572000"/>
            <a:ext cx="5669280" cy="1463040"/>
          </a:xfrm>
          <a:prstGeom prst="roundRect">
            <a:avLst>
              <a:gd name="adj" fmla="val 4375"/>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1" name="Text 9"/>
          <p:cNvSpPr/>
          <p:nvPr/>
        </p:nvSpPr>
        <p:spPr>
          <a:xfrm>
            <a:off x="804672" y="4700016"/>
            <a:ext cx="5212080"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.github/workflows/build.yml</a:t>
            </a:r>
            <a:endParaRPr lang="en-US" sz="1300" dirty="0"/>
          </a:p>
        </p:txBody>
      </p:sp>
      <p:sp>
        <p:nvSpPr>
          <p:cNvPr id="12" name="Text 10"/>
          <p:cNvSpPr/>
          <p:nvPr/>
        </p:nvSpPr>
        <p:spPr>
          <a:xfrm>
            <a:off x="804672" y="5084064"/>
            <a:ext cx="5157216" cy="804672"/>
          </a:xfrm>
          <a:prstGeom prst="rect">
            <a:avLst/>
          </a:prstGeom>
          <a:noFill/>
          <a:ln/>
        </p:spPr>
        <p:txBody>
          <a:bodyPr wrap="square" lIns="0" tIns="0" rIns="0" bIns="0" rtlCol="0" anchor="t"/>
          <a:lstStyle/>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on: [push]</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jobs: { build: { runs-on: ubuntu-latest,</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steps: [</a:t>
            </a:r>
            <a:endParaRPr lang="en-US" sz="1250" dirty="0"/>
          </a:p>
          <a:p>
            <a:pPr marL="0" indent="0">
              <a:lnSpc>
                <a:spcPct val="103000"/>
              </a:lnSpc>
              <a:buNone/>
            </a:pPr>
            <a:r>
              <a:rPr lang="en-US" sz="1250" dirty="0">
                <a:solidFill>
                  <a:srgbClr val="9FE0FF"/>
                </a:solidFill>
                <a:latin typeface="Consolas" pitchFamily="34" charset="0"/>
                <a:ea typeface="Consolas" pitchFamily="34" charset="-122"/>
                <a:cs typeface="Consolas" pitchFamily="34" charset="-120"/>
              </a:rPr>
              <a:t>    uses: actions/checkout@v4,</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run: docker build -t app:$SHA . ] } }</a:t>
            </a:r>
            <a:endParaRPr lang="en-US" sz="1250" dirty="0"/>
          </a:p>
        </p:txBody>
      </p:sp>
      <p:sp>
        <p:nvSpPr>
          <p:cNvPr id="13" name="Text 11"/>
          <p:cNvSpPr/>
          <p:nvPr/>
        </p:nvSpPr>
        <p:spPr>
          <a:xfrm>
            <a:off x="6492240" y="1691640"/>
            <a:ext cx="4937760" cy="411480"/>
          </a:xfrm>
          <a:prstGeom prst="rect">
            <a:avLst/>
          </a:prstGeom>
          <a:noFill/>
          <a:ln/>
        </p:spPr>
        <p:txBody>
          <a:bodyPr wrap="square" lIns="0" tIns="0" rIns="0" bIns="0" rtlCol="0" anchor="ctr"/>
          <a:lstStyle/>
          <a:p>
            <a:pPr marL="0" indent="0">
              <a:buNone/>
            </a:pPr>
            <a:r>
              <a:rPr lang="en-US" sz="1900" b="1" dirty="0">
                <a:solidFill>
                  <a:srgbClr val="0E7C8B"/>
                </a:solidFill>
                <a:latin typeface="Cambria" pitchFamily="34" charset="0"/>
                <a:ea typeface="Cambria" pitchFamily="34" charset="-122"/>
                <a:cs typeface="Cambria" pitchFamily="34" charset="-120"/>
              </a:rPr>
              <a:t>🧪  Lab: dựng CI/CD</a:t>
            </a:r>
            <a:endParaRPr lang="en-US" sz="1900" dirty="0"/>
          </a:p>
        </p:txBody>
      </p:sp>
      <p:sp>
        <p:nvSpPr>
          <p:cNvPr id="14" name="Shape 12"/>
          <p:cNvSpPr/>
          <p:nvPr/>
        </p:nvSpPr>
        <p:spPr>
          <a:xfrm>
            <a:off x="6492240" y="2194560"/>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649224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6" name="Text 14"/>
          <p:cNvSpPr/>
          <p:nvPr/>
        </p:nvSpPr>
        <p:spPr>
          <a:xfrm>
            <a:off x="7077456" y="2148840"/>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Register GitLab Runner (executor docker)</a:t>
            </a:r>
            <a:endParaRPr lang="en-US" sz="1400" dirty="0"/>
          </a:p>
        </p:txBody>
      </p:sp>
      <p:sp>
        <p:nvSpPr>
          <p:cNvPr id="17" name="Shape 15"/>
          <p:cNvSpPr/>
          <p:nvPr/>
        </p:nvSpPr>
        <p:spPr>
          <a:xfrm>
            <a:off x="6492240" y="2834640"/>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8" name="Text 16"/>
          <p:cNvSpPr/>
          <p:nvPr/>
        </p:nvSpPr>
        <p:spPr>
          <a:xfrm>
            <a:off x="6492240" y="283464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9" name="Text 17"/>
          <p:cNvSpPr/>
          <p:nvPr/>
        </p:nvSpPr>
        <p:spPr>
          <a:xfrm>
            <a:off x="7077456" y="2788920"/>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Viết .gitlab-ci.yml build + test</a:t>
            </a:r>
            <a:endParaRPr lang="en-US" sz="1400" dirty="0"/>
          </a:p>
        </p:txBody>
      </p:sp>
      <p:sp>
        <p:nvSpPr>
          <p:cNvPr id="20" name="Shape 18"/>
          <p:cNvSpPr/>
          <p:nvPr/>
        </p:nvSpPr>
        <p:spPr>
          <a:xfrm>
            <a:off x="6492240" y="3474720"/>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1" name="Text 19"/>
          <p:cNvSpPr/>
          <p:nvPr/>
        </p:nvSpPr>
        <p:spPr>
          <a:xfrm>
            <a:off x="6492240" y="347472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p:nvPr/>
        </p:nvSpPr>
        <p:spPr>
          <a:xfrm>
            <a:off x="7077456" y="3429000"/>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Push → xem pipeline chạy, đọc log</a:t>
            </a:r>
            <a:endParaRPr lang="en-US" sz="1400" dirty="0"/>
          </a:p>
        </p:txBody>
      </p:sp>
      <p:sp>
        <p:nvSpPr>
          <p:cNvPr id="23" name="Shape 21"/>
          <p:cNvSpPr/>
          <p:nvPr/>
        </p:nvSpPr>
        <p:spPr>
          <a:xfrm>
            <a:off x="6492240" y="4114800"/>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4" name="Text 22"/>
          <p:cNvSpPr/>
          <p:nvPr/>
        </p:nvSpPr>
        <p:spPr>
          <a:xfrm>
            <a:off x="6492240" y="411480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7077456" y="4069080"/>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Làm GitHub Actions tương đương</a:t>
            </a:r>
            <a:endParaRPr lang="en-US" sz="1400" dirty="0"/>
          </a:p>
        </p:txBody>
      </p:sp>
      <p:sp>
        <p:nvSpPr>
          <p:cNvPr id="26" name="Shape 24"/>
          <p:cNvSpPr/>
          <p:nvPr/>
        </p:nvSpPr>
        <p:spPr>
          <a:xfrm>
            <a:off x="6492240" y="4754880"/>
            <a:ext cx="457200" cy="457200"/>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7" name="Text 25"/>
          <p:cNvSpPr/>
          <p:nvPr/>
        </p:nvSpPr>
        <p:spPr>
          <a:xfrm>
            <a:off x="6492240" y="4754880"/>
            <a:ext cx="457200" cy="457200"/>
          </a:xfrm>
          <a:prstGeom prst="rect">
            <a:avLst/>
          </a:prstGeom>
          <a:noFill/>
          <a:ln/>
        </p:spPr>
        <p:txBody>
          <a:bodyPr wrap="square" rtlCol="0" anchor="ctr"/>
          <a:lstStyle/>
          <a:p>
            <a:pPr marL="0" indent="0" algn="ctr">
              <a:buNone/>
            </a:pPr>
            <a:r>
              <a:rPr lang="en-US" sz="1500" b="1" dirty="0">
                <a:solidFill>
                  <a:srgbClr val="0B2138"/>
                </a:solidFill>
                <a:latin typeface="Cambria" pitchFamily="34" charset="0"/>
                <a:ea typeface="Cambria" pitchFamily="34" charset="-122"/>
                <a:cs typeface="Cambria" pitchFamily="34" charset="-120"/>
              </a:rPr>
              <a:t>5</a:t>
            </a:r>
            <a:endParaRPr lang="en-US" sz="1500" dirty="0"/>
          </a:p>
        </p:txBody>
      </p:sp>
      <p:sp>
        <p:nvSpPr>
          <p:cNvPr id="28" name="Text 26"/>
          <p:cNvSpPr/>
          <p:nvPr/>
        </p:nvSpPr>
        <p:spPr>
          <a:xfrm>
            <a:off x="7077456" y="4709160"/>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So sánh trải nghiệm 2 nền tảng</a:t>
            </a:r>
            <a:endParaRPr lang="en-US" sz="1400" dirty="0"/>
          </a:p>
        </p:txBody>
      </p:sp>
      <p:sp>
        <p:nvSpPr>
          <p:cNvPr id="29" name="Text 27"/>
          <p:cNvSpPr/>
          <p:nvPr/>
        </p:nvSpPr>
        <p:spPr>
          <a:xfrm>
            <a:off x="6492240" y="5486400"/>
            <a:ext cx="5120640" cy="548640"/>
          </a:xfrm>
          <a:prstGeom prst="rect">
            <a:avLst/>
          </a:prstGeom>
          <a:noFill/>
          <a:ln/>
        </p:spPr>
        <p:txBody>
          <a:bodyPr wrap="square" lIns="0" tIns="0" rIns="0" bIns="0" rtlCol="0" anchor="ctr"/>
          <a:lstStyle/>
          <a:p>
            <a:pPr marL="0" indent="0">
              <a:buNone/>
            </a:pPr>
            <a:r>
              <a:rPr lang="en-US" sz="1250" i="1" dirty="0">
                <a:solidFill>
                  <a:srgbClr val="C77D1A"/>
                </a:solidFill>
                <a:latin typeface="Calibri" pitchFamily="34" charset="0"/>
                <a:ea typeface="Calibri" pitchFamily="34" charset="-122"/>
                <a:cs typeface="Calibri" pitchFamily="34" charset="-120"/>
              </a:rPr>
              <a:t>🤖 AI: nhờ AI sinh batch file cài &amp; register runner, rồi tự đọc hiểu.</a:t>
            </a:r>
            <a:endParaRPr lang="en-US" sz="1250" dirty="0"/>
          </a:p>
        </p:txBody>
      </p:sp>
      <p:sp>
        <p:nvSpPr>
          <p:cNvPr id="30" name="Text 28"/>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2 · CI/CD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138"/>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27C6A6"/>
          </a:solidFill>
          <a:ln w="254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0B2138"/>
                </a:solidFill>
                <a:latin typeface="Cambria" pitchFamily="34" charset="0"/>
                <a:ea typeface="Cambria" pitchFamily="34" charset="-122"/>
                <a:cs typeface="Cambria" pitchFamily="34" charset="-120"/>
              </a:rPr>
              <a:t>2</a:t>
            </a:r>
            <a:endParaRPr lang="en-US" sz="2200" dirty="0"/>
          </a:p>
        </p:txBody>
      </p:sp>
      <p:sp>
        <p:nvSpPr>
          <p:cNvPr id="4" name="Shape 2"/>
          <p:cNvSpPr/>
          <p:nvPr/>
        </p:nvSpPr>
        <p:spPr>
          <a:xfrm>
            <a:off x="1627632" y="502920"/>
            <a:ext cx="3063240" cy="347472"/>
          </a:xfrm>
          <a:prstGeom prst="roundRect">
            <a:avLst>
              <a:gd name="adj" fmla="val 50000"/>
            </a:avLst>
          </a:prstGeom>
          <a:solidFill>
            <a:srgbClr val="C77D1A"/>
          </a:solidFill>
          <a:ln/>
        </p:spPr>
        <p:txBody>
          <a:bodyPr/>
          <a:lstStyle/>
          <a:p>
            <a:endParaRPr lang="en-US"/>
          </a:p>
        </p:txBody>
      </p:sp>
      <p:sp>
        <p:nvSpPr>
          <p:cNvPr id="5" name="Text 3"/>
          <p:cNvSpPr/>
          <p:nvPr/>
        </p:nvSpPr>
        <p:spPr>
          <a:xfrm>
            <a:off x="1627632" y="502920"/>
            <a:ext cx="30632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VAI TRÒ TRONG DEVOPS</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CI/CD: tự động hóa Build → Release</a:t>
            </a:r>
            <a:endParaRPr lang="en-US" sz="2700" dirty="0"/>
          </a:p>
        </p:txBody>
      </p:sp>
      <p:sp>
        <p:nvSpPr>
          <p:cNvPr id="7" name="Text 5"/>
          <p:cNvSpPr/>
          <p:nvPr/>
        </p:nvSpPr>
        <p:spPr>
          <a:xfrm>
            <a:off x="548640" y="1645920"/>
            <a:ext cx="10972800" cy="548640"/>
          </a:xfrm>
          <a:prstGeom prst="rect">
            <a:avLst/>
          </a:prstGeom>
          <a:noFill/>
          <a:ln/>
        </p:spPr>
        <p:txBody>
          <a:bodyPr wrap="square" lIns="0" tIns="0" rIns="0" bIns="0" rtlCol="0" anchor="ctr"/>
          <a:lstStyle/>
          <a:p>
            <a:pPr marL="0" indent="0">
              <a:buNone/>
            </a:pPr>
            <a:r>
              <a:rPr lang="en-US" sz="1600" i="1" dirty="0">
                <a:solidFill>
                  <a:srgbClr val="AFC6D4"/>
                </a:solidFill>
                <a:latin typeface="Calibri" pitchFamily="34" charset="0"/>
                <a:ea typeface="Calibri" pitchFamily="34" charset="-122"/>
                <a:cs typeface="Calibri" pitchFamily="34" charset="-120"/>
              </a:rPr>
              <a:t>Đội nào cũng có test. Vấn đề là con người quên chạy, chạy sai môi trường, hoặc bỏ qua khi vội. Máy thì không quên và không thiên vị.</a:t>
            </a:r>
            <a:endParaRPr lang="en-US" sz="1600" dirty="0"/>
          </a:p>
        </p:txBody>
      </p:sp>
      <p:sp>
        <p:nvSpPr>
          <p:cNvPr id="8" name="Shape 6"/>
          <p:cNvSpPr/>
          <p:nvPr/>
        </p:nvSpPr>
        <p:spPr>
          <a:xfrm>
            <a:off x="548640"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9" name="Shape 7"/>
          <p:cNvSpPr/>
          <p:nvPr/>
        </p:nvSpPr>
        <p:spPr>
          <a:xfrm>
            <a:off x="822960"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822960"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804672" y="3456432"/>
            <a:ext cx="3063240" cy="8229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Bao phủ Build · Test · Release</a:t>
            </a:r>
            <a:endParaRPr lang="en-US" sz="1700" dirty="0"/>
          </a:p>
        </p:txBody>
      </p:sp>
      <p:sp>
        <p:nvSpPr>
          <p:cNvPr id="12" name="Text 10"/>
          <p:cNvSpPr/>
          <p:nvPr/>
        </p:nvSpPr>
        <p:spPr>
          <a:xfrm>
            <a:off x="804672"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Ba giai đoạn giữa của vòng đời được máy làm thay, mọi commit.</a:t>
            </a:r>
            <a:endParaRPr lang="en-US" sz="1350" dirty="0"/>
          </a:p>
        </p:txBody>
      </p:sp>
      <p:sp>
        <p:nvSpPr>
          <p:cNvPr id="13" name="Shape 11"/>
          <p:cNvSpPr/>
          <p:nvPr/>
        </p:nvSpPr>
        <p:spPr>
          <a:xfrm>
            <a:off x="4306824"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4" name="Shape 12"/>
          <p:cNvSpPr/>
          <p:nvPr/>
        </p:nvSpPr>
        <p:spPr>
          <a:xfrm>
            <a:off x="4581144"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4581144"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4562856" y="3456432"/>
            <a:ext cx="3063240" cy="8229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Rút ngắn feedback loop</a:t>
            </a:r>
            <a:endParaRPr lang="en-US" sz="1700" dirty="0"/>
          </a:p>
        </p:txBody>
      </p:sp>
      <p:sp>
        <p:nvSpPr>
          <p:cNvPr id="17" name="Text 15"/>
          <p:cNvSpPr/>
          <p:nvPr/>
        </p:nvSpPr>
        <p:spPr>
          <a:xfrm>
            <a:off x="4562856"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Lỗi lộ sau 5 phút rẻ hơn nhiều so với sau 5 ngày.</a:t>
            </a:r>
            <a:endParaRPr lang="en-US" sz="1350" dirty="0"/>
          </a:p>
        </p:txBody>
      </p:sp>
      <p:sp>
        <p:nvSpPr>
          <p:cNvPr id="18" name="Shape 16"/>
          <p:cNvSpPr/>
          <p:nvPr/>
        </p:nvSpPr>
        <p:spPr>
          <a:xfrm>
            <a:off x="8065008"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9" name="Shape 17"/>
          <p:cNvSpPr/>
          <p:nvPr/>
        </p:nvSpPr>
        <p:spPr>
          <a:xfrm>
            <a:off x="8339328"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0" name="Text 18"/>
          <p:cNvSpPr/>
          <p:nvPr/>
        </p:nvSpPr>
        <p:spPr>
          <a:xfrm>
            <a:off x="8339328"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8321040" y="3456432"/>
            <a:ext cx="3063240" cy="8229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Biến "nên làm" thành "luôn xảy ra"</a:t>
            </a:r>
            <a:endParaRPr lang="en-US" sz="1700" dirty="0"/>
          </a:p>
        </p:txBody>
      </p:sp>
      <p:sp>
        <p:nvSpPr>
          <p:cNvPr id="22" name="Text 20"/>
          <p:cNvSpPr/>
          <p:nvPr/>
        </p:nvSpPr>
        <p:spPr>
          <a:xfrm>
            <a:off x="8321040"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Tự động hóa loại bỏ yếu tố con người quên/bỏ qua.</a:t>
            </a:r>
            <a:endParaRPr lang="en-US" sz="1350" dirty="0"/>
          </a:p>
        </p:txBody>
      </p:sp>
      <p:sp>
        <p:nvSpPr>
          <p:cNvPr id="23" name="Text 21"/>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6E8598"/>
                </a:solidFill>
                <a:latin typeface="Calibri" pitchFamily="34" charset="0"/>
                <a:ea typeface="Calibri" pitchFamily="34" charset="-122"/>
                <a:cs typeface="Calibri" pitchFamily="34" charset="-120"/>
              </a:rPr>
              <a:t>Session 2 · CI/CD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Shape 2"/>
          <p:cNvSpPr/>
          <p:nvPr/>
        </p:nvSpPr>
        <p:spPr>
          <a:xfrm>
            <a:off x="1627632" y="502920"/>
            <a:ext cx="1234440" cy="347472"/>
          </a:xfrm>
          <a:prstGeom prst="roundRect">
            <a:avLst>
              <a:gd name="adj" fmla="val 50000"/>
            </a:avLst>
          </a:prstGeom>
          <a:solidFill>
            <a:srgbClr val="0E7C8B"/>
          </a:solidFill>
          <a:ln/>
        </p:spPr>
        <p:txBody>
          <a:bodyPr/>
          <a:lstStyle/>
          <a:p>
            <a:endParaRPr lang="en-US"/>
          </a:p>
        </p:txBody>
      </p:sp>
      <p:sp>
        <p:nvSpPr>
          <p:cNvPr id="5" name="Text 3"/>
          <p:cNvSpPr/>
          <p:nvPr/>
        </p:nvSpPr>
        <p:spPr>
          <a:xfrm>
            <a:off x="1627632" y="502920"/>
            <a:ext cx="12344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LÀ GÌ</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Docker &amp; container là gì?</a:t>
            </a:r>
            <a:endParaRPr lang="en-US" sz="2700" dirty="0"/>
          </a:p>
        </p:txBody>
      </p:sp>
      <p:sp>
        <p:nvSpPr>
          <p:cNvPr id="7" name="Text 5"/>
          <p:cNvSpPr/>
          <p:nvPr/>
        </p:nvSpPr>
        <p:spPr>
          <a:xfrm>
            <a:off x="548640" y="1600200"/>
            <a:ext cx="11064240" cy="548640"/>
          </a:xfrm>
          <a:prstGeom prst="rect">
            <a:avLst/>
          </a:prstGeom>
          <a:noFill/>
          <a:ln/>
        </p:spPr>
        <p:txBody>
          <a:bodyPr wrap="square" lIns="0" tIns="0" rIns="0" bIns="0" rtlCol="0" anchor="ctr"/>
          <a:lstStyle/>
          <a:p>
            <a:pPr marL="0" indent="0">
              <a:buNone/>
            </a:pPr>
            <a:r>
              <a:rPr lang="en-US" sz="1550" i="1" dirty="0">
                <a:solidFill>
                  <a:srgbClr val="5C7186"/>
                </a:solidFill>
                <a:latin typeface="Calibri" pitchFamily="34" charset="0"/>
                <a:ea typeface="Calibri" pitchFamily="34" charset="-122"/>
                <a:cs typeface="Calibri" pitchFamily="34" charset="-120"/>
              </a:rPr>
              <a:t>Docker đóng gói ứng dụng + toàn bộ phụ thuộc vào một image chạy y hệt ở mọi nơi. Container chia sẻ kernel host nên nhẹ &amp; nhanh hơn VM rất nhiều.</a:t>
            </a:r>
            <a:endParaRPr lang="en-US" sz="1550" dirty="0"/>
          </a:p>
        </p:txBody>
      </p:sp>
      <p:sp>
        <p:nvSpPr>
          <p:cNvPr id="8" name="Shape 6"/>
          <p:cNvSpPr/>
          <p:nvPr/>
        </p:nvSpPr>
        <p:spPr>
          <a:xfrm>
            <a:off x="548640" y="2331720"/>
            <a:ext cx="3566160" cy="1600200"/>
          </a:xfrm>
          <a:prstGeom prst="roundRect">
            <a:avLst>
              <a:gd name="adj" fmla="val 4571"/>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9" name="Shape 7"/>
          <p:cNvSpPr/>
          <p:nvPr/>
        </p:nvSpPr>
        <p:spPr>
          <a:xfrm>
            <a:off x="804672" y="2587752"/>
            <a:ext cx="548640" cy="54864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804672" y="2587752"/>
            <a:ext cx="54864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1" name="Text 9"/>
          <p:cNvSpPr/>
          <p:nvPr/>
        </p:nvSpPr>
        <p:spPr>
          <a:xfrm>
            <a:off x="1481328" y="2587752"/>
            <a:ext cx="2468880" cy="548640"/>
          </a:xfrm>
          <a:prstGeom prst="rect">
            <a:avLst/>
          </a:prstGeom>
          <a:noFill/>
          <a:ln/>
        </p:spPr>
        <p:txBody>
          <a:bodyPr wrap="square" lIns="0" tIns="0" rIns="0" bIns="0" rtlCol="0" anchor="ctr"/>
          <a:lstStyle/>
          <a:p>
            <a:pPr marL="0" indent="0">
              <a:buNone/>
            </a:pPr>
            <a:r>
              <a:rPr lang="en-US" sz="1800" b="1" dirty="0">
                <a:solidFill>
                  <a:srgbClr val="16273A"/>
                </a:solidFill>
                <a:latin typeface="Cambria" pitchFamily="34" charset="0"/>
                <a:ea typeface="Cambria" pitchFamily="34" charset="-122"/>
                <a:cs typeface="Cambria" pitchFamily="34" charset="-120"/>
              </a:rPr>
              <a:t>Image</a:t>
            </a:r>
            <a:endParaRPr lang="en-US" sz="1800" dirty="0"/>
          </a:p>
        </p:txBody>
      </p:sp>
      <p:sp>
        <p:nvSpPr>
          <p:cNvPr id="12" name="Text 10"/>
          <p:cNvSpPr/>
          <p:nvPr/>
        </p:nvSpPr>
        <p:spPr>
          <a:xfrm>
            <a:off x="804672" y="3227832"/>
            <a:ext cx="3108960" cy="640080"/>
          </a:xfrm>
          <a:prstGeom prst="rect">
            <a:avLst/>
          </a:prstGeom>
          <a:noFill/>
          <a:ln/>
        </p:spPr>
        <p:txBody>
          <a:bodyPr wrap="square" lIns="0" tIns="0" rIns="0" bIns="0" rtlCol="0" anchor="ctr"/>
          <a:lstStyle/>
          <a:p>
            <a:pPr marL="0" indent="0">
              <a:lnSpc>
                <a:spcPct val="110000"/>
              </a:lnSpc>
              <a:buNone/>
            </a:pPr>
            <a:r>
              <a:rPr lang="en-US" sz="1250" dirty="0">
                <a:solidFill>
                  <a:srgbClr val="5C7186"/>
                </a:solidFill>
                <a:latin typeface="Calibri" pitchFamily="34" charset="0"/>
                <a:ea typeface="Calibri" pitchFamily="34" charset="-122"/>
                <a:cs typeface="Calibri" pitchFamily="34" charset="-120"/>
              </a:rPr>
              <a:t>Bản thiết kế read-only, gồm nhiều layer</a:t>
            </a:r>
            <a:endParaRPr lang="en-US" sz="1250" dirty="0"/>
          </a:p>
        </p:txBody>
      </p:sp>
      <p:sp>
        <p:nvSpPr>
          <p:cNvPr id="13" name="Shape 11"/>
          <p:cNvSpPr/>
          <p:nvPr/>
        </p:nvSpPr>
        <p:spPr>
          <a:xfrm>
            <a:off x="4306824" y="2331720"/>
            <a:ext cx="3566160" cy="1600200"/>
          </a:xfrm>
          <a:prstGeom prst="roundRect">
            <a:avLst>
              <a:gd name="adj" fmla="val 4571"/>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4" name="Shape 12"/>
          <p:cNvSpPr/>
          <p:nvPr/>
        </p:nvSpPr>
        <p:spPr>
          <a:xfrm>
            <a:off x="4562856" y="2587752"/>
            <a:ext cx="548640" cy="548640"/>
          </a:xfrm>
          <a:prstGeom prst="ellipse">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4562856" y="2587752"/>
            <a:ext cx="54864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p:nvPr/>
        </p:nvSpPr>
        <p:spPr>
          <a:xfrm>
            <a:off x="5239512" y="2587752"/>
            <a:ext cx="2468880" cy="548640"/>
          </a:xfrm>
          <a:prstGeom prst="rect">
            <a:avLst/>
          </a:prstGeom>
          <a:noFill/>
          <a:ln/>
        </p:spPr>
        <p:txBody>
          <a:bodyPr wrap="square" lIns="0" tIns="0" rIns="0" bIns="0" rtlCol="0" anchor="ctr"/>
          <a:lstStyle/>
          <a:p>
            <a:pPr marL="0" indent="0">
              <a:buNone/>
            </a:pPr>
            <a:r>
              <a:rPr lang="en-US" sz="1800" b="1" dirty="0">
                <a:solidFill>
                  <a:srgbClr val="16273A"/>
                </a:solidFill>
                <a:latin typeface="Cambria" pitchFamily="34" charset="0"/>
                <a:ea typeface="Cambria" pitchFamily="34" charset="-122"/>
                <a:cs typeface="Cambria" pitchFamily="34" charset="-120"/>
              </a:rPr>
              <a:t>Container</a:t>
            </a:r>
            <a:endParaRPr lang="en-US" sz="1800" dirty="0"/>
          </a:p>
        </p:txBody>
      </p:sp>
      <p:sp>
        <p:nvSpPr>
          <p:cNvPr id="17" name="Text 15"/>
          <p:cNvSpPr/>
          <p:nvPr/>
        </p:nvSpPr>
        <p:spPr>
          <a:xfrm>
            <a:off x="4562856" y="3227832"/>
            <a:ext cx="3108960" cy="640080"/>
          </a:xfrm>
          <a:prstGeom prst="rect">
            <a:avLst/>
          </a:prstGeom>
          <a:noFill/>
          <a:ln/>
        </p:spPr>
        <p:txBody>
          <a:bodyPr wrap="square" lIns="0" tIns="0" rIns="0" bIns="0" rtlCol="0" anchor="ctr"/>
          <a:lstStyle/>
          <a:p>
            <a:pPr marL="0" indent="0">
              <a:lnSpc>
                <a:spcPct val="110000"/>
              </a:lnSpc>
              <a:buNone/>
            </a:pPr>
            <a:r>
              <a:rPr lang="en-US" sz="1250" dirty="0">
                <a:solidFill>
                  <a:srgbClr val="5C7186"/>
                </a:solidFill>
                <a:latin typeface="Calibri" pitchFamily="34" charset="0"/>
                <a:ea typeface="Calibri" pitchFamily="34" charset="-122"/>
                <a:cs typeface="Calibri" pitchFamily="34" charset="-120"/>
              </a:rPr>
              <a:t>Instance đang chạy của image</a:t>
            </a:r>
            <a:endParaRPr lang="en-US" sz="1250" dirty="0"/>
          </a:p>
        </p:txBody>
      </p:sp>
      <p:sp>
        <p:nvSpPr>
          <p:cNvPr id="18" name="Shape 16"/>
          <p:cNvSpPr/>
          <p:nvPr/>
        </p:nvSpPr>
        <p:spPr>
          <a:xfrm>
            <a:off x="8065008" y="2331720"/>
            <a:ext cx="3566160" cy="1600200"/>
          </a:xfrm>
          <a:prstGeom prst="roundRect">
            <a:avLst>
              <a:gd name="adj" fmla="val 4571"/>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9" name="Shape 17"/>
          <p:cNvSpPr/>
          <p:nvPr/>
        </p:nvSpPr>
        <p:spPr>
          <a:xfrm>
            <a:off x="8321040" y="2587752"/>
            <a:ext cx="548640" cy="548640"/>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0" name="Text 18"/>
          <p:cNvSpPr/>
          <p:nvPr/>
        </p:nvSpPr>
        <p:spPr>
          <a:xfrm>
            <a:off x="8321040" y="2587752"/>
            <a:ext cx="548640" cy="548640"/>
          </a:xfrm>
          <a:prstGeom prst="rect">
            <a:avLst/>
          </a:prstGeom>
          <a:noFill/>
          <a:ln/>
        </p:spPr>
        <p:txBody>
          <a:bodyPr wrap="square" rtlCol="0" anchor="ctr"/>
          <a:lstStyle/>
          <a:p>
            <a:pPr marL="0" indent="0" algn="ctr">
              <a:buNone/>
            </a:pPr>
            <a:r>
              <a:rPr lang="en-US" sz="1500" b="1" dirty="0">
                <a:solidFill>
                  <a:srgbClr val="0B2138"/>
                </a:solidFill>
                <a:latin typeface="Cambria" pitchFamily="34" charset="0"/>
                <a:ea typeface="Cambria" pitchFamily="34" charset="-122"/>
                <a:cs typeface="Cambria" pitchFamily="34" charset="-120"/>
              </a:rPr>
              <a:t>3</a:t>
            </a:r>
            <a:endParaRPr lang="en-US" sz="1500" dirty="0"/>
          </a:p>
        </p:txBody>
      </p:sp>
      <p:sp>
        <p:nvSpPr>
          <p:cNvPr id="21" name="Text 19"/>
          <p:cNvSpPr/>
          <p:nvPr/>
        </p:nvSpPr>
        <p:spPr>
          <a:xfrm>
            <a:off x="8997696" y="2587752"/>
            <a:ext cx="2468880" cy="548640"/>
          </a:xfrm>
          <a:prstGeom prst="rect">
            <a:avLst/>
          </a:prstGeom>
          <a:noFill/>
          <a:ln/>
        </p:spPr>
        <p:txBody>
          <a:bodyPr wrap="square" lIns="0" tIns="0" rIns="0" bIns="0" rtlCol="0" anchor="ctr"/>
          <a:lstStyle/>
          <a:p>
            <a:pPr marL="0" indent="0">
              <a:buNone/>
            </a:pPr>
            <a:r>
              <a:rPr lang="en-US" sz="1800" b="1" dirty="0">
                <a:solidFill>
                  <a:srgbClr val="16273A"/>
                </a:solidFill>
                <a:latin typeface="Cambria" pitchFamily="34" charset="0"/>
                <a:ea typeface="Cambria" pitchFamily="34" charset="-122"/>
                <a:cs typeface="Cambria" pitchFamily="34" charset="-120"/>
              </a:rPr>
              <a:t>Network</a:t>
            </a:r>
            <a:endParaRPr lang="en-US" sz="1800" dirty="0"/>
          </a:p>
        </p:txBody>
      </p:sp>
      <p:sp>
        <p:nvSpPr>
          <p:cNvPr id="22" name="Text 20"/>
          <p:cNvSpPr/>
          <p:nvPr/>
        </p:nvSpPr>
        <p:spPr>
          <a:xfrm>
            <a:off x="8321040" y="3227832"/>
            <a:ext cx="3108960" cy="640080"/>
          </a:xfrm>
          <a:prstGeom prst="rect">
            <a:avLst/>
          </a:prstGeom>
          <a:noFill/>
          <a:ln/>
        </p:spPr>
        <p:txBody>
          <a:bodyPr wrap="square" lIns="0" tIns="0" rIns="0" bIns="0" rtlCol="0" anchor="ctr"/>
          <a:lstStyle/>
          <a:p>
            <a:pPr marL="0" indent="0">
              <a:lnSpc>
                <a:spcPct val="110000"/>
              </a:lnSpc>
              <a:buNone/>
            </a:pPr>
            <a:r>
              <a:rPr lang="en-US" sz="1250" dirty="0">
                <a:solidFill>
                  <a:srgbClr val="5C7186"/>
                </a:solidFill>
                <a:latin typeface="Calibri" pitchFamily="34" charset="0"/>
                <a:ea typeface="Calibri" pitchFamily="34" charset="-122"/>
                <a:cs typeface="Calibri" pitchFamily="34" charset="-120"/>
              </a:rPr>
              <a:t>bridge · host · overlay — cách container nói chuyện</a:t>
            </a:r>
            <a:endParaRPr lang="en-US" sz="1250" dirty="0"/>
          </a:p>
        </p:txBody>
      </p:sp>
      <p:sp>
        <p:nvSpPr>
          <p:cNvPr id="23" name="Shape 21"/>
          <p:cNvSpPr/>
          <p:nvPr/>
        </p:nvSpPr>
        <p:spPr>
          <a:xfrm>
            <a:off x="548640" y="4069080"/>
            <a:ext cx="3566160" cy="1600200"/>
          </a:xfrm>
          <a:prstGeom prst="roundRect">
            <a:avLst>
              <a:gd name="adj" fmla="val 4571"/>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24" name="Shape 22"/>
          <p:cNvSpPr/>
          <p:nvPr/>
        </p:nvSpPr>
        <p:spPr>
          <a:xfrm>
            <a:off x="804672" y="4325112"/>
            <a:ext cx="548640" cy="548640"/>
          </a:xfrm>
          <a:prstGeom prst="ellipse">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25" name="Text 23"/>
          <p:cNvSpPr/>
          <p:nvPr/>
        </p:nvSpPr>
        <p:spPr>
          <a:xfrm>
            <a:off x="804672" y="4325112"/>
            <a:ext cx="54864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p:nvPr/>
        </p:nvSpPr>
        <p:spPr>
          <a:xfrm>
            <a:off x="1481328" y="4325112"/>
            <a:ext cx="2468880" cy="548640"/>
          </a:xfrm>
          <a:prstGeom prst="rect">
            <a:avLst/>
          </a:prstGeom>
          <a:noFill/>
          <a:ln/>
        </p:spPr>
        <p:txBody>
          <a:bodyPr wrap="square" lIns="0" tIns="0" rIns="0" bIns="0" rtlCol="0" anchor="ctr"/>
          <a:lstStyle/>
          <a:p>
            <a:pPr marL="0" indent="0">
              <a:buNone/>
            </a:pPr>
            <a:r>
              <a:rPr lang="en-US" sz="1800" b="1" dirty="0">
                <a:solidFill>
                  <a:srgbClr val="16273A"/>
                </a:solidFill>
                <a:latin typeface="Cambria" pitchFamily="34" charset="0"/>
                <a:ea typeface="Cambria" pitchFamily="34" charset="-122"/>
                <a:cs typeface="Cambria" pitchFamily="34" charset="-120"/>
              </a:rPr>
              <a:t>Volume</a:t>
            </a:r>
            <a:endParaRPr lang="en-US" sz="1800" dirty="0"/>
          </a:p>
        </p:txBody>
      </p:sp>
      <p:sp>
        <p:nvSpPr>
          <p:cNvPr id="27" name="Text 25"/>
          <p:cNvSpPr/>
          <p:nvPr/>
        </p:nvSpPr>
        <p:spPr>
          <a:xfrm>
            <a:off x="804672" y="4965192"/>
            <a:ext cx="3108960" cy="640080"/>
          </a:xfrm>
          <a:prstGeom prst="rect">
            <a:avLst/>
          </a:prstGeom>
          <a:noFill/>
          <a:ln/>
        </p:spPr>
        <p:txBody>
          <a:bodyPr wrap="square" lIns="0" tIns="0" rIns="0" bIns="0" rtlCol="0" anchor="ctr"/>
          <a:lstStyle/>
          <a:p>
            <a:pPr marL="0" indent="0">
              <a:lnSpc>
                <a:spcPct val="110000"/>
              </a:lnSpc>
              <a:buNone/>
            </a:pPr>
            <a:r>
              <a:rPr lang="en-US" sz="1250" dirty="0">
                <a:solidFill>
                  <a:srgbClr val="5C7186"/>
                </a:solidFill>
                <a:latin typeface="Calibri" pitchFamily="34" charset="0"/>
                <a:ea typeface="Calibri" pitchFamily="34" charset="-122"/>
                <a:cs typeface="Calibri" pitchFamily="34" charset="-120"/>
              </a:rPr>
              <a:t>Lưu dữ liệu bền vững, tách vòng đời container</a:t>
            </a:r>
            <a:endParaRPr lang="en-US" sz="1250" dirty="0"/>
          </a:p>
        </p:txBody>
      </p:sp>
      <p:sp>
        <p:nvSpPr>
          <p:cNvPr id="28" name="Shape 26"/>
          <p:cNvSpPr/>
          <p:nvPr/>
        </p:nvSpPr>
        <p:spPr>
          <a:xfrm>
            <a:off x="4306824" y="4069080"/>
            <a:ext cx="3566160" cy="1600200"/>
          </a:xfrm>
          <a:prstGeom prst="roundRect">
            <a:avLst>
              <a:gd name="adj" fmla="val 4571"/>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29" name="Shape 27"/>
          <p:cNvSpPr/>
          <p:nvPr/>
        </p:nvSpPr>
        <p:spPr>
          <a:xfrm>
            <a:off x="4562856" y="4325112"/>
            <a:ext cx="548640" cy="54864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30" name="Text 28"/>
          <p:cNvSpPr/>
          <p:nvPr/>
        </p:nvSpPr>
        <p:spPr>
          <a:xfrm>
            <a:off x="4562856" y="4325112"/>
            <a:ext cx="54864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1" name="Text 29"/>
          <p:cNvSpPr/>
          <p:nvPr/>
        </p:nvSpPr>
        <p:spPr>
          <a:xfrm>
            <a:off x="5239512" y="4325112"/>
            <a:ext cx="2468880" cy="548640"/>
          </a:xfrm>
          <a:prstGeom prst="rect">
            <a:avLst/>
          </a:prstGeom>
          <a:noFill/>
          <a:ln/>
        </p:spPr>
        <p:txBody>
          <a:bodyPr wrap="square" lIns="0" tIns="0" rIns="0" bIns="0" rtlCol="0" anchor="ctr"/>
          <a:lstStyle/>
          <a:p>
            <a:pPr marL="0" indent="0">
              <a:buNone/>
            </a:pPr>
            <a:r>
              <a:rPr lang="en-US" sz="1800" b="1" dirty="0">
                <a:solidFill>
                  <a:srgbClr val="16273A"/>
                </a:solidFill>
                <a:latin typeface="Cambria" pitchFamily="34" charset="0"/>
                <a:ea typeface="Cambria" pitchFamily="34" charset="-122"/>
                <a:cs typeface="Cambria" pitchFamily="34" charset="-120"/>
              </a:rPr>
              <a:t>Registry</a:t>
            </a:r>
            <a:endParaRPr lang="en-US" sz="1800" dirty="0"/>
          </a:p>
        </p:txBody>
      </p:sp>
      <p:sp>
        <p:nvSpPr>
          <p:cNvPr id="32" name="Text 30"/>
          <p:cNvSpPr/>
          <p:nvPr/>
        </p:nvSpPr>
        <p:spPr>
          <a:xfrm>
            <a:off x="4562856" y="4965192"/>
            <a:ext cx="3108960" cy="640080"/>
          </a:xfrm>
          <a:prstGeom prst="rect">
            <a:avLst/>
          </a:prstGeom>
          <a:noFill/>
          <a:ln/>
        </p:spPr>
        <p:txBody>
          <a:bodyPr wrap="square" lIns="0" tIns="0" rIns="0" bIns="0" rtlCol="0" anchor="ctr"/>
          <a:lstStyle/>
          <a:p>
            <a:pPr marL="0" indent="0">
              <a:lnSpc>
                <a:spcPct val="110000"/>
              </a:lnSpc>
              <a:buNone/>
            </a:pPr>
            <a:r>
              <a:rPr lang="en-US" sz="1250" dirty="0">
                <a:solidFill>
                  <a:srgbClr val="5C7186"/>
                </a:solidFill>
                <a:latin typeface="Calibri" pitchFamily="34" charset="0"/>
                <a:ea typeface="Calibri" pitchFamily="34" charset="-122"/>
                <a:cs typeface="Calibri" pitchFamily="34" charset="-120"/>
              </a:rPr>
              <a:t>Kho lưu &amp; phân phối image (Hub, GHCR)</a:t>
            </a:r>
            <a:endParaRPr lang="en-US" sz="1250" dirty="0"/>
          </a:p>
        </p:txBody>
      </p:sp>
      <p:sp>
        <p:nvSpPr>
          <p:cNvPr id="33" name="Shape 31"/>
          <p:cNvSpPr/>
          <p:nvPr/>
        </p:nvSpPr>
        <p:spPr>
          <a:xfrm>
            <a:off x="8065008" y="4069080"/>
            <a:ext cx="3566160" cy="1600200"/>
          </a:xfrm>
          <a:prstGeom prst="roundRect">
            <a:avLst>
              <a:gd name="adj" fmla="val 4571"/>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34" name="Shape 32"/>
          <p:cNvSpPr/>
          <p:nvPr/>
        </p:nvSpPr>
        <p:spPr>
          <a:xfrm>
            <a:off x="8321040" y="4325112"/>
            <a:ext cx="548640" cy="548640"/>
          </a:xfrm>
          <a:prstGeom prst="ellipse">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35" name="Text 33"/>
          <p:cNvSpPr/>
          <p:nvPr/>
        </p:nvSpPr>
        <p:spPr>
          <a:xfrm>
            <a:off x="8321040" y="4325112"/>
            <a:ext cx="548640" cy="54864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6" name="Text 34"/>
          <p:cNvSpPr/>
          <p:nvPr/>
        </p:nvSpPr>
        <p:spPr>
          <a:xfrm>
            <a:off x="8997696" y="4325112"/>
            <a:ext cx="2468880" cy="548640"/>
          </a:xfrm>
          <a:prstGeom prst="rect">
            <a:avLst/>
          </a:prstGeom>
          <a:noFill/>
          <a:ln/>
        </p:spPr>
        <p:txBody>
          <a:bodyPr wrap="square" lIns="0" tIns="0" rIns="0" bIns="0" rtlCol="0" anchor="ctr"/>
          <a:lstStyle/>
          <a:p>
            <a:pPr marL="0" indent="0">
              <a:buNone/>
            </a:pPr>
            <a:r>
              <a:rPr lang="en-US" sz="1800" b="1" dirty="0">
                <a:solidFill>
                  <a:srgbClr val="16273A"/>
                </a:solidFill>
                <a:latin typeface="Cambria" pitchFamily="34" charset="0"/>
                <a:ea typeface="Cambria" pitchFamily="34" charset="-122"/>
                <a:cs typeface="Cambria" pitchFamily="34" charset="-120"/>
              </a:rPr>
              <a:t>Dockerfile</a:t>
            </a:r>
            <a:endParaRPr lang="en-US" sz="1800" dirty="0"/>
          </a:p>
        </p:txBody>
      </p:sp>
      <p:sp>
        <p:nvSpPr>
          <p:cNvPr id="37" name="Text 35"/>
          <p:cNvSpPr/>
          <p:nvPr/>
        </p:nvSpPr>
        <p:spPr>
          <a:xfrm>
            <a:off x="8321040" y="4965192"/>
            <a:ext cx="3108960" cy="640080"/>
          </a:xfrm>
          <a:prstGeom prst="rect">
            <a:avLst/>
          </a:prstGeom>
          <a:noFill/>
          <a:ln/>
        </p:spPr>
        <p:txBody>
          <a:bodyPr wrap="square" lIns="0" tIns="0" rIns="0" bIns="0" rtlCol="0" anchor="ctr"/>
          <a:lstStyle/>
          <a:p>
            <a:pPr marL="0" indent="0">
              <a:lnSpc>
                <a:spcPct val="110000"/>
              </a:lnSpc>
              <a:buNone/>
            </a:pPr>
            <a:r>
              <a:rPr lang="en-US" sz="1250" dirty="0">
                <a:solidFill>
                  <a:srgbClr val="5C7186"/>
                </a:solidFill>
                <a:latin typeface="Calibri" pitchFamily="34" charset="0"/>
                <a:ea typeface="Calibri" pitchFamily="34" charset="-122"/>
                <a:cs typeface="Calibri" pitchFamily="34" charset="-120"/>
              </a:rPr>
              <a:t>Công thức tạo image: FROM·COPY·RUN·CMD</a:t>
            </a:r>
            <a:endParaRPr lang="en-US" sz="1250" dirty="0"/>
          </a:p>
        </p:txBody>
      </p:sp>
      <p:sp>
        <p:nvSpPr>
          <p:cNvPr id="38" name="Text 36"/>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3 · Docker Fundamentals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Shape 2"/>
          <p:cNvSpPr/>
          <p:nvPr/>
        </p:nvSpPr>
        <p:spPr>
          <a:xfrm>
            <a:off x="1627632" y="502920"/>
            <a:ext cx="2331720" cy="347472"/>
          </a:xfrm>
          <a:prstGeom prst="roundRect">
            <a:avLst>
              <a:gd name="adj" fmla="val 50000"/>
            </a:avLst>
          </a:prstGeom>
          <a:solidFill>
            <a:srgbClr val="0B2138"/>
          </a:solidFill>
          <a:ln/>
        </p:spPr>
        <p:txBody>
          <a:bodyPr/>
          <a:lstStyle/>
          <a:p>
            <a:endParaRPr lang="en-US"/>
          </a:p>
        </p:txBody>
      </p:sp>
      <p:sp>
        <p:nvSpPr>
          <p:cNvPr id="5" name="Text 3"/>
          <p:cNvSpPr/>
          <p:nvPr/>
        </p:nvSpPr>
        <p:spPr>
          <a:xfrm>
            <a:off x="1627632" y="502920"/>
            <a:ext cx="233172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CÁCH LÀM · LAB</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Dockerfile, lệnh &amp; 5 lab mini</a:t>
            </a:r>
            <a:endParaRPr lang="en-US" sz="2700" dirty="0"/>
          </a:p>
        </p:txBody>
      </p:sp>
      <p:sp>
        <p:nvSpPr>
          <p:cNvPr id="7" name="Shape 5"/>
          <p:cNvSpPr/>
          <p:nvPr/>
        </p:nvSpPr>
        <p:spPr>
          <a:xfrm>
            <a:off x="548640" y="1691640"/>
            <a:ext cx="5669280" cy="2331720"/>
          </a:xfrm>
          <a:prstGeom prst="roundRect">
            <a:avLst>
              <a:gd name="adj" fmla="val 2745"/>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8" name="Text 6"/>
          <p:cNvSpPr/>
          <p:nvPr/>
        </p:nvSpPr>
        <p:spPr>
          <a:xfrm>
            <a:off x="804672" y="1819656"/>
            <a:ext cx="5212080"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Dockerfile</a:t>
            </a:r>
            <a:endParaRPr lang="en-US" sz="1300" dirty="0"/>
          </a:p>
        </p:txBody>
      </p:sp>
      <p:sp>
        <p:nvSpPr>
          <p:cNvPr id="9" name="Text 7"/>
          <p:cNvSpPr/>
          <p:nvPr/>
        </p:nvSpPr>
        <p:spPr>
          <a:xfrm>
            <a:off x="804672" y="2203704"/>
            <a:ext cx="5157216" cy="1673352"/>
          </a:xfrm>
          <a:prstGeom prst="rect">
            <a:avLst/>
          </a:prstGeom>
          <a:noFill/>
          <a:ln/>
        </p:spPr>
        <p:txBody>
          <a:bodyPr wrap="square" lIns="0" tIns="0" rIns="0" bIns="0" rtlCol="0" anchor="t"/>
          <a:lstStyle/>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FROM node:20-alpine</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WORKDIR /app</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COPY package*.json ./</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RUN npm ci</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COPY . .</a:t>
            </a:r>
            <a:endParaRPr lang="en-US" sz="1250" dirty="0"/>
          </a:p>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CMD ["node", "server.js"]</a:t>
            </a:r>
            <a:endParaRPr lang="en-US" sz="1250" dirty="0"/>
          </a:p>
        </p:txBody>
      </p:sp>
      <p:sp>
        <p:nvSpPr>
          <p:cNvPr id="10" name="Shape 8"/>
          <p:cNvSpPr/>
          <p:nvPr/>
        </p:nvSpPr>
        <p:spPr>
          <a:xfrm>
            <a:off x="548640" y="4114800"/>
            <a:ext cx="5669280" cy="1920240"/>
          </a:xfrm>
          <a:prstGeom prst="roundRect">
            <a:avLst>
              <a:gd name="adj" fmla="val 3333"/>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1" name="Text 9"/>
          <p:cNvSpPr/>
          <p:nvPr/>
        </p:nvSpPr>
        <p:spPr>
          <a:xfrm>
            <a:off x="804672" y="4242816"/>
            <a:ext cx="5212080"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Lệnh thường dùng</a:t>
            </a:r>
            <a:endParaRPr lang="en-US" sz="1300" dirty="0"/>
          </a:p>
        </p:txBody>
      </p:sp>
      <p:sp>
        <p:nvSpPr>
          <p:cNvPr id="12" name="Text 10"/>
          <p:cNvSpPr/>
          <p:nvPr/>
        </p:nvSpPr>
        <p:spPr>
          <a:xfrm>
            <a:off x="804672" y="4626864"/>
            <a:ext cx="5157216" cy="1261872"/>
          </a:xfrm>
          <a:prstGeom prst="rect">
            <a:avLst/>
          </a:prstGeom>
          <a:noFill/>
          <a:ln/>
        </p:spPr>
        <p:txBody>
          <a:bodyPr wrap="square" lIns="0" tIns="0" rIns="0" bIns="0" rtlCol="0" anchor="t"/>
          <a:lstStyle/>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docker run -p 8080:80 nginx</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docker ps  /  docker logs &lt;id&gt;</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docker build -t app:1.0 .</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docker exec -it &lt;id&gt; sh</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docker push ghcr.io/u/app</a:t>
            </a:r>
            <a:endParaRPr lang="en-US" sz="1250" dirty="0"/>
          </a:p>
        </p:txBody>
      </p:sp>
      <p:sp>
        <p:nvSpPr>
          <p:cNvPr id="13" name="Text 11"/>
          <p:cNvSpPr/>
          <p:nvPr/>
        </p:nvSpPr>
        <p:spPr>
          <a:xfrm>
            <a:off x="6492240" y="1691640"/>
            <a:ext cx="4937760" cy="411480"/>
          </a:xfrm>
          <a:prstGeom prst="rect">
            <a:avLst/>
          </a:prstGeom>
          <a:noFill/>
          <a:ln/>
        </p:spPr>
        <p:txBody>
          <a:bodyPr wrap="square" lIns="0" tIns="0" rIns="0" bIns="0" rtlCol="0" anchor="ctr"/>
          <a:lstStyle/>
          <a:p>
            <a:pPr marL="0" indent="0">
              <a:buNone/>
            </a:pPr>
            <a:r>
              <a:rPr lang="en-US" sz="1900" b="1" dirty="0">
                <a:solidFill>
                  <a:srgbClr val="0E7C8B"/>
                </a:solidFill>
                <a:latin typeface="Cambria" pitchFamily="34" charset="0"/>
                <a:ea typeface="Cambria" pitchFamily="34" charset="-122"/>
                <a:cs typeface="Cambria" pitchFamily="34" charset="-120"/>
              </a:rPr>
              <a:t>🧪  5 lab Docker mini</a:t>
            </a:r>
            <a:endParaRPr lang="en-US" sz="1900" dirty="0"/>
          </a:p>
        </p:txBody>
      </p:sp>
      <p:sp>
        <p:nvSpPr>
          <p:cNvPr id="14" name="Shape 12"/>
          <p:cNvSpPr/>
          <p:nvPr/>
        </p:nvSpPr>
        <p:spPr>
          <a:xfrm>
            <a:off x="6492240" y="2194560"/>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649224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6" name="Text 14"/>
          <p:cNvSpPr/>
          <p:nvPr/>
        </p:nvSpPr>
        <p:spPr>
          <a:xfrm>
            <a:off x="7077456" y="2148840"/>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Chạy nginx, map cổng 8080:80</a:t>
            </a:r>
            <a:endParaRPr lang="en-US" sz="1400" dirty="0"/>
          </a:p>
        </p:txBody>
      </p:sp>
      <p:sp>
        <p:nvSpPr>
          <p:cNvPr id="17" name="Shape 15"/>
          <p:cNvSpPr/>
          <p:nvPr/>
        </p:nvSpPr>
        <p:spPr>
          <a:xfrm>
            <a:off x="6492240" y="2852928"/>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8" name="Text 16"/>
          <p:cNvSpPr/>
          <p:nvPr/>
        </p:nvSpPr>
        <p:spPr>
          <a:xfrm>
            <a:off x="6492240" y="285292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9" name="Text 17"/>
          <p:cNvSpPr/>
          <p:nvPr/>
        </p:nvSpPr>
        <p:spPr>
          <a:xfrm>
            <a:off x="7077456" y="2807208"/>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Viết Dockerfile Hello World, build &amp; run</a:t>
            </a:r>
            <a:endParaRPr lang="en-US" sz="1400" dirty="0"/>
          </a:p>
        </p:txBody>
      </p:sp>
      <p:sp>
        <p:nvSpPr>
          <p:cNvPr id="20" name="Shape 18"/>
          <p:cNvSpPr/>
          <p:nvPr/>
        </p:nvSpPr>
        <p:spPr>
          <a:xfrm>
            <a:off x="6492240" y="3511296"/>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1" name="Text 19"/>
          <p:cNvSpPr/>
          <p:nvPr/>
        </p:nvSpPr>
        <p:spPr>
          <a:xfrm>
            <a:off x="6492240" y="351129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p:nvPr/>
        </p:nvSpPr>
        <p:spPr>
          <a:xfrm>
            <a:off x="7077456" y="3465576"/>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Volume: xóa container, data vẫn còn</a:t>
            </a:r>
            <a:endParaRPr lang="en-US" sz="1400" dirty="0"/>
          </a:p>
        </p:txBody>
      </p:sp>
      <p:sp>
        <p:nvSpPr>
          <p:cNvPr id="23" name="Shape 21"/>
          <p:cNvSpPr/>
          <p:nvPr/>
        </p:nvSpPr>
        <p:spPr>
          <a:xfrm>
            <a:off x="6492240" y="4169664"/>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4" name="Text 22"/>
          <p:cNvSpPr/>
          <p:nvPr/>
        </p:nvSpPr>
        <p:spPr>
          <a:xfrm>
            <a:off x="6492240" y="4169664"/>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7077456" y="4123944"/>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Network: 2 container ping nhau bằng tên</a:t>
            </a:r>
            <a:endParaRPr lang="en-US" sz="1400" dirty="0"/>
          </a:p>
        </p:txBody>
      </p:sp>
      <p:sp>
        <p:nvSpPr>
          <p:cNvPr id="26" name="Shape 24"/>
          <p:cNvSpPr/>
          <p:nvPr/>
        </p:nvSpPr>
        <p:spPr>
          <a:xfrm>
            <a:off x="6492240" y="4828032"/>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7" name="Text 25"/>
          <p:cNvSpPr/>
          <p:nvPr/>
        </p:nvSpPr>
        <p:spPr>
          <a:xfrm>
            <a:off x="6492240" y="482803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p:nvPr/>
        </p:nvSpPr>
        <p:spPr>
          <a:xfrm>
            <a:off x="7077456" y="4782312"/>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Push image lên GitLab/GitHub Registry</a:t>
            </a:r>
            <a:endParaRPr lang="en-US" sz="1400" dirty="0"/>
          </a:p>
        </p:txBody>
      </p:sp>
      <p:sp>
        <p:nvSpPr>
          <p:cNvPr id="29" name="Text 27"/>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3 · Docker Fundamentals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138"/>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27C6A6"/>
          </a:solidFill>
          <a:ln w="254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0B2138"/>
                </a:solidFill>
                <a:latin typeface="Cambria" pitchFamily="34" charset="0"/>
                <a:ea typeface="Cambria" pitchFamily="34" charset="-122"/>
                <a:cs typeface="Cambria" pitchFamily="34" charset="-120"/>
              </a:rPr>
              <a:t>3</a:t>
            </a:r>
            <a:endParaRPr lang="en-US" sz="2200" dirty="0"/>
          </a:p>
        </p:txBody>
      </p:sp>
      <p:sp>
        <p:nvSpPr>
          <p:cNvPr id="4" name="Shape 2"/>
          <p:cNvSpPr/>
          <p:nvPr/>
        </p:nvSpPr>
        <p:spPr>
          <a:xfrm>
            <a:off x="1627632" y="502920"/>
            <a:ext cx="3063240" cy="347472"/>
          </a:xfrm>
          <a:prstGeom prst="roundRect">
            <a:avLst>
              <a:gd name="adj" fmla="val 50000"/>
            </a:avLst>
          </a:prstGeom>
          <a:solidFill>
            <a:srgbClr val="C77D1A"/>
          </a:solidFill>
          <a:ln/>
        </p:spPr>
        <p:txBody>
          <a:bodyPr/>
          <a:lstStyle/>
          <a:p>
            <a:endParaRPr lang="en-US"/>
          </a:p>
        </p:txBody>
      </p:sp>
      <p:sp>
        <p:nvSpPr>
          <p:cNvPr id="5" name="Text 3"/>
          <p:cNvSpPr/>
          <p:nvPr/>
        </p:nvSpPr>
        <p:spPr>
          <a:xfrm>
            <a:off x="1627632" y="502920"/>
            <a:ext cx="30632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VAI TRÒ TRONG DEVOPS</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Docker: mắt xích "Package"</a:t>
            </a:r>
            <a:endParaRPr lang="en-US" sz="2700" dirty="0"/>
          </a:p>
        </p:txBody>
      </p:sp>
      <p:sp>
        <p:nvSpPr>
          <p:cNvPr id="7" name="Text 5"/>
          <p:cNvSpPr/>
          <p:nvPr/>
        </p:nvSpPr>
        <p:spPr>
          <a:xfrm>
            <a:off x="548640" y="1645920"/>
            <a:ext cx="10972800" cy="548640"/>
          </a:xfrm>
          <a:prstGeom prst="rect">
            <a:avLst/>
          </a:prstGeom>
          <a:noFill/>
          <a:ln/>
        </p:spPr>
        <p:txBody>
          <a:bodyPr wrap="square" lIns="0" tIns="0" rIns="0" bIns="0" rtlCol="0" anchor="ctr"/>
          <a:lstStyle/>
          <a:p>
            <a:pPr marL="0" indent="0">
              <a:buNone/>
            </a:pPr>
            <a:r>
              <a:rPr lang="en-US" sz="1600" i="1" dirty="0">
                <a:solidFill>
                  <a:srgbClr val="AFC6D4"/>
                </a:solidFill>
                <a:latin typeface="Calibri" pitchFamily="34" charset="0"/>
                <a:ea typeface="Calibri" pitchFamily="34" charset="-122"/>
                <a:cs typeface="Calibri" pitchFamily="34" charset="-120"/>
              </a:rPr>
              <a:t>Pipeline chỉ đáng tin nếu sản phẩm build ra giống nhau mọi lần. Nếu artifact là Docker image, môi trường được đóng băng bên trong.</a:t>
            </a:r>
            <a:endParaRPr lang="en-US" sz="1600" dirty="0"/>
          </a:p>
        </p:txBody>
      </p:sp>
      <p:sp>
        <p:nvSpPr>
          <p:cNvPr id="8" name="Shape 6"/>
          <p:cNvSpPr/>
          <p:nvPr/>
        </p:nvSpPr>
        <p:spPr>
          <a:xfrm>
            <a:off x="548640"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9" name="Shape 7"/>
          <p:cNvSpPr/>
          <p:nvPr/>
        </p:nvSpPr>
        <p:spPr>
          <a:xfrm>
            <a:off x="822960"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822960"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804672" y="3456432"/>
            <a:ext cx="3063240" cy="8229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Xóa "chạy được trên máy tôi"</a:t>
            </a:r>
            <a:endParaRPr lang="en-US" sz="1650" dirty="0"/>
          </a:p>
        </p:txBody>
      </p:sp>
      <p:sp>
        <p:nvSpPr>
          <p:cNvPr id="12" name="Text 10"/>
          <p:cNvSpPr/>
          <p:nvPr/>
        </p:nvSpPr>
        <p:spPr>
          <a:xfrm>
            <a:off x="804672"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Cùng một image chạy y hệt ở dev, CI và production.</a:t>
            </a:r>
            <a:endParaRPr lang="en-US" sz="1350" dirty="0"/>
          </a:p>
        </p:txBody>
      </p:sp>
      <p:sp>
        <p:nvSpPr>
          <p:cNvPr id="13" name="Shape 11"/>
          <p:cNvSpPr/>
          <p:nvPr/>
        </p:nvSpPr>
        <p:spPr>
          <a:xfrm>
            <a:off x="4306824"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4" name="Shape 12"/>
          <p:cNvSpPr/>
          <p:nvPr/>
        </p:nvSpPr>
        <p:spPr>
          <a:xfrm>
            <a:off x="4581144"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4581144"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4562856" y="3456432"/>
            <a:ext cx="3063240" cy="8229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Artifact chuẩn của CI/CD</a:t>
            </a:r>
            <a:endParaRPr lang="en-US" sz="1650" dirty="0"/>
          </a:p>
        </p:txBody>
      </p:sp>
      <p:sp>
        <p:nvSpPr>
          <p:cNvPr id="17" name="Text 15"/>
          <p:cNvSpPr/>
          <p:nvPr/>
        </p:nvSpPr>
        <p:spPr>
          <a:xfrm>
            <a:off x="4562856"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CI build ra image → registry → deploy. Docker nối CI với vận hành.</a:t>
            </a:r>
            <a:endParaRPr lang="en-US" sz="1350" dirty="0"/>
          </a:p>
        </p:txBody>
      </p:sp>
      <p:sp>
        <p:nvSpPr>
          <p:cNvPr id="18" name="Shape 16"/>
          <p:cNvSpPr/>
          <p:nvPr/>
        </p:nvSpPr>
        <p:spPr>
          <a:xfrm>
            <a:off x="8065008"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9" name="Shape 17"/>
          <p:cNvSpPr/>
          <p:nvPr/>
        </p:nvSpPr>
        <p:spPr>
          <a:xfrm>
            <a:off x="8339328"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0" name="Text 18"/>
          <p:cNvSpPr/>
          <p:nvPr/>
        </p:nvSpPr>
        <p:spPr>
          <a:xfrm>
            <a:off x="8339328"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8321040" y="3456432"/>
            <a:ext cx="3063240" cy="8229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Nhẹ &amp; nhanh mở ra cách chơi mới</a:t>
            </a:r>
            <a:endParaRPr lang="en-US" sz="1650" dirty="0"/>
          </a:p>
        </p:txBody>
      </p:sp>
      <p:sp>
        <p:nvSpPr>
          <p:cNvPr id="22" name="Text 20"/>
          <p:cNvSpPr/>
          <p:nvPr/>
        </p:nvSpPr>
        <p:spPr>
          <a:xfrm>
            <a:off x="8321040"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Tạo/hủy container tức thì → CI sạch, scale trong vài giây.</a:t>
            </a:r>
            <a:endParaRPr lang="en-US" sz="1350" dirty="0"/>
          </a:p>
        </p:txBody>
      </p:sp>
      <p:sp>
        <p:nvSpPr>
          <p:cNvPr id="23" name="Text 21"/>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6E8598"/>
                </a:solidFill>
                <a:latin typeface="Calibri" pitchFamily="34" charset="0"/>
                <a:ea typeface="Calibri" pitchFamily="34" charset="-122"/>
                <a:cs typeface="Calibri" pitchFamily="34" charset="-120"/>
              </a:rPr>
              <a:t>Session 3 · Docker Fundamentals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Shape 2"/>
          <p:cNvSpPr/>
          <p:nvPr/>
        </p:nvSpPr>
        <p:spPr>
          <a:xfrm>
            <a:off x="1627632" y="502920"/>
            <a:ext cx="1234440" cy="347472"/>
          </a:xfrm>
          <a:prstGeom prst="roundRect">
            <a:avLst>
              <a:gd name="adj" fmla="val 50000"/>
            </a:avLst>
          </a:prstGeom>
          <a:solidFill>
            <a:srgbClr val="0E7C8B"/>
          </a:solidFill>
          <a:ln/>
        </p:spPr>
        <p:txBody>
          <a:bodyPr/>
          <a:lstStyle/>
          <a:p>
            <a:endParaRPr lang="en-US"/>
          </a:p>
        </p:txBody>
      </p:sp>
      <p:sp>
        <p:nvSpPr>
          <p:cNvPr id="5" name="Text 3"/>
          <p:cNvSpPr/>
          <p:nvPr/>
        </p:nvSpPr>
        <p:spPr>
          <a:xfrm>
            <a:off x="1627632" y="502920"/>
            <a:ext cx="12344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LÀ GÌ</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Docker Compose là gì?</a:t>
            </a:r>
            <a:endParaRPr lang="en-US" sz="2700" dirty="0"/>
          </a:p>
        </p:txBody>
      </p:sp>
      <p:sp>
        <p:nvSpPr>
          <p:cNvPr id="7" name="Text 5"/>
          <p:cNvSpPr/>
          <p:nvPr/>
        </p:nvSpPr>
        <p:spPr>
          <a:xfrm>
            <a:off x="548640" y="1600200"/>
            <a:ext cx="11064240" cy="548640"/>
          </a:xfrm>
          <a:prstGeom prst="rect">
            <a:avLst/>
          </a:prstGeom>
          <a:noFill/>
          <a:ln/>
        </p:spPr>
        <p:txBody>
          <a:bodyPr wrap="square" lIns="0" tIns="0" rIns="0" bIns="0" rtlCol="0" anchor="ctr"/>
          <a:lstStyle/>
          <a:p>
            <a:pPr marL="0" indent="0">
              <a:buNone/>
            </a:pPr>
            <a:r>
              <a:rPr lang="en-US" sz="1550" i="1" dirty="0">
                <a:solidFill>
                  <a:srgbClr val="5C7186"/>
                </a:solidFill>
                <a:latin typeface="Calibri" pitchFamily="34" charset="0"/>
                <a:ea typeface="Calibri" pitchFamily="34" charset="-122"/>
                <a:cs typeface="Calibri" pitchFamily="34" charset="-120"/>
              </a:rPr>
              <a:t>Mô tả TOÀN BỘ ứng dụng nhiều container trong một file YAML. Một lệnh docker compose up dựng cả hệ thống — chính là IaC cho môi trường.</a:t>
            </a:r>
            <a:endParaRPr lang="en-US" sz="1550" dirty="0"/>
          </a:p>
        </p:txBody>
      </p:sp>
      <p:sp>
        <p:nvSpPr>
          <p:cNvPr id="8" name="Text 6"/>
          <p:cNvSpPr/>
          <p:nvPr/>
        </p:nvSpPr>
        <p:spPr>
          <a:xfrm>
            <a:off x="548640" y="2286000"/>
            <a:ext cx="5486400" cy="365760"/>
          </a:xfrm>
          <a:prstGeom prst="rect">
            <a:avLst/>
          </a:prstGeom>
          <a:noFill/>
          <a:ln/>
        </p:spPr>
        <p:txBody>
          <a:bodyPr wrap="square" lIns="0" tIns="0" rIns="0" bIns="0" rtlCol="0" anchor="ctr"/>
          <a:lstStyle/>
          <a:p>
            <a:pPr marL="0" indent="0">
              <a:buNone/>
            </a:pPr>
            <a:r>
              <a:rPr lang="en-US" sz="1600" b="1" dirty="0">
                <a:solidFill>
                  <a:srgbClr val="16273A"/>
                </a:solidFill>
                <a:latin typeface="Cambria" pitchFamily="34" charset="0"/>
                <a:ea typeface="Cambria" pitchFamily="34" charset="-122"/>
                <a:cs typeface="Cambria" pitchFamily="34" charset="-120"/>
              </a:rPr>
              <a:t>Kiến trúc full-stack</a:t>
            </a:r>
            <a:endParaRPr lang="en-US" sz="1600" dirty="0"/>
          </a:p>
        </p:txBody>
      </p:sp>
      <p:sp>
        <p:nvSpPr>
          <p:cNvPr id="9" name="Shape 7"/>
          <p:cNvSpPr/>
          <p:nvPr/>
        </p:nvSpPr>
        <p:spPr>
          <a:xfrm>
            <a:off x="731520" y="2743200"/>
            <a:ext cx="2286000" cy="868680"/>
          </a:xfrm>
          <a:prstGeom prst="roundRect">
            <a:avLst>
              <a:gd name="adj" fmla="val 8421"/>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731520" y="2743200"/>
            <a:ext cx="228600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Frontend</a:t>
            </a:r>
            <a:endParaRPr lang="en-US" sz="1600" dirty="0"/>
          </a:p>
          <a:p>
            <a:pPr marL="0" indent="0" algn="ctr">
              <a:buNone/>
            </a:pPr>
            <a:r>
              <a:rPr lang="en-US" sz="1150" dirty="0">
                <a:solidFill>
                  <a:srgbClr val="E6F2F5"/>
                </a:solidFill>
                <a:latin typeface="Calibri" pitchFamily="34" charset="0"/>
                <a:ea typeface="Calibri" pitchFamily="34" charset="-122"/>
                <a:cs typeface="Calibri" pitchFamily="34" charset="-120"/>
              </a:rPr>
              <a:t>React · :3000</a:t>
            </a:r>
            <a:endParaRPr lang="en-US" sz="1600" dirty="0"/>
          </a:p>
        </p:txBody>
      </p:sp>
      <p:sp>
        <p:nvSpPr>
          <p:cNvPr id="11" name="Shape 9"/>
          <p:cNvSpPr/>
          <p:nvPr/>
        </p:nvSpPr>
        <p:spPr>
          <a:xfrm>
            <a:off x="3429000" y="2743200"/>
            <a:ext cx="2286000" cy="868680"/>
          </a:xfrm>
          <a:prstGeom prst="roundRect">
            <a:avLst>
              <a:gd name="adj" fmla="val 8421"/>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12" name="Text 10"/>
          <p:cNvSpPr/>
          <p:nvPr/>
        </p:nvSpPr>
        <p:spPr>
          <a:xfrm>
            <a:off x="3429000" y="2743200"/>
            <a:ext cx="228600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Backend</a:t>
            </a:r>
            <a:endParaRPr lang="en-US" sz="1600" dirty="0"/>
          </a:p>
          <a:p>
            <a:pPr marL="0" indent="0" algn="ctr">
              <a:buNone/>
            </a:pPr>
            <a:r>
              <a:rPr lang="en-US" sz="1150" dirty="0">
                <a:solidFill>
                  <a:srgbClr val="E6F2F5"/>
                </a:solidFill>
                <a:latin typeface="Calibri" pitchFamily="34" charset="0"/>
                <a:ea typeface="Calibri" pitchFamily="34" charset="-122"/>
                <a:cs typeface="Calibri" pitchFamily="34" charset="-120"/>
              </a:rPr>
              <a:t>Go/Node · :8000</a:t>
            </a:r>
            <a:endParaRPr lang="en-US" sz="1600" dirty="0"/>
          </a:p>
        </p:txBody>
      </p:sp>
      <p:sp>
        <p:nvSpPr>
          <p:cNvPr id="13" name="Shape 11"/>
          <p:cNvSpPr/>
          <p:nvPr/>
        </p:nvSpPr>
        <p:spPr>
          <a:xfrm>
            <a:off x="2057400" y="3931920"/>
            <a:ext cx="2286000" cy="868680"/>
          </a:xfrm>
          <a:prstGeom prst="roundRect">
            <a:avLst>
              <a:gd name="adj" fmla="val 8421"/>
            </a:avLst>
          </a:prstGeom>
          <a:solidFill>
            <a:srgbClr val="13314F"/>
          </a:solidFill>
          <a:ln/>
          <a:effectLst>
            <a:outerShdw blurRad="76200" dist="38100" dir="5400000" algn="bl" rotWithShape="0">
              <a:srgbClr val="8DA0B0">
                <a:alpha val="35000"/>
              </a:srgbClr>
            </a:outerShdw>
          </a:effectLst>
        </p:spPr>
        <p:txBody>
          <a:bodyPr/>
          <a:lstStyle/>
          <a:p>
            <a:endParaRPr lang="en-US"/>
          </a:p>
        </p:txBody>
      </p:sp>
      <p:sp>
        <p:nvSpPr>
          <p:cNvPr id="14" name="Text 12"/>
          <p:cNvSpPr/>
          <p:nvPr/>
        </p:nvSpPr>
        <p:spPr>
          <a:xfrm>
            <a:off x="2057400" y="3931920"/>
            <a:ext cx="2286000" cy="8686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Database</a:t>
            </a:r>
            <a:endParaRPr lang="en-US" sz="1600" dirty="0"/>
          </a:p>
          <a:p>
            <a:pPr marL="0" indent="0" algn="ctr">
              <a:buNone/>
            </a:pPr>
            <a:r>
              <a:rPr lang="en-US" sz="1150" dirty="0">
                <a:solidFill>
                  <a:srgbClr val="E6F2F5"/>
                </a:solidFill>
                <a:latin typeface="Calibri" pitchFamily="34" charset="0"/>
                <a:ea typeface="Calibri" pitchFamily="34" charset="-122"/>
                <a:cs typeface="Calibri" pitchFamily="34" charset="-120"/>
              </a:rPr>
              <a:t>Postgres+volume</a:t>
            </a:r>
            <a:endParaRPr lang="en-US" sz="1600" dirty="0"/>
          </a:p>
        </p:txBody>
      </p:sp>
      <p:sp>
        <p:nvSpPr>
          <p:cNvPr id="15" name="Text 13"/>
          <p:cNvSpPr/>
          <p:nvPr/>
        </p:nvSpPr>
        <p:spPr>
          <a:xfrm>
            <a:off x="3017520" y="2743200"/>
            <a:ext cx="411480" cy="868680"/>
          </a:xfrm>
          <a:prstGeom prst="rect">
            <a:avLst/>
          </a:prstGeom>
          <a:noFill/>
          <a:ln/>
        </p:spPr>
        <p:txBody>
          <a:bodyPr wrap="square" rtlCol="0" anchor="ctr"/>
          <a:lstStyle/>
          <a:p>
            <a:pPr marL="0" indent="0" algn="ctr">
              <a:buNone/>
            </a:pPr>
            <a:r>
              <a:rPr lang="en-US" sz="2200" b="1" dirty="0">
                <a:solidFill>
                  <a:srgbClr val="27C6A6"/>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48640" y="4983480"/>
            <a:ext cx="5349240" cy="457200"/>
          </a:xfrm>
          <a:prstGeom prst="roundRect">
            <a:avLst>
              <a:gd name="adj" fmla="val 12000"/>
            </a:avLst>
          </a:prstGeom>
          <a:solidFill>
            <a:srgbClr val="EAF2F5"/>
          </a:solidFill>
          <a:ln w="12700">
            <a:solidFill>
              <a:srgbClr val="0E7C8B"/>
            </a:solidFill>
            <a:prstDash val="dash"/>
          </a:ln>
        </p:spPr>
        <p:txBody>
          <a:bodyPr/>
          <a:lstStyle/>
          <a:p>
            <a:endParaRPr lang="en-US"/>
          </a:p>
        </p:txBody>
      </p:sp>
      <p:sp>
        <p:nvSpPr>
          <p:cNvPr id="17" name="Text 15"/>
          <p:cNvSpPr/>
          <p:nvPr/>
        </p:nvSpPr>
        <p:spPr>
          <a:xfrm>
            <a:off x="548640" y="4983480"/>
            <a:ext cx="5349240" cy="457200"/>
          </a:xfrm>
          <a:prstGeom prst="rect">
            <a:avLst/>
          </a:prstGeom>
          <a:noFill/>
          <a:ln/>
        </p:spPr>
        <p:txBody>
          <a:bodyPr wrap="square" lIns="0" tIns="0" rIns="0" bIns="0" rtlCol="0" anchor="ctr"/>
          <a:lstStyle/>
          <a:p>
            <a:pPr marL="0" indent="0" algn="ctr">
              <a:buNone/>
            </a:pPr>
            <a:r>
              <a:rPr lang="en-US" sz="1150" dirty="0">
                <a:solidFill>
                  <a:srgbClr val="0E7C8B"/>
                </a:solidFill>
                <a:latin typeface="Consolas" pitchFamily="34" charset="0"/>
                <a:ea typeface="Consolas" pitchFamily="34" charset="-122"/>
                <a:cs typeface="Consolas" pitchFamily="34" charset="-120"/>
              </a:rPr>
              <a:t>network app-net · gọi nhau bằng TÊN service (DNS nội bộ)</a:t>
            </a:r>
            <a:endParaRPr lang="en-US" sz="1150" dirty="0"/>
          </a:p>
        </p:txBody>
      </p:sp>
      <p:sp>
        <p:nvSpPr>
          <p:cNvPr id="18" name="Shape 16"/>
          <p:cNvSpPr/>
          <p:nvPr/>
        </p:nvSpPr>
        <p:spPr>
          <a:xfrm>
            <a:off x="6126480" y="2286000"/>
            <a:ext cx="5513832" cy="3657600"/>
          </a:xfrm>
          <a:prstGeom prst="roundRect">
            <a:avLst>
              <a:gd name="adj" fmla="val 1750"/>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9" name="Text 17"/>
          <p:cNvSpPr/>
          <p:nvPr/>
        </p:nvSpPr>
        <p:spPr>
          <a:xfrm>
            <a:off x="6382512" y="2414016"/>
            <a:ext cx="5056632"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docker-compose.yml</a:t>
            </a:r>
            <a:endParaRPr lang="en-US" sz="1300" dirty="0"/>
          </a:p>
        </p:txBody>
      </p:sp>
      <p:sp>
        <p:nvSpPr>
          <p:cNvPr id="20" name="Text 18"/>
          <p:cNvSpPr/>
          <p:nvPr/>
        </p:nvSpPr>
        <p:spPr>
          <a:xfrm>
            <a:off x="6382512" y="2798064"/>
            <a:ext cx="5001768" cy="2999232"/>
          </a:xfrm>
          <a:prstGeom prst="rect">
            <a:avLst/>
          </a:prstGeom>
          <a:noFill/>
          <a:ln/>
        </p:spPr>
        <p:txBody>
          <a:bodyPr wrap="square" lIns="0" tIns="0" rIns="0" bIns="0" rtlCol="0" anchor="t"/>
          <a:lstStyle/>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services:</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frontend:</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build: ./frontend</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ports: ["3000:80"]</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depends_on: [backend]</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backend:</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build: ./backend</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db:</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image: postgres:16</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    volumes: [db-data:/var/lib/...]</a:t>
            </a:r>
            <a:endParaRPr lang="en-US" sz="1250" dirty="0"/>
          </a:p>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networks: { app-net: }</a:t>
            </a:r>
            <a:endParaRPr lang="en-US" sz="1250" dirty="0"/>
          </a:p>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volumes:  { db-data: }</a:t>
            </a:r>
            <a:endParaRPr lang="en-US" sz="1250" dirty="0"/>
          </a:p>
        </p:txBody>
      </p:sp>
      <p:sp>
        <p:nvSpPr>
          <p:cNvPr id="21" name="Text 19"/>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4 · Docker Compose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Shape 2"/>
          <p:cNvSpPr/>
          <p:nvPr/>
        </p:nvSpPr>
        <p:spPr>
          <a:xfrm>
            <a:off x="1627632" y="502920"/>
            <a:ext cx="2331720" cy="347472"/>
          </a:xfrm>
          <a:prstGeom prst="roundRect">
            <a:avLst>
              <a:gd name="adj" fmla="val 50000"/>
            </a:avLst>
          </a:prstGeom>
          <a:solidFill>
            <a:srgbClr val="0B2138"/>
          </a:solidFill>
          <a:ln/>
        </p:spPr>
        <p:txBody>
          <a:bodyPr/>
          <a:lstStyle/>
          <a:p>
            <a:endParaRPr lang="en-US"/>
          </a:p>
        </p:txBody>
      </p:sp>
      <p:sp>
        <p:nvSpPr>
          <p:cNvPr id="5" name="Text 3"/>
          <p:cNvSpPr/>
          <p:nvPr/>
        </p:nvSpPr>
        <p:spPr>
          <a:xfrm>
            <a:off x="1627632" y="502920"/>
            <a:ext cx="233172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CÁCH LÀM · LAB</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Multi-stage build &amp; Lab</a:t>
            </a:r>
            <a:endParaRPr lang="en-US" sz="2700" dirty="0"/>
          </a:p>
        </p:txBody>
      </p:sp>
      <p:sp>
        <p:nvSpPr>
          <p:cNvPr id="7" name="Shape 5"/>
          <p:cNvSpPr/>
          <p:nvPr/>
        </p:nvSpPr>
        <p:spPr>
          <a:xfrm>
            <a:off x="548640" y="1691640"/>
            <a:ext cx="5669280" cy="3246120"/>
          </a:xfrm>
          <a:prstGeom prst="roundRect">
            <a:avLst>
              <a:gd name="adj" fmla="val 1972"/>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8" name="Text 6"/>
          <p:cNvSpPr/>
          <p:nvPr/>
        </p:nvSpPr>
        <p:spPr>
          <a:xfrm>
            <a:off x="804672" y="1819656"/>
            <a:ext cx="5212080"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Dockerfile 2-phase (multi-stage)</a:t>
            </a:r>
            <a:endParaRPr lang="en-US" sz="1300" dirty="0"/>
          </a:p>
        </p:txBody>
      </p:sp>
      <p:sp>
        <p:nvSpPr>
          <p:cNvPr id="9" name="Text 7"/>
          <p:cNvSpPr/>
          <p:nvPr/>
        </p:nvSpPr>
        <p:spPr>
          <a:xfrm>
            <a:off x="804672" y="2203704"/>
            <a:ext cx="5157216" cy="2587752"/>
          </a:xfrm>
          <a:prstGeom prst="rect">
            <a:avLst/>
          </a:prstGeom>
          <a:noFill/>
          <a:ln/>
        </p:spPr>
        <p:txBody>
          <a:bodyPr wrap="square" lIns="0" tIns="0" rIns="0" bIns="0" rtlCol="0" anchor="t"/>
          <a:lstStyle/>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FROM node:20 AS build</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WORKDIR /app</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COPY package*.json ./</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RUN npm ci        # cache tốt</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COPY . .</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RUN npm run build</a:t>
            </a:r>
            <a:endParaRPr lang="en-US" sz="1250" dirty="0"/>
          </a:p>
          <a:p>
            <a:pPr marL="0" indent="0">
              <a:lnSpc>
                <a:spcPct val="103000"/>
              </a:lnSpc>
              <a:buNone/>
            </a:pP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FROM nginx:alpine AS runtime</a:t>
            </a:r>
            <a:endParaRPr lang="en-US" sz="1250" dirty="0"/>
          </a:p>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COPY --from=build /app/dist \</a:t>
            </a:r>
            <a:endParaRPr lang="en-US" sz="1250" dirty="0"/>
          </a:p>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  /usr/share/nginx/html</a:t>
            </a:r>
            <a:endParaRPr lang="en-US" sz="1250" dirty="0"/>
          </a:p>
        </p:txBody>
      </p:sp>
      <p:sp>
        <p:nvSpPr>
          <p:cNvPr id="10" name="Text 8"/>
          <p:cNvSpPr/>
          <p:nvPr/>
        </p:nvSpPr>
        <p:spPr>
          <a:xfrm>
            <a:off x="6492240" y="1691640"/>
            <a:ext cx="4937760" cy="411480"/>
          </a:xfrm>
          <a:prstGeom prst="rect">
            <a:avLst/>
          </a:prstGeom>
          <a:noFill/>
          <a:ln/>
        </p:spPr>
        <p:txBody>
          <a:bodyPr wrap="square" lIns="0" tIns="0" rIns="0" bIns="0" rtlCol="0" anchor="ctr"/>
          <a:lstStyle/>
          <a:p>
            <a:pPr marL="0" indent="0">
              <a:buNone/>
            </a:pPr>
            <a:r>
              <a:rPr lang="en-US" sz="1900" b="1" dirty="0">
                <a:solidFill>
                  <a:srgbClr val="0E7C8B"/>
                </a:solidFill>
                <a:latin typeface="Cambria" pitchFamily="34" charset="0"/>
                <a:ea typeface="Cambria" pitchFamily="34" charset="-122"/>
                <a:cs typeface="Cambria" pitchFamily="34" charset="-120"/>
              </a:rPr>
              <a:t>🧪  Practices</a:t>
            </a:r>
            <a:endParaRPr lang="en-US" sz="1900" dirty="0"/>
          </a:p>
        </p:txBody>
      </p:sp>
      <p:sp>
        <p:nvSpPr>
          <p:cNvPr id="11" name="Shape 9"/>
          <p:cNvSpPr/>
          <p:nvPr/>
        </p:nvSpPr>
        <p:spPr>
          <a:xfrm>
            <a:off x="6492240" y="2194560"/>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2" name="Text 10"/>
          <p:cNvSpPr/>
          <p:nvPr/>
        </p:nvSpPr>
        <p:spPr>
          <a:xfrm>
            <a:off x="649224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3" name="Text 11"/>
          <p:cNvSpPr/>
          <p:nvPr/>
        </p:nvSpPr>
        <p:spPr>
          <a:xfrm>
            <a:off x="7077456" y="2148840"/>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Dockerfile cho Backend &amp; Frontend</a:t>
            </a:r>
            <a:endParaRPr lang="en-US" sz="1400" dirty="0"/>
          </a:p>
        </p:txBody>
      </p:sp>
      <p:sp>
        <p:nvSpPr>
          <p:cNvPr id="14" name="Shape 12"/>
          <p:cNvSpPr/>
          <p:nvPr/>
        </p:nvSpPr>
        <p:spPr>
          <a:xfrm>
            <a:off x="6492240" y="2816352"/>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6492240" y="2816352"/>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p:nvPr/>
        </p:nvSpPr>
        <p:spPr>
          <a:xfrm>
            <a:off x="7077456" y="2770632"/>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Network để Frontend ↔ Backend</a:t>
            </a:r>
            <a:endParaRPr lang="en-US" sz="1400" dirty="0"/>
          </a:p>
        </p:txBody>
      </p:sp>
      <p:sp>
        <p:nvSpPr>
          <p:cNvPr id="17" name="Shape 15"/>
          <p:cNvSpPr/>
          <p:nvPr/>
        </p:nvSpPr>
        <p:spPr>
          <a:xfrm>
            <a:off x="6492240" y="3438144"/>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8" name="Text 16"/>
          <p:cNvSpPr/>
          <p:nvPr/>
        </p:nvSpPr>
        <p:spPr>
          <a:xfrm>
            <a:off x="6492240" y="3438144"/>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7077456" y="3392424"/>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Dùng volume để backup database</a:t>
            </a:r>
            <a:endParaRPr lang="en-US" sz="1400" dirty="0"/>
          </a:p>
        </p:txBody>
      </p:sp>
      <p:sp>
        <p:nvSpPr>
          <p:cNvPr id="20" name="Shape 18"/>
          <p:cNvSpPr/>
          <p:nvPr/>
        </p:nvSpPr>
        <p:spPr>
          <a:xfrm>
            <a:off x="6492240" y="4059936"/>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1" name="Text 19"/>
          <p:cNvSpPr/>
          <p:nvPr/>
        </p:nvSpPr>
        <p:spPr>
          <a:xfrm>
            <a:off x="6492240" y="405993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077456" y="4014216"/>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docker commit vs build (so sánh)</a:t>
            </a:r>
            <a:endParaRPr lang="en-US" sz="1400" dirty="0"/>
          </a:p>
        </p:txBody>
      </p:sp>
      <p:sp>
        <p:nvSpPr>
          <p:cNvPr id="23" name="Shape 21"/>
          <p:cNvSpPr/>
          <p:nvPr/>
        </p:nvSpPr>
        <p:spPr>
          <a:xfrm>
            <a:off x="6492240" y="4681728"/>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4" name="Text 22"/>
          <p:cNvSpPr/>
          <p:nvPr/>
        </p:nvSpPr>
        <p:spPr>
          <a:xfrm>
            <a:off x="6492240" y="468172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5" name="Text 23"/>
          <p:cNvSpPr/>
          <p:nvPr/>
        </p:nvSpPr>
        <p:spPr>
          <a:xfrm>
            <a:off x="7077456" y="4636008"/>
            <a:ext cx="457200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docker compose up — chạy end-to-end</a:t>
            </a:r>
            <a:endParaRPr lang="en-US" sz="1400" dirty="0"/>
          </a:p>
        </p:txBody>
      </p:sp>
      <p:sp>
        <p:nvSpPr>
          <p:cNvPr id="26" name="Shape 24"/>
          <p:cNvSpPr/>
          <p:nvPr/>
        </p:nvSpPr>
        <p:spPr>
          <a:xfrm>
            <a:off x="6492240" y="4892040"/>
            <a:ext cx="5120640" cy="1143000"/>
          </a:xfrm>
          <a:prstGeom prst="roundRect">
            <a:avLst>
              <a:gd name="adj" fmla="val 6400"/>
            </a:avLst>
          </a:prstGeom>
          <a:solidFill>
            <a:srgbClr val="FBF3E4"/>
          </a:solidFill>
          <a:ln w="16510">
            <a:solidFill>
              <a:srgbClr val="C77D1A"/>
            </a:solidFill>
            <a:prstDash val="solid"/>
          </a:ln>
          <a:effectLst>
            <a:outerShdw blurRad="76200" dist="38100" dir="5400000" algn="bl" rotWithShape="0">
              <a:srgbClr val="8DA0B0">
                <a:alpha val="35000"/>
              </a:srgbClr>
            </a:outerShdw>
          </a:effectLst>
        </p:spPr>
        <p:txBody>
          <a:bodyPr/>
          <a:lstStyle/>
          <a:p>
            <a:endParaRPr lang="en-US"/>
          </a:p>
        </p:txBody>
      </p:sp>
      <p:sp>
        <p:nvSpPr>
          <p:cNvPr id="27" name="Text 25"/>
          <p:cNvSpPr/>
          <p:nvPr/>
        </p:nvSpPr>
        <p:spPr>
          <a:xfrm>
            <a:off x="6766560" y="5056632"/>
            <a:ext cx="4572000" cy="813816"/>
          </a:xfrm>
          <a:prstGeom prst="rect">
            <a:avLst/>
          </a:prstGeom>
          <a:noFill/>
          <a:ln/>
        </p:spPr>
        <p:txBody>
          <a:bodyPr wrap="square" lIns="0" tIns="0" rIns="0" bIns="0" rtlCol="0" anchor="ctr"/>
          <a:lstStyle/>
          <a:p>
            <a:pPr marL="0" indent="0">
              <a:lnSpc>
                <a:spcPct val="115000"/>
              </a:lnSpc>
              <a:buNone/>
            </a:pPr>
            <a:r>
              <a:rPr lang="en-US" sz="1400" b="1" dirty="0">
                <a:solidFill>
                  <a:srgbClr val="C77D1A"/>
                </a:solidFill>
                <a:latin typeface="Calibri" pitchFamily="34" charset="0"/>
                <a:ea typeface="Calibri" pitchFamily="34" charset="-122"/>
                <a:cs typeface="Calibri" pitchFamily="34" charset="-120"/>
              </a:rPr>
              <a:t>VÌ SAO?  </a:t>
            </a:r>
            <a:r>
              <a:rPr lang="en-US" sz="1400" dirty="0">
                <a:solidFill>
                  <a:srgbClr val="6E4E14"/>
                </a:solidFill>
                <a:latin typeface="Calibri" pitchFamily="34" charset="0"/>
                <a:ea typeface="Calibri" pitchFamily="34" charset="-122"/>
                <a:cs typeface="Calibri" pitchFamily="34" charset="-120"/>
              </a:rPr>
              <a:t>Đặt thứ ít đổi (package.json) lên trên, thứ hay đổi (source) xuống dưới → tận dụng cache layer, build nhanh hàng phút.</a:t>
            </a:r>
            <a:endParaRPr lang="en-US" sz="1400" dirty="0"/>
          </a:p>
        </p:txBody>
      </p:sp>
      <p:sp>
        <p:nvSpPr>
          <p:cNvPr id="28" name="Text 26"/>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4 · Docker Compose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138"/>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27C6A6"/>
          </a:solidFill>
          <a:ln w="254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0B2138"/>
                </a:solidFill>
                <a:latin typeface="Cambria" pitchFamily="34" charset="0"/>
                <a:ea typeface="Cambria" pitchFamily="34" charset="-122"/>
                <a:cs typeface="Cambria" pitchFamily="34" charset="-120"/>
              </a:rPr>
              <a:t>4</a:t>
            </a:r>
            <a:endParaRPr lang="en-US" sz="2200" dirty="0"/>
          </a:p>
        </p:txBody>
      </p:sp>
      <p:sp>
        <p:nvSpPr>
          <p:cNvPr id="4" name="Shape 2"/>
          <p:cNvSpPr/>
          <p:nvPr/>
        </p:nvSpPr>
        <p:spPr>
          <a:xfrm>
            <a:off x="1627632" y="502920"/>
            <a:ext cx="3063240" cy="347472"/>
          </a:xfrm>
          <a:prstGeom prst="roundRect">
            <a:avLst>
              <a:gd name="adj" fmla="val 50000"/>
            </a:avLst>
          </a:prstGeom>
          <a:solidFill>
            <a:srgbClr val="C77D1A"/>
          </a:solidFill>
          <a:ln/>
        </p:spPr>
        <p:txBody>
          <a:bodyPr/>
          <a:lstStyle/>
          <a:p>
            <a:endParaRPr lang="en-US"/>
          </a:p>
        </p:txBody>
      </p:sp>
      <p:sp>
        <p:nvSpPr>
          <p:cNvPr id="5" name="Text 3"/>
          <p:cNvSpPr/>
          <p:nvPr/>
        </p:nvSpPr>
        <p:spPr>
          <a:xfrm>
            <a:off x="1627632" y="502920"/>
            <a:ext cx="30632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VAI TRÒ TRONG DEVOPS</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Compose: IaC cho môi trường</a:t>
            </a:r>
            <a:endParaRPr lang="en-US" sz="2700" dirty="0"/>
          </a:p>
        </p:txBody>
      </p:sp>
      <p:sp>
        <p:nvSpPr>
          <p:cNvPr id="7" name="Text 5"/>
          <p:cNvSpPr/>
          <p:nvPr/>
        </p:nvSpPr>
        <p:spPr>
          <a:xfrm>
            <a:off x="548640" y="1645920"/>
            <a:ext cx="10972800" cy="548640"/>
          </a:xfrm>
          <a:prstGeom prst="rect">
            <a:avLst/>
          </a:prstGeom>
          <a:noFill/>
          <a:ln/>
        </p:spPr>
        <p:txBody>
          <a:bodyPr wrap="square" lIns="0" tIns="0" rIns="0" bIns="0" rtlCol="0" anchor="ctr"/>
          <a:lstStyle/>
          <a:p>
            <a:pPr marL="0" indent="0">
              <a:buNone/>
            </a:pPr>
            <a:r>
              <a:rPr lang="en-US" sz="1600" i="1" dirty="0">
                <a:solidFill>
                  <a:srgbClr val="AFC6D4"/>
                </a:solidFill>
                <a:latin typeface="Calibri" pitchFamily="34" charset="0"/>
                <a:ea typeface="Calibri" pitchFamily="34" charset="-122"/>
                <a:cs typeface="Calibri" pitchFamily="34" charset="-120"/>
              </a:rPr>
              <a:t>File thì version được trong Git, review được, và là tài liệu sống luôn đúng thực tế. Người mới chỉ cần clone + compose up là có nguyên môi trường.</a:t>
            </a:r>
            <a:endParaRPr lang="en-US" sz="1600" dirty="0"/>
          </a:p>
        </p:txBody>
      </p:sp>
      <p:sp>
        <p:nvSpPr>
          <p:cNvPr id="8" name="Shape 6"/>
          <p:cNvSpPr/>
          <p:nvPr/>
        </p:nvSpPr>
        <p:spPr>
          <a:xfrm>
            <a:off x="548640"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9" name="Shape 7"/>
          <p:cNvSpPr/>
          <p:nvPr/>
        </p:nvSpPr>
        <p:spPr>
          <a:xfrm>
            <a:off x="822960"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822960"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804672" y="3456432"/>
            <a:ext cx="3063240" cy="8229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Dev = Prod</a:t>
            </a:r>
            <a:endParaRPr lang="en-US" sz="1700" dirty="0"/>
          </a:p>
        </p:txBody>
      </p:sp>
      <p:sp>
        <p:nvSpPr>
          <p:cNvPr id="12" name="Text 10"/>
          <p:cNvSpPr/>
          <p:nvPr/>
        </p:nvSpPr>
        <p:spPr>
          <a:xfrm>
            <a:off x="804672"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Cùng một mô tả dựng ra môi trường giống nhau khắp nơi.</a:t>
            </a:r>
            <a:endParaRPr lang="en-US" sz="1350" dirty="0"/>
          </a:p>
        </p:txBody>
      </p:sp>
      <p:sp>
        <p:nvSpPr>
          <p:cNvPr id="13" name="Shape 11"/>
          <p:cNvSpPr/>
          <p:nvPr/>
        </p:nvSpPr>
        <p:spPr>
          <a:xfrm>
            <a:off x="4306824"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4" name="Shape 12"/>
          <p:cNvSpPr/>
          <p:nvPr/>
        </p:nvSpPr>
        <p:spPr>
          <a:xfrm>
            <a:off x="4581144"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4581144"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4562856" y="3456432"/>
            <a:ext cx="3063240" cy="8229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Image nhỏ, an toàn</a:t>
            </a:r>
            <a:endParaRPr lang="en-US" sz="1700" dirty="0"/>
          </a:p>
        </p:txBody>
      </p:sp>
      <p:sp>
        <p:nvSpPr>
          <p:cNvPr id="17" name="Text 15"/>
          <p:cNvSpPr/>
          <p:nvPr/>
        </p:nvSpPr>
        <p:spPr>
          <a:xfrm>
            <a:off x="4562856"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Multi-stage vứt toolchain build → pull nhanh, ít lỗ hổng.</a:t>
            </a:r>
            <a:endParaRPr lang="en-US" sz="1350" dirty="0"/>
          </a:p>
        </p:txBody>
      </p:sp>
      <p:sp>
        <p:nvSpPr>
          <p:cNvPr id="18" name="Shape 16"/>
          <p:cNvSpPr/>
          <p:nvPr/>
        </p:nvSpPr>
        <p:spPr>
          <a:xfrm>
            <a:off x="8065008" y="2377440"/>
            <a:ext cx="3566160" cy="2834640"/>
          </a:xfrm>
          <a:prstGeom prst="roundRect">
            <a:avLst>
              <a:gd name="adj" fmla="val 3226"/>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9" name="Shape 17"/>
          <p:cNvSpPr/>
          <p:nvPr/>
        </p:nvSpPr>
        <p:spPr>
          <a:xfrm>
            <a:off x="8339328" y="267004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0" name="Text 18"/>
          <p:cNvSpPr/>
          <p:nvPr/>
        </p:nvSpPr>
        <p:spPr>
          <a:xfrm>
            <a:off x="8339328" y="267004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8321040" y="3456432"/>
            <a:ext cx="3063240" cy="8229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Cầu nối lên cluster</a:t>
            </a:r>
            <a:endParaRPr lang="en-US" sz="1700" dirty="0"/>
          </a:p>
        </p:txBody>
      </p:sp>
      <p:sp>
        <p:nvSpPr>
          <p:cNvPr id="22" name="Text 20"/>
          <p:cNvSpPr/>
          <p:nvPr/>
        </p:nvSpPr>
        <p:spPr>
          <a:xfrm>
            <a:off x="8321040" y="4251960"/>
            <a:ext cx="3063240" cy="868680"/>
          </a:xfrm>
          <a:prstGeom prst="rect">
            <a:avLst/>
          </a:prstGeom>
          <a:noFill/>
          <a:ln/>
        </p:spPr>
        <p:txBody>
          <a:bodyPr wrap="square" lIns="0" tIns="0" rIns="0" bIns="0" rtlCol="0" anchor="ctr"/>
          <a:lstStyle/>
          <a:p>
            <a:pPr marL="0" indent="0">
              <a:lnSpc>
                <a:spcPct val="115000"/>
              </a:lnSpc>
              <a:buNone/>
            </a:pPr>
            <a:r>
              <a:rPr lang="en-US" sz="1350" dirty="0">
                <a:solidFill>
                  <a:srgbClr val="CFE3EC"/>
                </a:solidFill>
                <a:latin typeface="Calibri" pitchFamily="34" charset="0"/>
                <a:ea typeface="Calibri" pitchFamily="34" charset="-122"/>
                <a:cs typeface="Calibri" pitchFamily="34" charset="-120"/>
              </a:rPr>
              <a:t>Chính file Compose sẽ được dùng lại cho docker stack deploy (Swarm).</a:t>
            </a:r>
            <a:endParaRPr lang="en-US" sz="1350" dirty="0"/>
          </a:p>
        </p:txBody>
      </p:sp>
      <p:sp>
        <p:nvSpPr>
          <p:cNvPr id="23" name="Text 21"/>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6E8598"/>
                </a:solidFill>
                <a:latin typeface="Calibri" pitchFamily="34" charset="0"/>
                <a:ea typeface="Calibri" pitchFamily="34" charset="-122"/>
                <a:cs typeface="Calibri" pitchFamily="34" charset="-120"/>
              </a:rPr>
              <a:t>Session 4 · Docker Compose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 name="Shape 2"/>
          <p:cNvSpPr/>
          <p:nvPr/>
        </p:nvSpPr>
        <p:spPr>
          <a:xfrm>
            <a:off x="1627632" y="502920"/>
            <a:ext cx="1234440" cy="347472"/>
          </a:xfrm>
          <a:prstGeom prst="roundRect">
            <a:avLst>
              <a:gd name="adj" fmla="val 50000"/>
            </a:avLst>
          </a:prstGeom>
          <a:solidFill>
            <a:srgbClr val="0E7C8B"/>
          </a:solidFill>
          <a:ln/>
        </p:spPr>
        <p:txBody>
          <a:bodyPr/>
          <a:lstStyle/>
          <a:p>
            <a:endParaRPr lang="en-US"/>
          </a:p>
        </p:txBody>
      </p:sp>
      <p:sp>
        <p:nvSpPr>
          <p:cNvPr id="5" name="Text 3"/>
          <p:cNvSpPr/>
          <p:nvPr/>
        </p:nvSpPr>
        <p:spPr>
          <a:xfrm>
            <a:off x="1627632" y="502920"/>
            <a:ext cx="12344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LÀ GÌ</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Cluster &amp; Docker Swarm là gì?</a:t>
            </a:r>
            <a:endParaRPr lang="en-US" sz="2700" dirty="0"/>
          </a:p>
        </p:txBody>
      </p:sp>
      <p:sp>
        <p:nvSpPr>
          <p:cNvPr id="7" name="Text 5"/>
          <p:cNvSpPr/>
          <p:nvPr/>
        </p:nvSpPr>
        <p:spPr>
          <a:xfrm>
            <a:off x="548640" y="1600200"/>
            <a:ext cx="11064240" cy="548640"/>
          </a:xfrm>
          <a:prstGeom prst="rect">
            <a:avLst/>
          </a:prstGeom>
          <a:noFill/>
          <a:ln/>
        </p:spPr>
        <p:txBody>
          <a:bodyPr wrap="square" lIns="0" tIns="0" rIns="0" bIns="0" rtlCol="0" anchor="ctr"/>
          <a:lstStyle/>
          <a:p>
            <a:pPr marL="0" indent="0">
              <a:buNone/>
            </a:pPr>
            <a:r>
              <a:rPr lang="en-US" sz="1550" i="1" dirty="0">
                <a:solidFill>
                  <a:srgbClr val="5C7186"/>
                </a:solidFill>
                <a:latin typeface="Calibri" pitchFamily="34" charset="0"/>
                <a:ea typeface="Calibri" pitchFamily="34" charset="-122"/>
                <a:cs typeface="Calibri" pitchFamily="34" charset="-120"/>
              </a:rPr>
              <a:t>Orchestration biến nhiều máy rời rạc thành một cụm hoạt động như một khối: tự lập lịch, tự lành, tự scale. Swarm là bản tích hợp sẵn, dễ học nhất.</a:t>
            </a:r>
            <a:endParaRPr lang="en-US" sz="1550" dirty="0"/>
          </a:p>
        </p:txBody>
      </p:sp>
      <p:sp>
        <p:nvSpPr>
          <p:cNvPr id="8" name="Shape 6"/>
          <p:cNvSpPr/>
          <p:nvPr/>
        </p:nvSpPr>
        <p:spPr>
          <a:xfrm>
            <a:off x="1554480" y="2331720"/>
            <a:ext cx="2743200" cy="777240"/>
          </a:xfrm>
          <a:prstGeom prst="roundRect">
            <a:avLst>
              <a:gd name="adj" fmla="val 9412"/>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9" name="Text 7"/>
          <p:cNvSpPr/>
          <p:nvPr/>
        </p:nvSpPr>
        <p:spPr>
          <a:xfrm>
            <a:off x="1554480" y="2331720"/>
            <a:ext cx="2743200" cy="7772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MANAGER</a:t>
            </a:r>
            <a:endParaRPr lang="en-US" sz="1500" dirty="0"/>
          </a:p>
          <a:p>
            <a:pPr marL="0" indent="0" algn="ctr">
              <a:buNone/>
            </a:pPr>
            <a:r>
              <a:rPr lang="en-US" sz="1100" dirty="0">
                <a:solidFill>
                  <a:srgbClr val="AFC6D4"/>
                </a:solidFill>
                <a:latin typeface="Calibri" pitchFamily="34" charset="0"/>
                <a:ea typeface="Calibri" pitchFamily="34" charset="-122"/>
                <a:cs typeface="Calibri" pitchFamily="34" charset="-120"/>
              </a:rPr>
              <a:t>giữ desired state</a:t>
            </a:r>
            <a:endParaRPr lang="en-US" sz="1500" dirty="0"/>
          </a:p>
        </p:txBody>
      </p:sp>
      <p:sp>
        <p:nvSpPr>
          <p:cNvPr id="10" name="Shape 8"/>
          <p:cNvSpPr/>
          <p:nvPr/>
        </p:nvSpPr>
        <p:spPr>
          <a:xfrm>
            <a:off x="594360" y="3611880"/>
            <a:ext cx="1417320" cy="640080"/>
          </a:xfrm>
          <a:prstGeom prst="roundRect">
            <a:avLst>
              <a:gd name="adj" fmla="val 11429"/>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11" name="Text 9"/>
          <p:cNvSpPr/>
          <p:nvPr/>
        </p:nvSpPr>
        <p:spPr>
          <a:xfrm>
            <a:off x="594360" y="3611880"/>
            <a:ext cx="1417320" cy="6400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Worker 1</a:t>
            </a:r>
            <a:endParaRPr lang="en-US" sz="1250" dirty="0"/>
          </a:p>
        </p:txBody>
      </p:sp>
      <p:sp>
        <p:nvSpPr>
          <p:cNvPr id="12" name="Shape 10"/>
          <p:cNvSpPr/>
          <p:nvPr/>
        </p:nvSpPr>
        <p:spPr>
          <a:xfrm>
            <a:off x="2194560" y="3611880"/>
            <a:ext cx="1417320" cy="640080"/>
          </a:xfrm>
          <a:prstGeom prst="roundRect">
            <a:avLst>
              <a:gd name="adj" fmla="val 11429"/>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13" name="Text 11"/>
          <p:cNvSpPr/>
          <p:nvPr/>
        </p:nvSpPr>
        <p:spPr>
          <a:xfrm>
            <a:off x="2194560" y="3611880"/>
            <a:ext cx="1417320" cy="6400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Worker 2</a:t>
            </a:r>
            <a:endParaRPr lang="en-US" sz="1250" dirty="0"/>
          </a:p>
        </p:txBody>
      </p:sp>
      <p:sp>
        <p:nvSpPr>
          <p:cNvPr id="14" name="Shape 12"/>
          <p:cNvSpPr/>
          <p:nvPr/>
        </p:nvSpPr>
        <p:spPr>
          <a:xfrm>
            <a:off x="3794760" y="3611880"/>
            <a:ext cx="1417320" cy="640080"/>
          </a:xfrm>
          <a:prstGeom prst="roundRect">
            <a:avLst>
              <a:gd name="adj" fmla="val 11429"/>
            </a:avLst>
          </a:prstGeom>
          <a:solidFill>
            <a:srgbClr val="0E7C8B"/>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3794760" y="3611880"/>
            <a:ext cx="1417320" cy="6400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Worker 3</a:t>
            </a:r>
            <a:endParaRPr lang="en-US" sz="1250" dirty="0"/>
          </a:p>
        </p:txBody>
      </p:sp>
      <p:sp>
        <p:nvSpPr>
          <p:cNvPr id="16" name="Text 14"/>
          <p:cNvSpPr/>
          <p:nvPr/>
        </p:nvSpPr>
        <p:spPr>
          <a:xfrm>
            <a:off x="1554480" y="3127248"/>
            <a:ext cx="2743200" cy="457200"/>
          </a:xfrm>
          <a:prstGeom prst="rect">
            <a:avLst/>
          </a:prstGeom>
          <a:noFill/>
          <a:ln/>
        </p:spPr>
        <p:txBody>
          <a:bodyPr wrap="square" rtlCol="0" anchor="ctr"/>
          <a:lstStyle/>
          <a:p>
            <a:pPr marL="0" indent="0" algn="ctr">
              <a:buNone/>
            </a:pPr>
            <a:r>
              <a:rPr lang="en-US" sz="1100" i="1" dirty="0">
                <a:solidFill>
                  <a:srgbClr val="5C7186"/>
                </a:solidFill>
                <a:latin typeface="Calibri" pitchFamily="34" charset="0"/>
                <a:ea typeface="Calibri" pitchFamily="34" charset="-122"/>
                <a:cs typeface="Calibri" pitchFamily="34" charset="-120"/>
              </a:rPr>
              <a:t>↓ giao task ↓</a:t>
            </a:r>
            <a:endParaRPr lang="en-US" sz="1100" dirty="0"/>
          </a:p>
        </p:txBody>
      </p:sp>
      <p:sp>
        <p:nvSpPr>
          <p:cNvPr id="17" name="Shape 15"/>
          <p:cNvSpPr/>
          <p:nvPr/>
        </p:nvSpPr>
        <p:spPr>
          <a:xfrm>
            <a:off x="6126480" y="2286000"/>
            <a:ext cx="5513832" cy="2651760"/>
          </a:xfrm>
          <a:prstGeom prst="roundRect">
            <a:avLst>
              <a:gd name="adj" fmla="val 2759"/>
            </a:avLst>
          </a:prstGeom>
          <a:solidFill>
            <a:srgbClr val="FFFFFF"/>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18" name="Text 16"/>
          <p:cNvSpPr/>
          <p:nvPr/>
        </p:nvSpPr>
        <p:spPr>
          <a:xfrm>
            <a:off x="6309360" y="2450592"/>
            <a:ext cx="1828800" cy="548640"/>
          </a:xfrm>
          <a:prstGeom prst="rect">
            <a:avLst/>
          </a:prstGeom>
          <a:noFill/>
          <a:ln/>
        </p:spPr>
        <p:txBody>
          <a:bodyPr wrap="square" lIns="0" tIns="0" rIns="0" bIns="0" rtlCol="0" anchor="ctr"/>
          <a:lstStyle/>
          <a:p>
            <a:pPr marL="0" indent="0" algn="l">
              <a:buNone/>
            </a:pPr>
            <a:endParaRPr lang="en-US" sz="1300" dirty="0"/>
          </a:p>
        </p:txBody>
      </p:sp>
      <p:sp>
        <p:nvSpPr>
          <p:cNvPr id="19" name="Text 17"/>
          <p:cNvSpPr/>
          <p:nvPr/>
        </p:nvSpPr>
        <p:spPr>
          <a:xfrm>
            <a:off x="8138160" y="2450592"/>
            <a:ext cx="1143000" cy="548640"/>
          </a:xfrm>
          <a:prstGeom prst="rect">
            <a:avLst/>
          </a:prstGeom>
          <a:noFill/>
          <a:ln/>
        </p:spPr>
        <p:txBody>
          <a:bodyPr wrap="square" lIns="0" tIns="0" rIns="0" bIns="0" rtlCol="0" anchor="ctr"/>
          <a:lstStyle/>
          <a:p>
            <a:pPr marL="0" indent="0" algn="ctr">
              <a:buNone/>
            </a:pPr>
            <a:r>
              <a:rPr lang="en-US" sz="1350" b="1" dirty="0">
                <a:solidFill>
                  <a:srgbClr val="0E7C8B"/>
                </a:solidFill>
                <a:latin typeface="Calibri" pitchFamily="34" charset="0"/>
                <a:ea typeface="Calibri" pitchFamily="34" charset="-122"/>
                <a:cs typeface="Calibri" pitchFamily="34" charset="-120"/>
              </a:rPr>
              <a:t>Swarm</a:t>
            </a:r>
            <a:endParaRPr lang="en-US" sz="1350" dirty="0"/>
          </a:p>
        </p:txBody>
      </p:sp>
      <p:sp>
        <p:nvSpPr>
          <p:cNvPr id="20" name="Text 18"/>
          <p:cNvSpPr/>
          <p:nvPr/>
        </p:nvSpPr>
        <p:spPr>
          <a:xfrm>
            <a:off x="9281160" y="2450592"/>
            <a:ext cx="1051560" cy="548640"/>
          </a:xfrm>
          <a:prstGeom prst="rect">
            <a:avLst/>
          </a:prstGeom>
          <a:noFill/>
          <a:ln/>
        </p:spPr>
        <p:txBody>
          <a:bodyPr wrap="square" lIns="0" tIns="0" rIns="0" bIns="0" rtlCol="0" anchor="ctr"/>
          <a:lstStyle/>
          <a:p>
            <a:pPr marL="0" indent="0" algn="ctr">
              <a:buNone/>
            </a:pPr>
            <a:r>
              <a:rPr lang="en-US" sz="1350" b="1" dirty="0">
                <a:solidFill>
                  <a:srgbClr val="0E7C8B"/>
                </a:solidFill>
                <a:latin typeface="Calibri" pitchFamily="34" charset="0"/>
                <a:ea typeface="Calibri" pitchFamily="34" charset="-122"/>
                <a:cs typeface="Calibri" pitchFamily="34" charset="-120"/>
              </a:rPr>
              <a:t>K8s</a:t>
            </a:r>
            <a:endParaRPr lang="en-US" sz="1350" dirty="0"/>
          </a:p>
        </p:txBody>
      </p:sp>
      <p:sp>
        <p:nvSpPr>
          <p:cNvPr id="21" name="Text 19"/>
          <p:cNvSpPr/>
          <p:nvPr/>
        </p:nvSpPr>
        <p:spPr>
          <a:xfrm>
            <a:off x="10332720" y="2450592"/>
            <a:ext cx="1097280" cy="548640"/>
          </a:xfrm>
          <a:prstGeom prst="rect">
            <a:avLst/>
          </a:prstGeom>
          <a:noFill/>
          <a:ln/>
        </p:spPr>
        <p:txBody>
          <a:bodyPr wrap="square" lIns="0" tIns="0" rIns="0" bIns="0" rtlCol="0" anchor="ctr"/>
          <a:lstStyle/>
          <a:p>
            <a:pPr marL="0" indent="0" algn="ctr">
              <a:buNone/>
            </a:pPr>
            <a:r>
              <a:rPr lang="en-US" sz="1350" b="1" dirty="0">
                <a:solidFill>
                  <a:srgbClr val="0E7C8B"/>
                </a:solidFill>
                <a:latin typeface="Calibri" pitchFamily="34" charset="0"/>
                <a:ea typeface="Calibri" pitchFamily="34" charset="-122"/>
                <a:cs typeface="Calibri" pitchFamily="34" charset="-120"/>
              </a:rPr>
              <a:t>Nomad</a:t>
            </a:r>
            <a:endParaRPr lang="en-US" sz="1350" dirty="0"/>
          </a:p>
        </p:txBody>
      </p:sp>
      <p:sp>
        <p:nvSpPr>
          <p:cNvPr id="22" name="Shape 20"/>
          <p:cNvSpPr/>
          <p:nvPr/>
        </p:nvSpPr>
        <p:spPr>
          <a:xfrm>
            <a:off x="6309360" y="3017520"/>
            <a:ext cx="5120640" cy="0"/>
          </a:xfrm>
          <a:prstGeom prst="line">
            <a:avLst/>
          </a:prstGeom>
          <a:noFill/>
          <a:ln w="12700">
            <a:solidFill>
              <a:srgbClr val="DCE6EC"/>
            </a:solidFill>
            <a:prstDash val="solid"/>
          </a:ln>
        </p:spPr>
        <p:txBody>
          <a:bodyPr/>
          <a:lstStyle/>
          <a:p>
            <a:endParaRPr lang="en-US"/>
          </a:p>
        </p:txBody>
      </p:sp>
      <p:sp>
        <p:nvSpPr>
          <p:cNvPr id="23" name="Text 21"/>
          <p:cNvSpPr/>
          <p:nvPr/>
        </p:nvSpPr>
        <p:spPr>
          <a:xfrm>
            <a:off x="6309360" y="3108960"/>
            <a:ext cx="1828800" cy="548640"/>
          </a:xfrm>
          <a:prstGeom prst="rect">
            <a:avLst/>
          </a:prstGeom>
          <a:noFill/>
          <a:ln/>
        </p:spPr>
        <p:txBody>
          <a:bodyPr wrap="square" lIns="0" tIns="0" rIns="0" bIns="0" rtlCol="0" anchor="ctr"/>
          <a:lstStyle/>
          <a:p>
            <a:pPr marL="0" indent="0" algn="l">
              <a:buNone/>
            </a:pPr>
            <a:r>
              <a:rPr lang="en-US" sz="1300" b="1" dirty="0">
                <a:solidFill>
                  <a:srgbClr val="16273A"/>
                </a:solidFill>
                <a:latin typeface="Calibri" pitchFamily="34" charset="0"/>
                <a:ea typeface="Calibri" pitchFamily="34" charset="-122"/>
                <a:cs typeface="Calibri" pitchFamily="34" charset="-120"/>
              </a:rPr>
              <a:t>Độ phức tạp</a:t>
            </a:r>
            <a:endParaRPr lang="en-US" sz="1300" dirty="0"/>
          </a:p>
        </p:txBody>
      </p:sp>
      <p:sp>
        <p:nvSpPr>
          <p:cNvPr id="24" name="Text 22"/>
          <p:cNvSpPr/>
          <p:nvPr/>
        </p:nvSpPr>
        <p:spPr>
          <a:xfrm>
            <a:off x="8138160" y="3108960"/>
            <a:ext cx="1143000" cy="548640"/>
          </a:xfrm>
          <a:prstGeom prst="rect">
            <a:avLst/>
          </a:prstGeom>
          <a:noFill/>
          <a:ln/>
        </p:spPr>
        <p:txBody>
          <a:bodyPr wrap="square" lIns="0" tIns="0" rIns="0" bIns="0" rtlCol="0" anchor="ctr"/>
          <a:lstStyle/>
          <a:p>
            <a:pPr marL="0" indent="0" algn="ctr">
              <a:buNone/>
            </a:pPr>
            <a:r>
              <a:rPr lang="en-US" sz="1350" dirty="0">
                <a:solidFill>
                  <a:srgbClr val="27C6A6"/>
                </a:solidFill>
                <a:latin typeface="Calibri" pitchFamily="34" charset="0"/>
                <a:ea typeface="Calibri" pitchFamily="34" charset="-122"/>
                <a:cs typeface="Calibri" pitchFamily="34" charset="-120"/>
              </a:rPr>
              <a:t>Thấp</a:t>
            </a:r>
            <a:endParaRPr lang="en-US" sz="1350" dirty="0"/>
          </a:p>
        </p:txBody>
      </p:sp>
      <p:sp>
        <p:nvSpPr>
          <p:cNvPr id="25" name="Text 23"/>
          <p:cNvSpPr/>
          <p:nvPr/>
        </p:nvSpPr>
        <p:spPr>
          <a:xfrm>
            <a:off x="9281160" y="3108960"/>
            <a:ext cx="1051560" cy="548640"/>
          </a:xfrm>
          <a:prstGeom prst="rect">
            <a:avLst/>
          </a:prstGeom>
          <a:noFill/>
          <a:ln/>
        </p:spPr>
        <p:txBody>
          <a:bodyPr wrap="square" lIns="0" tIns="0" rIns="0" bIns="0" rtlCol="0" anchor="ctr"/>
          <a:lstStyle/>
          <a:p>
            <a:pPr marL="0" indent="0" algn="ctr">
              <a:buNone/>
            </a:pPr>
            <a:r>
              <a:rPr lang="en-US" sz="1350" dirty="0">
                <a:solidFill>
                  <a:srgbClr val="16273A"/>
                </a:solidFill>
                <a:latin typeface="Calibri" pitchFamily="34" charset="0"/>
                <a:ea typeface="Calibri" pitchFamily="34" charset="-122"/>
                <a:cs typeface="Calibri" pitchFamily="34" charset="-120"/>
              </a:rPr>
              <a:t>Cao</a:t>
            </a:r>
            <a:endParaRPr lang="en-US" sz="1350" dirty="0"/>
          </a:p>
        </p:txBody>
      </p:sp>
      <p:sp>
        <p:nvSpPr>
          <p:cNvPr id="26" name="Text 24"/>
          <p:cNvSpPr/>
          <p:nvPr/>
        </p:nvSpPr>
        <p:spPr>
          <a:xfrm>
            <a:off x="10332720" y="3108960"/>
            <a:ext cx="1097280" cy="548640"/>
          </a:xfrm>
          <a:prstGeom prst="rect">
            <a:avLst/>
          </a:prstGeom>
          <a:noFill/>
          <a:ln/>
        </p:spPr>
        <p:txBody>
          <a:bodyPr wrap="square" lIns="0" tIns="0" rIns="0" bIns="0" rtlCol="0" anchor="ctr"/>
          <a:lstStyle/>
          <a:p>
            <a:pPr marL="0" indent="0" algn="ctr">
              <a:buNone/>
            </a:pPr>
            <a:r>
              <a:rPr lang="en-US" sz="1350" dirty="0">
                <a:solidFill>
                  <a:srgbClr val="16273A"/>
                </a:solidFill>
                <a:latin typeface="Calibri" pitchFamily="34" charset="0"/>
                <a:ea typeface="Calibri" pitchFamily="34" charset="-122"/>
                <a:cs typeface="Calibri" pitchFamily="34" charset="-120"/>
              </a:rPr>
              <a:t>Vừa</a:t>
            </a:r>
            <a:endParaRPr lang="en-US" sz="1350" dirty="0"/>
          </a:p>
        </p:txBody>
      </p:sp>
      <p:sp>
        <p:nvSpPr>
          <p:cNvPr id="27" name="Text 25"/>
          <p:cNvSpPr/>
          <p:nvPr/>
        </p:nvSpPr>
        <p:spPr>
          <a:xfrm>
            <a:off x="6309360" y="3657600"/>
            <a:ext cx="1828800" cy="548640"/>
          </a:xfrm>
          <a:prstGeom prst="rect">
            <a:avLst/>
          </a:prstGeom>
          <a:noFill/>
          <a:ln/>
        </p:spPr>
        <p:txBody>
          <a:bodyPr wrap="square" lIns="0" tIns="0" rIns="0" bIns="0" rtlCol="0" anchor="ctr"/>
          <a:lstStyle/>
          <a:p>
            <a:pPr marL="0" indent="0" algn="l">
              <a:buNone/>
            </a:pPr>
            <a:r>
              <a:rPr lang="en-US" sz="1300" b="1" dirty="0">
                <a:solidFill>
                  <a:srgbClr val="16273A"/>
                </a:solidFill>
                <a:latin typeface="Calibri" pitchFamily="34" charset="0"/>
                <a:ea typeface="Calibri" pitchFamily="34" charset="-122"/>
                <a:cs typeface="Calibri" pitchFamily="34" charset="-120"/>
              </a:rPr>
              <a:t>Học nhanh</a:t>
            </a:r>
            <a:endParaRPr lang="en-US" sz="1300" dirty="0"/>
          </a:p>
        </p:txBody>
      </p:sp>
      <p:sp>
        <p:nvSpPr>
          <p:cNvPr id="28" name="Text 26"/>
          <p:cNvSpPr/>
          <p:nvPr/>
        </p:nvSpPr>
        <p:spPr>
          <a:xfrm>
            <a:off x="8138160" y="3657600"/>
            <a:ext cx="1143000" cy="548640"/>
          </a:xfrm>
          <a:prstGeom prst="rect">
            <a:avLst/>
          </a:prstGeom>
          <a:noFill/>
          <a:ln/>
        </p:spPr>
        <p:txBody>
          <a:bodyPr wrap="square" lIns="0" tIns="0" rIns="0" bIns="0" rtlCol="0" anchor="ctr"/>
          <a:lstStyle/>
          <a:p>
            <a:pPr marL="0" indent="0" algn="ctr">
              <a:buNone/>
            </a:pPr>
            <a:r>
              <a:rPr lang="en-US" sz="1350" dirty="0">
                <a:solidFill>
                  <a:srgbClr val="27C6A6"/>
                </a:solidFill>
                <a:latin typeface="Calibri" pitchFamily="34" charset="0"/>
                <a:ea typeface="Calibri" pitchFamily="34" charset="-122"/>
                <a:cs typeface="Calibri" pitchFamily="34" charset="-120"/>
              </a:rPr>
              <a:t>★★★</a:t>
            </a:r>
            <a:endParaRPr lang="en-US" sz="1350" dirty="0"/>
          </a:p>
        </p:txBody>
      </p:sp>
      <p:sp>
        <p:nvSpPr>
          <p:cNvPr id="29" name="Text 27"/>
          <p:cNvSpPr/>
          <p:nvPr/>
        </p:nvSpPr>
        <p:spPr>
          <a:xfrm>
            <a:off x="9281160" y="3657600"/>
            <a:ext cx="1051560" cy="548640"/>
          </a:xfrm>
          <a:prstGeom prst="rect">
            <a:avLst/>
          </a:prstGeom>
          <a:noFill/>
          <a:ln/>
        </p:spPr>
        <p:txBody>
          <a:bodyPr wrap="square" lIns="0" tIns="0" rIns="0" bIns="0" rtlCol="0" anchor="ctr"/>
          <a:lstStyle/>
          <a:p>
            <a:pPr marL="0" indent="0" algn="ctr">
              <a:buNone/>
            </a:pPr>
            <a:r>
              <a:rPr lang="en-US" sz="1350" dirty="0">
                <a:solidFill>
                  <a:srgbClr val="16273A"/>
                </a:solidFill>
                <a:latin typeface="Calibri" pitchFamily="34" charset="0"/>
                <a:ea typeface="Calibri" pitchFamily="34" charset="-122"/>
                <a:cs typeface="Calibri" pitchFamily="34" charset="-120"/>
              </a:rPr>
              <a:t>★</a:t>
            </a:r>
            <a:endParaRPr lang="en-US" sz="1350" dirty="0"/>
          </a:p>
        </p:txBody>
      </p:sp>
      <p:sp>
        <p:nvSpPr>
          <p:cNvPr id="30" name="Text 28"/>
          <p:cNvSpPr/>
          <p:nvPr/>
        </p:nvSpPr>
        <p:spPr>
          <a:xfrm>
            <a:off x="10332720" y="3657600"/>
            <a:ext cx="1097280" cy="548640"/>
          </a:xfrm>
          <a:prstGeom prst="rect">
            <a:avLst/>
          </a:prstGeom>
          <a:noFill/>
          <a:ln/>
        </p:spPr>
        <p:txBody>
          <a:bodyPr wrap="square" lIns="0" tIns="0" rIns="0" bIns="0" rtlCol="0" anchor="ctr"/>
          <a:lstStyle/>
          <a:p>
            <a:pPr marL="0" indent="0" algn="ctr">
              <a:buNone/>
            </a:pPr>
            <a:r>
              <a:rPr lang="en-US" sz="1350" dirty="0">
                <a:solidFill>
                  <a:srgbClr val="16273A"/>
                </a:solidFill>
                <a:latin typeface="Calibri" pitchFamily="34" charset="0"/>
                <a:ea typeface="Calibri" pitchFamily="34" charset="-122"/>
                <a:cs typeface="Calibri" pitchFamily="34" charset="-120"/>
              </a:rPr>
              <a:t>★★</a:t>
            </a:r>
            <a:endParaRPr lang="en-US" sz="1350" dirty="0"/>
          </a:p>
        </p:txBody>
      </p:sp>
      <p:sp>
        <p:nvSpPr>
          <p:cNvPr id="31" name="Text 29"/>
          <p:cNvSpPr/>
          <p:nvPr/>
        </p:nvSpPr>
        <p:spPr>
          <a:xfrm>
            <a:off x="6309360" y="4206240"/>
            <a:ext cx="1828800" cy="548640"/>
          </a:xfrm>
          <a:prstGeom prst="rect">
            <a:avLst/>
          </a:prstGeom>
          <a:noFill/>
          <a:ln/>
        </p:spPr>
        <p:txBody>
          <a:bodyPr wrap="square" lIns="0" tIns="0" rIns="0" bIns="0" rtlCol="0" anchor="ctr"/>
          <a:lstStyle/>
          <a:p>
            <a:pPr marL="0" indent="0" algn="l">
              <a:buNone/>
            </a:pPr>
            <a:r>
              <a:rPr lang="en-US" sz="1300" b="1" dirty="0">
                <a:solidFill>
                  <a:srgbClr val="16273A"/>
                </a:solidFill>
                <a:latin typeface="Calibri" pitchFamily="34" charset="0"/>
                <a:ea typeface="Calibri" pitchFamily="34" charset="-122"/>
                <a:cs typeface="Calibri" pitchFamily="34" charset="-120"/>
              </a:rPr>
              <a:t>Hệ sinh thái</a:t>
            </a:r>
            <a:endParaRPr lang="en-US" sz="1300" dirty="0"/>
          </a:p>
        </p:txBody>
      </p:sp>
      <p:sp>
        <p:nvSpPr>
          <p:cNvPr id="32" name="Text 30"/>
          <p:cNvSpPr/>
          <p:nvPr/>
        </p:nvSpPr>
        <p:spPr>
          <a:xfrm>
            <a:off x="8138160" y="4206240"/>
            <a:ext cx="1143000" cy="548640"/>
          </a:xfrm>
          <a:prstGeom prst="rect">
            <a:avLst/>
          </a:prstGeom>
          <a:noFill/>
          <a:ln/>
        </p:spPr>
        <p:txBody>
          <a:bodyPr wrap="square" lIns="0" tIns="0" rIns="0" bIns="0" rtlCol="0" anchor="ctr"/>
          <a:lstStyle/>
          <a:p>
            <a:pPr marL="0" indent="0" algn="ctr">
              <a:buNone/>
            </a:pPr>
            <a:r>
              <a:rPr lang="en-US" sz="1350" dirty="0">
                <a:solidFill>
                  <a:srgbClr val="27C6A6"/>
                </a:solidFill>
                <a:latin typeface="Calibri" pitchFamily="34" charset="0"/>
                <a:ea typeface="Calibri" pitchFamily="34" charset="-122"/>
                <a:cs typeface="Calibri" pitchFamily="34" charset="-120"/>
              </a:rPr>
              <a:t>Nhỏ</a:t>
            </a:r>
            <a:endParaRPr lang="en-US" sz="1350" dirty="0"/>
          </a:p>
        </p:txBody>
      </p:sp>
      <p:sp>
        <p:nvSpPr>
          <p:cNvPr id="33" name="Text 31"/>
          <p:cNvSpPr/>
          <p:nvPr/>
        </p:nvSpPr>
        <p:spPr>
          <a:xfrm>
            <a:off x="9281160" y="4206240"/>
            <a:ext cx="1051560" cy="548640"/>
          </a:xfrm>
          <a:prstGeom prst="rect">
            <a:avLst/>
          </a:prstGeom>
          <a:noFill/>
          <a:ln/>
        </p:spPr>
        <p:txBody>
          <a:bodyPr wrap="square" lIns="0" tIns="0" rIns="0" bIns="0" rtlCol="0" anchor="ctr"/>
          <a:lstStyle/>
          <a:p>
            <a:pPr marL="0" indent="0" algn="ctr">
              <a:buNone/>
            </a:pPr>
            <a:r>
              <a:rPr lang="en-US" sz="1350" dirty="0">
                <a:solidFill>
                  <a:srgbClr val="16273A"/>
                </a:solidFill>
                <a:latin typeface="Calibri" pitchFamily="34" charset="0"/>
                <a:ea typeface="Calibri" pitchFamily="34" charset="-122"/>
                <a:cs typeface="Calibri" pitchFamily="34" charset="-120"/>
              </a:rPr>
              <a:t>Khổng lồ</a:t>
            </a:r>
            <a:endParaRPr lang="en-US" sz="1350" dirty="0"/>
          </a:p>
        </p:txBody>
      </p:sp>
      <p:sp>
        <p:nvSpPr>
          <p:cNvPr id="34" name="Text 32"/>
          <p:cNvSpPr/>
          <p:nvPr/>
        </p:nvSpPr>
        <p:spPr>
          <a:xfrm>
            <a:off x="10332720" y="4206240"/>
            <a:ext cx="1097280" cy="548640"/>
          </a:xfrm>
          <a:prstGeom prst="rect">
            <a:avLst/>
          </a:prstGeom>
          <a:noFill/>
          <a:ln/>
        </p:spPr>
        <p:txBody>
          <a:bodyPr wrap="square" lIns="0" tIns="0" rIns="0" bIns="0" rtlCol="0" anchor="ctr"/>
          <a:lstStyle/>
          <a:p>
            <a:pPr marL="0" indent="0" algn="ctr">
              <a:buNone/>
            </a:pPr>
            <a:r>
              <a:rPr lang="en-US" sz="1350" dirty="0">
                <a:solidFill>
                  <a:srgbClr val="16273A"/>
                </a:solidFill>
                <a:latin typeface="Calibri" pitchFamily="34" charset="0"/>
                <a:ea typeface="Calibri" pitchFamily="34" charset="-122"/>
                <a:cs typeface="Calibri" pitchFamily="34" charset="-120"/>
              </a:rPr>
              <a:t>Đang lớn</a:t>
            </a:r>
            <a:endParaRPr lang="en-US" sz="1350" dirty="0"/>
          </a:p>
        </p:txBody>
      </p:sp>
      <p:sp>
        <p:nvSpPr>
          <p:cNvPr id="35" name="Shape 33"/>
          <p:cNvSpPr/>
          <p:nvPr/>
        </p:nvSpPr>
        <p:spPr>
          <a:xfrm>
            <a:off x="548640" y="5120640"/>
            <a:ext cx="11091672" cy="914400"/>
          </a:xfrm>
          <a:prstGeom prst="roundRect">
            <a:avLst>
              <a:gd name="adj" fmla="val 8000"/>
            </a:avLst>
          </a:prstGeom>
          <a:solidFill>
            <a:srgbClr val="FBF3E4"/>
          </a:solidFill>
          <a:ln w="16510">
            <a:solidFill>
              <a:srgbClr val="C77D1A"/>
            </a:solidFill>
            <a:prstDash val="solid"/>
          </a:ln>
          <a:effectLst>
            <a:outerShdw blurRad="76200" dist="38100" dir="5400000" algn="bl" rotWithShape="0">
              <a:srgbClr val="8DA0B0">
                <a:alpha val="35000"/>
              </a:srgbClr>
            </a:outerShdw>
          </a:effectLst>
        </p:spPr>
        <p:txBody>
          <a:bodyPr/>
          <a:lstStyle/>
          <a:p>
            <a:endParaRPr lang="en-US"/>
          </a:p>
        </p:txBody>
      </p:sp>
      <p:sp>
        <p:nvSpPr>
          <p:cNvPr id="36" name="Text 34"/>
          <p:cNvSpPr/>
          <p:nvPr/>
        </p:nvSpPr>
        <p:spPr>
          <a:xfrm>
            <a:off x="822960" y="5285232"/>
            <a:ext cx="10543032" cy="585216"/>
          </a:xfrm>
          <a:prstGeom prst="rect">
            <a:avLst/>
          </a:prstGeom>
          <a:noFill/>
          <a:ln/>
        </p:spPr>
        <p:txBody>
          <a:bodyPr wrap="square" lIns="0" tIns="0" rIns="0" bIns="0" rtlCol="0" anchor="ctr"/>
          <a:lstStyle/>
          <a:p>
            <a:pPr marL="0" indent="0">
              <a:lnSpc>
                <a:spcPct val="115000"/>
              </a:lnSpc>
              <a:buNone/>
            </a:pPr>
            <a:r>
              <a:rPr lang="en-US" sz="1400" b="1" dirty="0">
                <a:solidFill>
                  <a:srgbClr val="C77D1A"/>
                </a:solidFill>
                <a:latin typeface="Calibri" pitchFamily="34" charset="0"/>
                <a:ea typeface="Calibri" pitchFamily="34" charset="-122"/>
                <a:cs typeface="Calibri" pitchFamily="34" charset="-120"/>
              </a:rPr>
              <a:t>VÌ SAO?  </a:t>
            </a:r>
            <a:r>
              <a:rPr lang="en-US" sz="1400" dirty="0">
                <a:solidFill>
                  <a:srgbClr val="6E4E14"/>
                </a:solidFill>
                <a:latin typeface="Calibri" pitchFamily="34" charset="0"/>
                <a:ea typeface="Calibri" pitchFamily="34" charset="-122"/>
                <a:cs typeface="Calibri" pitchFamily="34" charset="-120"/>
              </a:rPr>
              <a:t>Học Swarm trước K8s vì nó dạy đúng các khái niệm orchestration (service, replica, desired state) với chi phí nhận thức tối thiểu — dùng lại chính cú pháp Compose.</a:t>
            </a:r>
            <a:endParaRPr lang="en-US" sz="1400" dirty="0"/>
          </a:p>
        </p:txBody>
      </p:sp>
      <p:sp>
        <p:nvSpPr>
          <p:cNvPr id="37" name="Text 35"/>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5 · Docker Swarm</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7FA"/>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0E7C8B"/>
          </a:solidFill>
          <a:ln w="25400">
            <a:solidFill>
              <a:srgbClr val="27C6A6"/>
            </a:solidFill>
            <a:prstDash val="solid"/>
          </a:ln>
          <a:effectLst>
            <a:outerShdw blurRad="76200" dist="38100" dir="5400000" algn="bl" rotWithShape="0">
              <a:srgbClr val="8DA0B0">
                <a:alpha val="35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 name="Shape 2"/>
          <p:cNvSpPr/>
          <p:nvPr/>
        </p:nvSpPr>
        <p:spPr>
          <a:xfrm>
            <a:off x="1627632" y="502920"/>
            <a:ext cx="2331720" cy="347472"/>
          </a:xfrm>
          <a:prstGeom prst="roundRect">
            <a:avLst>
              <a:gd name="adj" fmla="val 50000"/>
            </a:avLst>
          </a:prstGeom>
          <a:solidFill>
            <a:srgbClr val="0B2138"/>
          </a:solidFill>
          <a:ln/>
        </p:spPr>
        <p:txBody>
          <a:bodyPr/>
          <a:lstStyle/>
          <a:p>
            <a:endParaRPr lang="en-US"/>
          </a:p>
        </p:txBody>
      </p:sp>
      <p:sp>
        <p:nvSpPr>
          <p:cNvPr id="5" name="Text 3"/>
          <p:cNvSpPr/>
          <p:nvPr/>
        </p:nvSpPr>
        <p:spPr>
          <a:xfrm>
            <a:off x="1627632" y="502920"/>
            <a:ext cx="233172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CÁCH LÀM · LAB</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16273A"/>
                </a:solidFill>
                <a:latin typeface="Cambria" pitchFamily="34" charset="0"/>
                <a:ea typeface="Cambria" pitchFamily="34" charset="-122"/>
                <a:cs typeface="Cambria" pitchFamily="34" charset="-120"/>
              </a:rPr>
              <a:t>Dựng cụm, deploy &amp; Lab self-healing</a:t>
            </a:r>
            <a:endParaRPr lang="en-US" sz="2700" dirty="0"/>
          </a:p>
        </p:txBody>
      </p:sp>
      <p:sp>
        <p:nvSpPr>
          <p:cNvPr id="7" name="Shape 5"/>
          <p:cNvSpPr/>
          <p:nvPr/>
        </p:nvSpPr>
        <p:spPr>
          <a:xfrm>
            <a:off x="548640" y="1691640"/>
            <a:ext cx="5852160" cy="4114800"/>
          </a:xfrm>
          <a:prstGeom prst="roundRect">
            <a:avLst>
              <a:gd name="adj" fmla="val 1556"/>
            </a:avLst>
          </a:prstGeom>
          <a:solidFill>
            <a:srgbClr val="0D1117"/>
          </a:solidFill>
          <a:ln w="12700">
            <a:solidFill>
              <a:srgbClr val="DCE6EC"/>
            </a:solidFill>
            <a:prstDash val="solid"/>
          </a:ln>
          <a:effectLst>
            <a:outerShdw blurRad="76200" dist="38100" dir="5400000" algn="bl" rotWithShape="0">
              <a:srgbClr val="8DA0B0">
                <a:alpha val="35000"/>
              </a:srgbClr>
            </a:outerShdw>
          </a:effectLst>
        </p:spPr>
        <p:txBody>
          <a:bodyPr/>
          <a:lstStyle/>
          <a:p>
            <a:endParaRPr lang="en-US"/>
          </a:p>
        </p:txBody>
      </p:sp>
      <p:sp>
        <p:nvSpPr>
          <p:cNvPr id="8" name="Text 6"/>
          <p:cNvSpPr/>
          <p:nvPr/>
        </p:nvSpPr>
        <p:spPr>
          <a:xfrm>
            <a:off x="804672" y="1819656"/>
            <a:ext cx="5394960" cy="310896"/>
          </a:xfrm>
          <a:prstGeom prst="rect">
            <a:avLst/>
          </a:prstGeom>
          <a:noFill/>
          <a:ln/>
        </p:spPr>
        <p:txBody>
          <a:bodyPr wrap="square" lIns="0" tIns="0" rIns="0" bIns="0" rtlCol="0" anchor="ctr"/>
          <a:lstStyle/>
          <a:p>
            <a:pPr marL="0" indent="0">
              <a:buNone/>
            </a:pPr>
            <a:r>
              <a:rPr lang="en-US" sz="1300" b="1" dirty="0">
                <a:solidFill>
                  <a:srgbClr val="27C6A6"/>
                </a:solidFill>
                <a:latin typeface="Consolas" pitchFamily="34" charset="0"/>
                <a:ea typeface="Consolas" pitchFamily="34" charset="-122"/>
                <a:cs typeface="Consolas" pitchFamily="34" charset="-120"/>
              </a:rPr>
              <a:t>Hands-on Swarm</a:t>
            </a:r>
            <a:endParaRPr lang="en-US" sz="1300" dirty="0"/>
          </a:p>
        </p:txBody>
      </p:sp>
      <p:sp>
        <p:nvSpPr>
          <p:cNvPr id="9" name="Text 7"/>
          <p:cNvSpPr/>
          <p:nvPr/>
        </p:nvSpPr>
        <p:spPr>
          <a:xfrm>
            <a:off x="804672" y="2203704"/>
            <a:ext cx="5340096" cy="3456432"/>
          </a:xfrm>
          <a:prstGeom prst="rect">
            <a:avLst/>
          </a:prstGeom>
          <a:noFill/>
          <a:ln/>
        </p:spPr>
        <p:txBody>
          <a:bodyPr wrap="square" lIns="0" tIns="0" rIns="0" bIns="0" rtlCol="0" anchor="t"/>
          <a:lstStyle/>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 init trên manager</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docker swarm init --advertise-addr &lt;IP&gt;</a:t>
            </a:r>
            <a:endParaRPr lang="en-US" sz="1250" dirty="0"/>
          </a:p>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 join trên worker</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docker swarm join --token &lt;...&gt; &lt;IP&gt;:2377</a:t>
            </a:r>
            <a:endParaRPr lang="en-US" sz="1250" dirty="0"/>
          </a:p>
          <a:p>
            <a:pPr marL="0" indent="0">
              <a:lnSpc>
                <a:spcPct val="103000"/>
              </a:lnSpc>
              <a:buNone/>
            </a:pPr>
            <a:r>
              <a:rPr lang="en-US" sz="1250" dirty="0">
                <a:solidFill>
                  <a:srgbClr val="DCEAF0"/>
                </a:solidFill>
                <a:latin typeface="Consolas" pitchFamily="34" charset="0"/>
                <a:ea typeface="Consolas" pitchFamily="34" charset="-122"/>
                <a:cs typeface="Consolas" pitchFamily="34" charset="-120"/>
              </a:rPr>
              <a:t>docker node ls</a:t>
            </a:r>
            <a:endParaRPr lang="en-US" sz="1250" dirty="0"/>
          </a:p>
          <a:p>
            <a:pPr marL="0" indent="0">
              <a:lnSpc>
                <a:spcPct val="103000"/>
              </a:lnSpc>
              <a:buNone/>
            </a:pP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docker service create --replicas 3 \</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  -p 80:80 --name web nginx</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docker service scale web=5</a:t>
            </a:r>
            <a:endParaRPr lang="en-US" sz="1250" dirty="0"/>
          </a:p>
          <a:p>
            <a:pPr marL="0" indent="0">
              <a:lnSpc>
                <a:spcPct val="103000"/>
              </a:lnSpc>
              <a:buNone/>
            </a:pPr>
            <a:r>
              <a:rPr lang="en-US" sz="1250" dirty="0">
                <a:solidFill>
                  <a:srgbClr val="FFD98A"/>
                </a:solidFill>
                <a:latin typeface="Consolas" pitchFamily="34" charset="0"/>
                <a:ea typeface="Consolas" pitchFamily="34" charset="-122"/>
                <a:cs typeface="Consolas" pitchFamily="34" charset="-120"/>
              </a:rPr>
              <a:t>docker service update --image nginx:alpine web</a:t>
            </a:r>
            <a:endParaRPr lang="en-US" sz="1250" dirty="0"/>
          </a:p>
          <a:p>
            <a:pPr marL="0" indent="0">
              <a:lnSpc>
                <a:spcPct val="103000"/>
              </a:lnSpc>
              <a:buNone/>
            </a:pPr>
            <a:r>
              <a:rPr lang="en-US" sz="1250" dirty="0">
                <a:solidFill>
                  <a:srgbClr val="8FD9CC"/>
                </a:solidFill>
                <a:latin typeface="Consolas" pitchFamily="34" charset="0"/>
                <a:ea typeface="Consolas" pitchFamily="34" charset="-122"/>
                <a:cs typeface="Consolas" pitchFamily="34" charset="-120"/>
              </a:rPr>
              <a:t>docker stack deploy -c compose.yml myapp</a:t>
            </a:r>
            <a:endParaRPr lang="en-US" sz="1250" dirty="0"/>
          </a:p>
        </p:txBody>
      </p:sp>
      <p:sp>
        <p:nvSpPr>
          <p:cNvPr id="10" name="Text 8"/>
          <p:cNvSpPr/>
          <p:nvPr/>
        </p:nvSpPr>
        <p:spPr>
          <a:xfrm>
            <a:off x="6629400" y="1691640"/>
            <a:ext cx="4937760" cy="411480"/>
          </a:xfrm>
          <a:prstGeom prst="rect">
            <a:avLst/>
          </a:prstGeom>
          <a:noFill/>
          <a:ln/>
        </p:spPr>
        <p:txBody>
          <a:bodyPr wrap="square" lIns="0" tIns="0" rIns="0" bIns="0" rtlCol="0" anchor="ctr"/>
          <a:lstStyle/>
          <a:p>
            <a:pPr marL="0" indent="0">
              <a:buNone/>
            </a:pPr>
            <a:r>
              <a:rPr lang="en-US" sz="1900" b="1" dirty="0">
                <a:solidFill>
                  <a:srgbClr val="0E7C8B"/>
                </a:solidFill>
                <a:latin typeface="Cambria" pitchFamily="34" charset="0"/>
                <a:ea typeface="Cambria" pitchFamily="34" charset="-122"/>
                <a:cs typeface="Cambria" pitchFamily="34" charset="-120"/>
              </a:rPr>
              <a:t>🧪  Lab</a:t>
            </a:r>
            <a:endParaRPr lang="en-US" sz="1900" dirty="0"/>
          </a:p>
        </p:txBody>
      </p:sp>
      <p:sp>
        <p:nvSpPr>
          <p:cNvPr id="11" name="Shape 9"/>
          <p:cNvSpPr/>
          <p:nvPr/>
        </p:nvSpPr>
        <p:spPr>
          <a:xfrm>
            <a:off x="6629400" y="2194560"/>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2" name="Text 10"/>
          <p:cNvSpPr/>
          <p:nvPr/>
        </p:nvSpPr>
        <p:spPr>
          <a:xfrm>
            <a:off x="662940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3" name="Text 11"/>
          <p:cNvSpPr/>
          <p:nvPr/>
        </p:nvSpPr>
        <p:spPr>
          <a:xfrm>
            <a:off x="7214616" y="2148840"/>
            <a:ext cx="438912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swarm init + join 2 worker</a:t>
            </a:r>
            <a:endParaRPr lang="en-US" sz="1400" dirty="0"/>
          </a:p>
        </p:txBody>
      </p:sp>
      <p:sp>
        <p:nvSpPr>
          <p:cNvPr id="14" name="Shape 12"/>
          <p:cNvSpPr/>
          <p:nvPr/>
        </p:nvSpPr>
        <p:spPr>
          <a:xfrm>
            <a:off x="6629400" y="2852928"/>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6629400" y="2852928"/>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p:nvPr/>
        </p:nvSpPr>
        <p:spPr>
          <a:xfrm>
            <a:off x="7214616" y="2807208"/>
            <a:ext cx="438912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Deploy nginx 3 replica, xem phân bố</a:t>
            </a:r>
            <a:endParaRPr lang="en-US" sz="1400" dirty="0"/>
          </a:p>
        </p:txBody>
      </p:sp>
      <p:sp>
        <p:nvSpPr>
          <p:cNvPr id="17" name="Shape 15"/>
          <p:cNvSpPr/>
          <p:nvPr/>
        </p:nvSpPr>
        <p:spPr>
          <a:xfrm>
            <a:off x="6629400" y="3511296"/>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18" name="Text 16"/>
          <p:cNvSpPr/>
          <p:nvPr/>
        </p:nvSpPr>
        <p:spPr>
          <a:xfrm>
            <a:off x="6629400" y="3511296"/>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7214616" y="3465576"/>
            <a:ext cx="438912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Scale 5, rolling update image</a:t>
            </a:r>
            <a:endParaRPr lang="en-US" sz="1400" dirty="0"/>
          </a:p>
        </p:txBody>
      </p:sp>
      <p:sp>
        <p:nvSpPr>
          <p:cNvPr id="20" name="Shape 18"/>
          <p:cNvSpPr/>
          <p:nvPr/>
        </p:nvSpPr>
        <p:spPr>
          <a:xfrm>
            <a:off x="6629400" y="4169664"/>
            <a:ext cx="457200" cy="457200"/>
          </a:xfrm>
          <a:prstGeom prst="ellipse">
            <a:avLst/>
          </a:prstGeom>
          <a:solidFill>
            <a:srgbClr val="0B2138"/>
          </a:solidFill>
          <a:ln/>
          <a:effectLst>
            <a:outerShdw blurRad="76200" dist="38100" dir="5400000" algn="bl" rotWithShape="0">
              <a:srgbClr val="8DA0B0">
                <a:alpha val="35000"/>
              </a:srgbClr>
            </a:outerShdw>
          </a:effectLst>
        </p:spPr>
        <p:txBody>
          <a:bodyPr/>
          <a:lstStyle/>
          <a:p>
            <a:endParaRPr lang="en-US"/>
          </a:p>
        </p:txBody>
      </p:sp>
      <p:sp>
        <p:nvSpPr>
          <p:cNvPr id="21" name="Text 19"/>
          <p:cNvSpPr/>
          <p:nvPr/>
        </p:nvSpPr>
        <p:spPr>
          <a:xfrm>
            <a:off x="6629400" y="4169664"/>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214616" y="4123944"/>
            <a:ext cx="438912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docker stack deploy app full-stack</a:t>
            </a:r>
            <a:endParaRPr lang="en-US" sz="1400" dirty="0"/>
          </a:p>
        </p:txBody>
      </p:sp>
      <p:sp>
        <p:nvSpPr>
          <p:cNvPr id="23" name="Shape 21"/>
          <p:cNvSpPr/>
          <p:nvPr/>
        </p:nvSpPr>
        <p:spPr>
          <a:xfrm>
            <a:off x="6629400" y="4828032"/>
            <a:ext cx="457200" cy="457200"/>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4" name="Text 22"/>
          <p:cNvSpPr/>
          <p:nvPr/>
        </p:nvSpPr>
        <p:spPr>
          <a:xfrm>
            <a:off x="6629400" y="4828032"/>
            <a:ext cx="457200" cy="457200"/>
          </a:xfrm>
          <a:prstGeom prst="rect">
            <a:avLst/>
          </a:prstGeom>
          <a:noFill/>
          <a:ln/>
        </p:spPr>
        <p:txBody>
          <a:bodyPr wrap="square" rtlCol="0" anchor="ctr"/>
          <a:lstStyle/>
          <a:p>
            <a:pPr marL="0" indent="0" algn="ctr">
              <a:buNone/>
            </a:pPr>
            <a:r>
              <a:rPr lang="en-US" sz="1500" b="1" dirty="0">
                <a:solidFill>
                  <a:srgbClr val="0B2138"/>
                </a:solidFill>
                <a:latin typeface="Cambria" pitchFamily="34" charset="0"/>
                <a:ea typeface="Cambria" pitchFamily="34" charset="-122"/>
                <a:cs typeface="Cambria" pitchFamily="34" charset="-120"/>
              </a:rPr>
              <a:t>5</a:t>
            </a:r>
            <a:endParaRPr lang="en-US" sz="1500" dirty="0"/>
          </a:p>
        </p:txBody>
      </p:sp>
      <p:sp>
        <p:nvSpPr>
          <p:cNvPr id="25" name="Text 23"/>
          <p:cNvSpPr/>
          <p:nvPr/>
        </p:nvSpPr>
        <p:spPr>
          <a:xfrm>
            <a:off x="7214616" y="4782312"/>
            <a:ext cx="4389120" cy="548640"/>
          </a:xfrm>
          <a:prstGeom prst="rect">
            <a:avLst/>
          </a:prstGeom>
          <a:noFill/>
          <a:ln/>
        </p:spPr>
        <p:txBody>
          <a:bodyPr wrap="square" lIns="0" tIns="0" rIns="0" bIns="0" rtlCol="0" anchor="ctr"/>
          <a:lstStyle/>
          <a:p>
            <a:pPr marL="0" indent="0">
              <a:buNone/>
            </a:pPr>
            <a:r>
              <a:rPr lang="en-US" sz="1400" dirty="0">
                <a:solidFill>
                  <a:srgbClr val="16273A"/>
                </a:solidFill>
                <a:latin typeface="Calibri" pitchFamily="34" charset="0"/>
                <a:ea typeface="Calibri" pitchFamily="34" charset="-122"/>
                <a:cs typeface="Calibri" pitchFamily="34" charset="-120"/>
              </a:rPr>
              <a:t>Tắt 1 node → xem self-healing</a:t>
            </a:r>
            <a:endParaRPr lang="en-US" sz="1400" dirty="0"/>
          </a:p>
        </p:txBody>
      </p:sp>
      <p:sp>
        <p:nvSpPr>
          <p:cNvPr id="26" name="Shape 24"/>
          <p:cNvSpPr/>
          <p:nvPr/>
        </p:nvSpPr>
        <p:spPr>
          <a:xfrm>
            <a:off x="6629400" y="5486400"/>
            <a:ext cx="4983480" cy="548640"/>
          </a:xfrm>
          <a:prstGeom prst="roundRect">
            <a:avLst>
              <a:gd name="adj" fmla="val 13333"/>
            </a:avLst>
          </a:prstGeom>
          <a:solidFill>
            <a:srgbClr val="FBF3E4"/>
          </a:solidFill>
          <a:ln w="16510">
            <a:solidFill>
              <a:srgbClr val="C77D1A"/>
            </a:solidFill>
            <a:prstDash val="solid"/>
          </a:ln>
          <a:effectLst>
            <a:outerShdw blurRad="76200" dist="38100" dir="5400000" algn="bl" rotWithShape="0">
              <a:srgbClr val="8DA0B0">
                <a:alpha val="35000"/>
              </a:srgbClr>
            </a:outerShdw>
          </a:effectLst>
        </p:spPr>
        <p:txBody>
          <a:bodyPr/>
          <a:lstStyle/>
          <a:p>
            <a:endParaRPr lang="en-US"/>
          </a:p>
        </p:txBody>
      </p:sp>
      <p:sp>
        <p:nvSpPr>
          <p:cNvPr id="27" name="Text 25"/>
          <p:cNvSpPr/>
          <p:nvPr/>
        </p:nvSpPr>
        <p:spPr>
          <a:xfrm>
            <a:off x="6903720" y="5650992"/>
            <a:ext cx="4434840" cy="219456"/>
          </a:xfrm>
          <a:prstGeom prst="rect">
            <a:avLst/>
          </a:prstGeom>
          <a:noFill/>
          <a:ln/>
        </p:spPr>
        <p:txBody>
          <a:bodyPr wrap="square" lIns="0" tIns="0" rIns="0" bIns="0" rtlCol="0" anchor="ctr"/>
          <a:lstStyle/>
          <a:p>
            <a:pPr marL="0" indent="0">
              <a:lnSpc>
                <a:spcPct val="115000"/>
              </a:lnSpc>
              <a:buNone/>
            </a:pPr>
            <a:r>
              <a:rPr lang="en-US" sz="1400" b="1" dirty="0">
                <a:solidFill>
                  <a:srgbClr val="C77D1A"/>
                </a:solidFill>
                <a:latin typeface="Calibri" pitchFamily="34" charset="0"/>
                <a:ea typeface="Calibri" pitchFamily="34" charset="-122"/>
                <a:cs typeface="Calibri" pitchFamily="34" charset="-120"/>
              </a:rPr>
              <a:t>VÌ SAO?  </a:t>
            </a:r>
            <a:r>
              <a:rPr lang="en-US" sz="1400" dirty="0">
                <a:solidFill>
                  <a:srgbClr val="6E4E14"/>
                </a:solidFill>
                <a:latin typeface="Calibri" pitchFamily="34" charset="0"/>
                <a:ea typeface="Calibri" pitchFamily="34" charset="-122"/>
                <a:cs typeface="Calibri" pitchFamily="34" charset="-120"/>
              </a:rPr>
              <a:t>Rolling update từng replica → luôn có bản đang phục vụ = không downtime.</a:t>
            </a:r>
            <a:endParaRPr lang="en-US" sz="1400" dirty="0"/>
          </a:p>
        </p:txBody>
      </p:sp>
      <p:sp>
        <p:nvSpPr>
          <p:cNvPr id="28" name="Text 26"/>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5C7186"/>
                </a:solidFill>
                <a:latin typeface="Calibri" pitchFamily="34" charset="0"/>
                <a:ea typeface="Calibri" pitchFamily="34" charset="-122"/>
                <a:cs typeface="Calibri" pitchFamily="34" charset="-120"/>
              </a:rPr>
              <a:t>Session 5 · Docker Swarm</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138"/>
        </a:solidFill>
        <a:effectLst/>
      </p:bgPr>
    </p:bg>
    <p:spTree>
      <p:nvGrpSpPr>
        <p:cNvPr id="1" name=""/>
        <p:cNvGrpSpPr/>
        <p:nvPr/>
      </p:nvGrpSpPr>
      <p:grpSpPr>
        <a:xfrm>
          <a:off x="0" y="0"/>
          <a:ext cx="0" cy="0"/>
          <a:chOff x="0" y="0"/>
          <a:chExt cx="0" cy="0"/>
        </a:xfrm>
      </p:grpSpPr>
      <p:sp>
        <p:nvSpPr>
          <p:cNvPr id="2" name="Shape 0"/>
          <p:cNvSpPr/>
          <p:nvPr/>
        </p:nvSpPr>
        <p:spPr>
          <a:xfrm>
            <a:off x="548640" y="457200"/>
            <a:ext cx="841248" cy="841248"/>
          </a:xfrm>
          <a:prstGeom prst="ellipse">
            <a:avLst/>
          </a:prstGeom>
          <a:solidFill>
            <a:srgbClr val="27C6A6"/>
          </a:solidFill>
          <a:ln w="254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3" name="Text 1"/>
          <p:cNvSpPr/>
          <p:nvPr/>
        </p:nvSpPr>
        <p:spPr>
          <a:xfrm>
            <a:off x="548640" y="457200"/>
            <a:ext cx="841248" cy="841248"/>
          </a:xfrm>
          <a:prstGeom prst="rect">
            <a:avLst/>
          </a:prstGeom>
          <a:noFill/>
          <a:ln/>
        </p:spPr>
        <p:txBody>
          <a:bodyPr wrap="square" rtlCol="0" anchor="ctr"/>
          <a:lstStyle/>
          <a:p>
            <a:pPr marL="0" indent="0" algn="ctr">
              <a:buNone/>
            </a:pPr>
            <a:r>
              <a:rPr lang="en-US" sz="2200" b="1" dirty="0">
                <a:solidFill>
                  <a:srgbClr val="0B2138"/>
                </a:solidFill>
                <a:latin typeface="Cambria" pitchFamily="34" charset="0"/>
                <a:ea typeface="Cambria" pitchFamily="34" charset="-122"/>
                <a:cs typeface="Cambria" pitchFamily="34" charset="-120"/>
              </a:rPr>
              <a:t>5</a:t>
            </a:r>
            <a:endParaRPr lang="en-US" sz="2200" dirty="0"/>
          </a:p>
        </p:txBody>
      </p:sp>
      <p:sp>
        <p:nvSpPr>
          <p:cNvPr id="4" name="Shape 2"/>
          <p:cNvSpPr/>
          <p:nvPr/>
        </p:nvSpPr>
        <p:spPr>
          <a:xfrm>
            <a:off x="1627632" y="502920"/>
            <a:ext cx="3063240" cy="347472"/>
          </a:xfrm>
          <a:prstGeom prst="roundRect">
            <a:avLst>
              <a:gd name="adj" fmla="val 50000"/>
            </a:avLst>
          </a:prstGeom>
          <a:solidFill>
            <a:srgbClr val="C77D1A"/>
          </a:solidFill>
          <a:ln/>
        </p:spPr>
        <p:txBody>
          <a:bodyPr/>
          <a:lstStyle/>
          <a:p>
            <a:endParaRPr lang="en-US"/>
          </a:p>
        </p:txBody>
      </p:sp>
      <p:sp>
        <p:nvSpPr>
          <p:cNvPr id="5" name="Text 3"/>
          <p:cNvSpPr/>
          <p:nvPr/>
        </p:nvSpPr>
        <p:spPr>
          <a:xfrm>
            <a:off x="1627632" y="502920"/>
            <a:ext cx="3063240" cy="347472"/>
          </a:xfrm>
          <a:prstGeom prst="rect">
            <a:avLst/>
          </a:prstGeom>
          <a:noFill/>
          <a:ln/>
        </p:spPr>
        <p:txBody>
          <a:bodyPr wrap="square"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VAI TRÒ TRONG DEVOPS</a:t>
            </a:r>
            <a:endParaRPr lang="en-US" sz="1150" dirty="0"/>
          </a:p>
        </p:txBody>
      </p:sp>
      <p:sp>
        <p:nvSpPr>
          <p:cNvPr id="6" name="Text 4"/>
          <p:cNvSpPr/>
          <p:nvPr/>
        </p:nvSpPr>
        <p:spPr>
          <a:xfrm>
            <a:off x="1600200" y="914400"/>
            <a:ext cx="10515600" cy="6858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Swarm: giai đoạn "Operate / Run"</a:t>
            </a:r>
            <a:endParaRPr lang="en-US" sz="2700" dirty="0"/>
          </a:p>
        </p:txBody>
      </p:sp>
      <p:sp>
        <p:nvSpPr>
          <p:cNvPr id="7" name="Text 5"/>
          <p:cNvSpPr/>
          <p:nvPr/>
        </p:nvSpPr>
        <p:spPr>
          <a:xfrm>
            <a:off x="548640" y="1645920"/>
            <a:ext cx="10972800" cy="548640"/>
          </a:xfrm>
          <a:prstGeom prst="rect">
            <a:avLst/>
          </a:prstGeom>
          <a:noFill/>
          <a:ln/>
        </p:spPr>
        <p:txBody>
          <a:bodyPr wrap="square" lIns="0" tIns="0" rIns="0" bIns="0" rtlCol="0" anchor="ctr"/>
          <a:lstStyle/>
          <a:p>
            <a:pPr marL="0" indent="0">
              <a:buNone/>
            </a:pPr>
            <a:r>
              <a:rPr lang="en-US" sz="1550" i="1" dirty="0">
                <a:solidFill>
                  <a:srgbClr val="AFC6D4"/>
                </a:solidFill>
                <a:latin typeface="Calibri" pitchFamily="34" charset="0"/>
                <a:ea typeface="Calibri" pitchFamily="34" charset="-122"/>
                <a:cs typeface="Calibri" pitchFamily="34" charset="-120"/>
              </a:rPr>
              <a:t>Bạn không ra lệnh "chạy container ở máy X". Bạn khai báo "luôn có 3 bản sao web". Manager liên tục sửa thực tế cho khớp mong muốn — đó là self-healing.</a:t>
            </a:r>
            <a:endParaRPr lang="en-US" sz="1550" dirty="0"/>
          </a:p>
        </p:txBody>
      </p:sp>
      <p:sp>
        <p:nvSpPr>
          <p:cNvPr id="8" name="Shape 6"/>
          <p:cNvSpPr/>
          <p:nvPr/>
        </p:nvSpPr>
        <p:spPr>
          <a:xfrm>
            <a:off x="548640" y="2331720"/>
            <a:ext cx="3566160" cy="2880360"/>
          </a:xfrm>
          <a:prstGeom prst="roundRect">
            <a:avLst>
              <a:gd name="adj" fmla="val 3175"/>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9" name="Shape 7"/>
          <p:cNvSpPr/>
          <p:nvPr/>
        </p:nvSpPr>
        <p:spPr>
          <a:xfrm>
            <a:off x="822960" y="262432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0" name="Text 8"/>
          <p:cNvSpPr/>
          <p:nvPr/>
        </p:nvSpPr>
        <p:spPr>
          <a:xfrm>
            <a:off x="822960" y="262432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804672" y="3410712"/>
            <a:ext cx="3063240" cy="8229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High Availability</a:t>
            </a:r>
            <a:endParaRPr lang="en-US" sz="1650" dirty="0"/>
          </a:p>
        </p:txBody>
      </p:sp>
      <p:sp>
        <p:nvSpPr>
          <p:cNvPr id="12" name="Text 10"/>
          <p:cNvSpPr/>
          <p:nvPr/>
        </p:nvSpPr>
        <p:spPr>
          <a:xfrm>
            <a:off x="804672" y="4160520"/>
            <a:ext cx="3063240" cy="960120"/>
          </a:xfrm>
          <a:prstGeom prst="rect">
            <a:avLst/>
          </a:prstGeom>
          <a:noFill/>
          <a:ln/>
        </p:spPr>
        <p:txBody>
          <a:bodyPr wrap="square" lIns="0" tIns="0" rIns="0" bIns="0" rtlCol="0" anchor="ctr"/>
          <a:lstStyle/>
          <a:p>
            <a:pPr marL="0" indent="0">
              <a:lnSpc>
                <a:spcPct val="115000"/>
              </a:lnSpc>
              <a:buNone/>
            </a:pPr>
            <a:r>
              <a:rPr lang="en-US" sz="1300" dirty="0">
                <a:solidFill>
                  <a:srgbClr val="CFE3EC"/>
                </a:solidFill>
                <a:latin typeface="Calibri" pitchFamily="34" charset="0"/>
                <a:ea typeface="Calibri" pitchFamily="34" charset="-122"/>
                <a:cs typeface="Calibri" pitchFamily="34" charset="-120"/>
              </a:rPr>
              <a:t>Một máy chết, các máy khác gánh tiếp — không còn điểm chết duy nhất.</a:t>
            </a:r>
            <a:endParaRPr lang="en-US" sz="1300" dirty="0"/>
          </a:p>
        </p:txBody>
      </p:sp>
      <p:sp>
        <p:nvSpPr>
          <p:cNvPr id="13" name="Shape 11"/>
          <p:cNvSpPr/>
          <p:nvPr/>
        </p:nvSpPr>
        <p:spPr>
          <a:xfrm>
            <a:off x="4306824" y="2331720"/>
            <a:ext cx="3566160" cy="2880360"/>
          </a:xfrm>
          <a:prstGeom prst="roundRect">
            <a:avLst>
              <a:gd name="adj" fmla="val 3175"/>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4" name="Shape 12"/>
          <p:cNvSpPr/>
          <p:nvPr/>
        </p:nvSpPr>
        <p:spPr>
          <a:xfrm>
            <a:off x="4581144" y="262432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15" name="Text 13"/>
          <p:cNvSpPr/>
          <p:nvPr/>
        </p:nvSpPr>
        <p:spPr>
          <a:xfrm>
            <a:off x="4581144" y="262432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4562856" y="3410712"/>
            <a:ext cx="3063240" cy="8229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Zero-downtime deploy</a:t>
            </a:r>
            <a:endParaRPr lang="en-US" sz="1650" dirty="0"/>
          </a:p>
        </p:txBody>
      </p:sp>
      <p:sp>
        <p:nvSpPr>
          <p:cNvPr id="17" name="Text 15"/>
          <p:cNvSpPr/>
          <p:nvPr/>
        </p:nvSpPr>
        <p:spPr>
          <a:xfrm>
            <a:off x="4562856" y="4160520"/>
            <a:ext cx="3063240" cy="960120"/>
          </a:xfrm>
          <a:prstGeom prst="rect">
            <a:avLst/>
          </a:prstGeom>
          <a:noFill/>
          <a:ln/>
        </p:spPr>
        <p:txBody>
          <a:bodyPr wrap="square" lIns="0" tIns="0" rIns="0" bIns="0" rtlCol="0" anchor="ctr"/>
          <a:lstStyle/>
          <a:p>
            <a:pPr marL="0" indent="0">
              <a:lnSpc>
                <a:spcPct val="115000"/>
              </a:lnSpc>
              <a:buNone/>
            </a:pPr>
            <a:r>
              <a:rPr lang="en-US" sz="1300" dirty="0">
                <a:solidFill>
                  <a:srgbClr val="CFE3EC"/>
                </a:solidFill>
                <a:latin typeface="Calibri" pitchFamily="34" charset="0"/>
                <a:ea typeface="Calibri" pitchFamily="34" charset="-122"/>
                <a:cs typeface="Calibri" pitchFamily="34" charset="-120"/>
              </a:rPr>
              <a:t>Rolling update + rollback: cập nhật không gián đoạn người dùng.</a:t>
            </a:r>
            <a:endParaRPr lang="en-US" sz="1300" dirty="0"/>
          </a:p>
        </p:txBody>
      </p:sp>
      <p:sp>
        <p:nvSpPr>
          <p:cNvPr id="18" name="Shape 16"/>
          <p:cNvSpPr/>
          <p:nvPr/>
        </p:nvSpPr>
        <p:spPr>
          <a:xfrm>
            <a:off x="8065008" y="2331720"/>
            <a:ext cx="3566160" cy="2880360"/>
          </a:xfrm>
          <a:prstGeom prst="roundRect">
            <a:avLst>
              <a:gd name="adj" fmla="val 3175"/>
            </a:avLst>
          </a:prstGeom>
          <a:solidFill>
            <a:srgbClr val="13314F"/>
          </a:solidFill>
          <a:ln w="1270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9" name="Shape 17"/>
          <p:cNvSpPr/>
          <p:nvPr/>
        </p:nvSpPr>
        <p:spPr>
          <a:xfrm>
            <a:off x="8339328" y="2624328"/>
            <a:ext cx="658368" cy="658368"/>
          </a:xfrm>
          <a:prstGeom prst="ellipse">
            <a:avLst/>
          </a:prstGeom>
          <a:solidFill>
            <a:srgbClr val="27C6A6"/>
          </a:solidFill>
          <a:ln/>
          <a:effectLst>
            <a:outerShdw blurRad="76200" dist="38100" dir="5400000" algn="bl" rotWithShape="0">
              <a:srgbClr val="8DA0B0">
                <a:alpha val="35000"/>
              </a:srgbClr>
            </a:outerShdw>
          </a:effectLst>
        </p:spPr>
        <p:txBody>
          <a:bodyPr/>
          <a:lstStyle/>
          <a:p>
            <a:endParaRPr lang="en-US"/>
          </a:p>
        </p:txBody>
      </p:sp>
      <p:sp>
        <p:nvSpPr>
          <p:cNvPr id="20" name="Text 18"/>
          <p:cNvSpPr/>
          <p:nvPr/>
        </p:nvSpPr>
        <p:spPr>
          <a:xfrm>
            <a:off x="8339328" y="2624328"/>
            <a:ext cx="658368" cy="658368"/>
          </a:xfrm>
          <a:prstGeom prst="rect">
            <a:avLst/>
          </a:prstGeom>
          <a:noFill/>
          <a:ln/>
        </p:spPr>
        <p:txBody>
          <a:bodyPr wrap="square" rtlCol="0" anchor="ctr"/>
          <a:lstStyle/>
          <a:p>
            <a:pPr marL="0" indent="0" algn="ctr">
              <a:buNone/>
            </a:pPr>
            <a:r>
              <a:rPr lang="en-US" sz="2000" b="1" dirty="0">
                <a:solidFill>
                  <a:srgbClr val="0B2138"/>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8321040" y="3410712"/>
            <a:ext cx="3063240" cy="82296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Hoàn tất pipeline</a:t>
            </a:r>
            <a:endParaRPr lang="en-US" sz="1650" dirty="0"/>
          </a:p>
        </p:txBody>
      </p:sp>
      <p:sp>
        <p:nvSpPr>
          <p:cNvPr id="22" name="Text 20"/>
          <p:cNvSpPr/>
          <p:nvPr/>
        </p:nvSpPr>
        <p:spPr>
          <a:xfrm>
            <a:off x="8321040" y="4160520"/>
            <a:ext cx="3063240" cy="960120"/>
          </a:xfrm>
          <a:prstGeom prst="rect">
            <a:avLst/>
          </a:prstGeom>
          <a:noFill/>
          <a:ln/>
        </p:spPr>
        <p:txBody>
          <a:bodyPr wrap="square" lIns="0" tIns="0" rIns="0" bIns="0" rtlCol="0" anchor="ctr"/>
          <a:lstStyle/>
          <a:p>
            <a:pPr marL="0" indent="0">
              <a:lnSpc>
                <a:spcPct val="115000"/>
              </a:lnSpc>
              <a:buNone/>
            </a:pPr>
            <a:r>
              <a:rPr lang="en-US" sz="1300" dirty="0">
                <a:solidFill>
                  <a:srgbClr val="CFE3EC"/>
                </a:solidFill>
                <a:latin typeface="Calibri" pitchFamily="34" charset="0"/>
                <a:ea typeface="Calibri" pitchFamily="34" charset="-122"/>
                <a:cs typeface="Calibri" pitchFamily="34" charset="-120"/>
              </a:rPr>
              <a:t>Git→CI→image→registry→SWARM. Vòng đời DevOps khép kín.</a:t>
            </a:r>
            <a:endParaRPr lang="en-US" sz="1300" dirty="0"/>
          </a:p>
        </p:txBody>
      </p:sp>
      <p:sp>
        <p:nvSpPr>
          <p:cNvPr id="23" name="Text 21"/>
          <p:cNvSpPr/>
          <p:nvPr/>
        </p:nvSpPr>
        <p:spPr>
          <a:xfrm>
            <a:off x="548640" y="6327648"/>
            <a:ext cx="11091672" cy="320040"/>
          </a:xfrm>
          <a:prstGeom prst="rect">
            <a:avLst/>
          </a:prstGeom>
          <a:noFill/>
          <a:ln/>
        </p:spPr>
        <p:txBody>
          <a:bodyPr wrap="square" lIns="0" tIns="0" rIns="0" bIns="0" rtlCol="0" anchor="ctr"/>
          <a:lstStyle/>
          <a:p>
            <a:pPr marL="0" indent="0" algn="r">
              <a:buNone/>
            </a:pPr>
            <a:r>
              <a:rPr lang="en-US" sz="1050" i="1" dirty="0">
                <a:solidFill>
                  <a:srgbClr val="6E8598"/>
                </a:solidFill>
                <a:latin typeface="Calibri" pitchFamily="34" charset="0"/>
                <a:ea typeface="Calibri" pitchFamily="34" charset="-122"/>
                <a:cs typeface="Calibri" pitchFamily="34" charset="-120"/>
              </a:rPr>
              <a:t>Session 5 · Docker Swarm</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138"/>
        </a:solidFill>
        <a:effectLst/>
      </p:bgPr>
    </p:bg>
    <p:spTree>
      <p:nvGrpSpPr>
        <p:cNvPr id="1" name=""/>
        <p:cNvGrpSpPr/>
        <p:nvPr/>
      </p:nvGrpSpPr>
      <p:grpSpPr>
        <a:xfrm>
          <a:off x="0" y="0"/>
          <a:ext cx="0" cy="0"/>
          <a:chOff x="0" y="0"/>
          <a:chExt cx="0" cy="0"/>
        </a:xfrm>
      </p:grpSpPr>
      <p:sp>
        <p:nvSpPr>
          <p:cNvPr id="2" name="Text 0"/>
          <p:cNvSpPr/>
          <p:nvPr/>
        </p:nvSpPr>
        <p:spPr>
          <a:xfrm>
            <a:off x="548640" y="640080"/>
            <a:ext cx="9144000" cy="365760"/>
          </a:xfrm>
          <a:prstGeom prst="rect">
            <a:avLst/>
          </a:prstGeom>
          <a:noFill/>
          <a:ln/>
        </p:spPr>
        <p:txBody>
          <a:bodyPr wrap="square" rtlCol="0" anchor="ctr"/>
          <a:lstStyle/>
          <a:p>
            <a:pPr marL="0" indent="0">
              <a:buNone/>
            </a:pPr>
            <a:r>
              <a:rPr lang="en-US" sz="1400" b="1" kern="0" spc="300" dirty="0">
                <a:solidFill>
                  <a:srgbClr val="27C6A6"/>
                </a:solidFill>
                <a:latin typeface="Calibri" pitchFamily="34" charset="0"/>
                <a:ea typeface="Calibri" pitchFamily="34" charset="-122"/>
                <a:cs typeface="Calibri" pitchFamily="34" charset="-120"/>
              </a:rPr>
              <a:t>TỔNG KẾT DAY 2</a:t>
            </a:r>
            <a:endParaRPr lang="en-US" sz="1400" dirty="0"/>
          </a:p>
        </p:txBody>
      </p:sp>
      <p:sp>
        <p:nvSpPr>
          <p:cNvPr id="3" name="Text 1"/>
          <p:cNvSpPr/>
          <p:nvPr/>
        </p:nvSpPr>
        <p:spPr>
          <a:xfrm>
            <a:off x="548640" y="1005840"/>
            <a:ext cx="10515600" cy="73152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Pipeline hoàn chỉnh</a:t>
            </a:r>
            <a:endParaRPr lang="en-US" sz="3600" dirty="0"/>
          </a:p>
        </p:txBody>
      </p:sp>
      <p:sp>
        <p:nvSpPr>
          <p:cNvPr id="4" name="Shape 2"/>
          <p:cNvSpPr/>
          <p:nvPr/>
        </p:nvSpPr>
        <p:spPr>
          <a:xfrm>
            <a:off x="548640" y="2057400"/>
            <a:ext cx="1965960" cy="914400"/>
          </a:xfrm>
          <a:prstGeom prst="roundRect">
            <a:avLst>
              <a:gd name="adj" fmla="val 10000"/>
            </a:avLst>
          </a:prstGeom>
          <a:solidFill>
            <a:srgbClr val="13314F"/>
          </a:solidFill>
          <a:ln w="1905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5" name="Text 3"/>
          <p:cNvSpPr/>
          <p:nvPr/>
        </p:nvSpPr>
        <p:spPr>
          <a:xfrm>
            <a:off x="548640" y="2057400"/>
            <a:ext cx="1965960" cy="9144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Git commit</a:t>
            </a:r>
            <a:endParaRPr lang="en-US" sz="1500" dirty="0"/>
          </a:p>
        </p:txBody>
      </p:sp>
      <p:sp>
        <p:nvSpPr>
          <p:cNvPr id="6" name="Text 4"/>
          <p:cNvSpPr/>
          <p:nvPr/>
        </p:nvSpPr>
        <p:spPr>
          <a:xfrm>
            <a:off x="2423160" y="2057400"/>
            <a:ext cx="457200" cy="914400"/>
          </a:xfrm>
          <a:prstGeom prst="rect">
            <a:avLst/>
          </a:prstGeom>
          <a:noFill/>
          <a:ln/>
        </p:spPr>
        <p:txBody>
          <a:bodyPr wrap="square" rtlCol="0" anchor="ctr"/>
          <a:lstStyle/>
          <a:p>
            <a:pPr marL="0" indent="0" algn="ctr">
              <a:buNone/>
            </a:pPr>
            <a:r>
              <a:rPr lang="en-US" sz="2400" b="1" dirty="0">
                <a:solidFill>
                  <a:srgbClr val="27C6A6"/>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2788920" y="2057400"/>
            <a:ext cx="1965960" cy="914400"/>
          </a:xfrm>
          <a:prstGeom prst="roundRect">
            <a:avLst>
              <a:gd name="adj" fmla="val 10000"/>
            </a:avLst>
          </a:prstGeom>
          <a:solidFill>
            <a:srgbClr val="13314F"/>
          </a:solidFill>
          <a:ln w="1905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8" name="Text 6"/>
          <p:cNvSpPr/>
          <p:nvPr/>
        </p:nvSpPr>
        <p:spPr>
          <a:xfrm>
            <a:off x="2788920" y="2057400"/>
            <a:ext cx="1965960" cy="9144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CI build</a:t>
            </a:r>
            <a:endParaRPr lang="en-US" sz="1500" dirty="0"/>
          </a:p>
        </p:txBody>
      </p:sp>
      <p:sp>
        <p:nvSpPr>
          <p:cNvPr id="9" name="Text 7"/>
          <p:cNvSpPr/>
          <p:nvPr/>
        </p:nvSpPr>
        <p:spPr>
          <a:xfrm>
            <a:off x="4663440" y="2057400"/>
            <a:ext cx="457200" cy="914400"/>
          </a:xfrm>
          <a:prstGeom prst="rect">
            <a:avLst/>
          </a:prstGeom>
          <a:noFill/>
          <a:ln/>
        </p:spPr>
        <p:txBody>
          <a:bodyPr wrap="square" rtlCol="0" anchor="ctr"/>
          <a:lstStyle/>
          <a:p>
            <a:pPr marL="0" indent="0" algn="ctr">
              <a:buNone/>
            </a:pPr>
            <a:r>
              <a:rPr lang="en-US" sz="2400" b="1" dirty="0">
                <a:solidFill>
                  <a:srgbClr val="27C6A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5029200" y="2057400"/>
            <a:ext cx="1965960" cy="914400"/>
          </a:xfrm>
          <a:prstGeom prst="roundRect">
            <a:avLst>
              <a:gd name="adj" fmla="val 10000"/>
            </a:avLst>
          </a:prstGeom>
          <a:solidFill>
            <a:srgbClr val="13314F"/>
          </a:solidFill>
          <a:ln w="1905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1" name="Text 9"/>
          <p:cNvSpPr/>
          <p:nvPr/>
        </p:nvSpPr>
        <p:spPr>
          <a:xfrm>
            <a:off x="5029200" y="2057400"/>
            <a:ext cx="1965960" cy="9144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Docker image</a:t>
            </a:r>
            <a:endParaRPr lang="en-US" sz="1500" dirty="0"/>
          </a:p>
        </p:txBody>
      </p:sp>
      <p:sp>
        <p:nvSpPr>
          <p:cNvPr id="12" name="Text 10"/>
          <p:cNvSpPr/>
          <p:nvPr/>
        </p:nvSpPr>
        <p:spPr>
          <a:xfrm>
            <a:off x="6903720" y="2057400"/>
            <a:ext cx="457200" cy="914400"/>
          </a:xfrm>
          <a:prstGeom prst="rect">
            <a:avLst/>
          </a:prstGeom>
          <a:noFill/>
          <a:ln/>
        </p:spPr>
        <p:txBody>
          <a:bodyPr wrap="square" rtlCol="0" anchor="ctr"/>
          <a:lstStyle/>
          <a:p>
            <a:pPr marL="0" indent="0" algn="ctr">
              <a:buNone/>
            </a:pPr>
            <a:r>
              <a:rPr lang="en-US" sz="2400" b="1" dirty="0">
                <a:solidFill>
                  <a:srgbClr val="27C6A6"/>
                </a:solidFill>
                <a:latin typeface="Calibri" pitchFamily="34" charset="0"/>
                <a:ea typeface="Calibri" pitchFamily="34" charset="-122"/>
                <a:cs typeface="Calibri" pitchFamily="34" charset="-120"/>
              </a:rPr>
              <a:t>›</a:t>
            </a:r>
            <a:endParaRPr lang="en-US" sz="2400" dirty="0"/>
          </a:p>
        </p:txBody>
      </p:sp>
      <p:sp>
        <p:nvSpPr>
          <p:cNvPr id="13" name="Shape 11"/>
          <p:cNvSpPr/>
          <p:nvPr/>
        </p:nvSpPr>
        <p:spPr>
          <a:xfrm>
            <a:off x="7269480" y="2057400"/>
            <a:ext cx="1965960" cy="914400"/>
          </a:xfrm>
          <a:prstGeom prst="roundRect">
            <a:avLst>
              <a:gd name="adj" fmla="val 10000"/>
            </a:avLst>
          </a:prstGeom>
          <a:solidFill>
            <a:srgbClr val="13314F"/>
          </a:solidFill>
          <a:ln w="1905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4" name="Text 12"/>
          <p:cNvSpPr/>
          <p:nvPr/>
        </p:nvSpPr>
        <p:spPr>
          <a:xfrm>
            <a:off x="7269480" y="2057400"/>
            <a:ext cx="1965960" cy="9144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Registry</a:t>
            </a:r>
            <a:endParaRPr lang="en-US" sz="1500" dirty="0"/>
          </a:p>
        </p:txBody>
      </p:sp>
      <p:sp>
        <p:nvSpPr>
          <p:cNvPr id="15" name="Text 13"/>
          <p:cNvSpPr/>
          <p:nvPr/>
        </p:nvSpPr>
        <p:spPr>
          <a:xfrm>
            <a:off x="9144000" y="2057400"/>
            <a:ext cx="457200" cy="914400"/>
          </a:xfrm>
          <a:prstGeom prst="rect">
            <a:avLst/>
          </a:prstGeom>
          <a:noFill/>
          <a:ln/>
        </p:spPr>
        <p:txBody>
          <a:bodyPr wrap="square" rtlCol="0" anchor="ctr"/>
          <a:lstStyle/>
          <a:p>
            <a:pPr marL="0" indent="0" algn="ctr">
              <a:buNone/>
            </a:pPr>
            <a:r>
              <a:rPr lang="en-US" sz="2400" b="1" dirty="0">
                <a:solidFill>
                  <a:srgbClr val="27C6A6"/>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9509760" y="2057400"/>
            <a:ext cx="1965960" cy="914400"/>
          </a:xfrm>
          <a:prstGeom prst="roundRect">
            <a:avLst>
              <a:gd name="adj" fmla="val 10000"/>
            </a:avLst>
          </a:prstGeom>
          <a:solidFill>
            <a:srgbClr val="27C6A6"/>
          </a:solidFill>
          <a:ln w="19050">
            <a:solidFill>
              <a:srgbClr val="0E7C8B"/>
            </a:solidFill>
            <a:prstDash val="solid"/>
          </a:ln>
          <a:effectLst>
            <a:outerShdw blurRad="88900" dist="38100" dir="5400000" algn="bl" rotWithShape="0">
              <a:srgbClr val="000000">
                <a:alpha val="40000"/>
              </a:srgbClr>
            </a:outerShdw>
          </a:effectLst>
        </p:spPr>
        <p:txBody>
          <a:bodyPr/>
          <a:lstStyle/>
          <a:p>
            <a:endParaRPr lang="en-US"/>
          </a:p>
        </p:txBody>
      </p:sp>
      <p:sp>
        <p:nvSpPr>
          <p:cNvPr id="17" name="Text 15"/>
          <p:cNvSpPr/>
          <p:nvPr/>
        </p:nvSpPr>
        <p:spPr>
          <a:xfrm>
            <a:off x="9509760" y="2057400"/>
            <a:ext cx="1965960" cy="914400"/>
          </a:xfrm>
          <a:prstGeom prst="rect">
            <a:avLst/>
          </a:prstGeom>
          <a:noFill/>
          <a:ln/>
        </p:spPr>
        <p:txBody>
          <a:bodyPr wrap="square" rtlCol="0" anchor="ctr"/>
          <a:lstStyle/>
          <a:p>
            <a:pPr marL="0" indent="0" algn="ctr">
              <a:buNone/>
            </a:pPr>
            <a:r>
              <a:rPr lang="en-US" sz="1500" b="1" dirty="0">
                <a:solidFill>
                  <a:srgbClr val="0B2138"/>
                </a:solidFill>
                <a:latin typeface="Cambria" pitchFamily="34" charset="0"/>
                <a:ea typeface="Cambria" pitchFamily="34" charset="-122"/>
                <a:cs typeface="Cambria" pitchFamily="34" charset="-120"/>
              </a:rPr>
              <a:t>Swarm deploy</a:t>
            </a:r>
            <a:endParaRPr lang="en-US" sz="1500" dirty="0"/>
          </a:p>
        </p:txBody>
      </p:sp>
      <p:sp>
        <p:nvSpPr>
          <p:cNvPr id="18" name="Shape 16"/>
          <p:cNvSpPr/>
          <p:nvPr/>
        </p:nvSpPr>
        <p:spPr>
          <a:xfrm>
            <a:off x="548640" y="3611880"/>
            <a:ext cx="11091672" cy="1417320"/>
          </a:xfrm>
          <a:prstGeom prst="roundRect">
            <a:avLst>
              <a:gd name="adj" fmla="val 6452"/>
            </a:avLst>
          </a:prstGeom>
          <a:solidFill>
            <a:srgbClr val="13314F"/>
          </a:solidFill>
          <a:ln w="19050">
            <a:solidFill>
              <a:srgbClr val="C77D1A"/>
            </a:solidFill>
            <a:prstDash val="solid"/>
          </a:ln>
          <a:effectLst>
            <a:outerShdw blurRad="88900" dist="38100" dir="5400000" algn="bl" rotWithShape="0">
              <a:srgbClr val="000000">
                <a:alpha val="40000"/>
              </a:srgbClr>
            </a:outerShdw>
          </a:effectLst>
        </p:spPr>
        <p:txBody>
          <a:bodyPr/>
          <a:lstStyle/>
          <a:p>
            <a:endParaRPr lang="en-US"/>
          </a:p>
        </p:txBody>
      </p:sp>
      <p:sp>
        <p:nvSpPr>
          <p:cNvPr id="19" name="Text 17"/>
          <p:cNvSpPr/>
          <p:nvPr/>
        </p:nvSpPr>
        <p:spPr>
          <a:xfrm>
            <a:off x="868680" y="3749040"/>
            <a:ext cx="5486400" cy="411480"/>
          </a:xfrm>
          <a:prstGeom prst="rect">
            <a:avLst/>
          </a:prstGeom>
          <a:noFill/>
          <a:ln/>
        </p:spPr>
        <p:txBody>
          <a:bodyPr wrap="square" lIns="0" tIns="0" rIns="0" bIns="0" rtlCol="0" anchor="ctr"/>
          <a:lstStyle/>
          <a:p>
            <a:pPr marL="0" indent="0">
              <a:buNone/>
            </a:pPr>
            <a:r>
              <a:rPr lang="en-US" sz="2000" b="1" dirty="0">
                <a:solidFill>
                  <a:srgbClr val="C77D1A"/>
                </a:solidFill>
                <a:latin typeface="Cambria" pitchFamily="34" charset="0"/>
                <a:ea typeface="Cambria" pitchFamily="34" charset="-122"/>
                <a:cs typeface="Cambria" pitchFamily="34" charset="-120"/>
              </a:rPr>
              <a:t>📌  Bài về nhà</a:t>
            </a:r>
            <a:endParaRPr lang="en-US" sz="2000" dirty="0"/>
          </a:p>
        </p:txBody>
      </p:sp>
      <p:sp>
        <p:nvSpPr>
          <p:cNvPr id="20" name="Text 18"/>
          <p:cNvSpPr/>
          <p:nvPr/>
        </p:nvSpPr>
        <p:spPr>
          <a:xfrm>
            <a:off x="868680" y="4206240"/>
            <a:ext cx="10424160" cy="777240"/>
          </a:xfrm>
          <a:prstGeom prst="rect">
            <a:avLst/>
          </a:prstGeom>
          <a:noFill/>
          <a:ln/>
        </p:spPr>
        <p:txBody>
          <a:bodyPr wrap="square" lIns="0" tIns="0" rIns="0" bIns="0" rtlCol="0" anchor="ctr"/>
          <a:lstStyle/>
          <a:p>
            <a:pPr marL="0" indent="0">
              <a:lnSpc>
                <a:spcPct val="120000"/>
              </a:lnSpc>
              <a:buNone/>
            </a:pPr>
            <a:r>
              <a:rPr lang="en-US" sz="1550" dirty="0">
                <a:solidFill>
                  <a:srgbClr val="DCEAF0"/>
                </a:solidFill>
                <a:latin typeface="Calibri" pitchFamily="34" charset="0"/>
                <a:ea typeface="Calibri" pitchFamily="34" charset="-122"/>
                <a:cs typeface="Calibri" pitchFamily="34" charset="-120"/>
              </a:rPr>
              <a:t>Xây pipeline end-to-end: push code lên GitLab → CI build &amp; push image → deploy lên Swarm 2 node bằng docker stack deploy.</a:t>
            </a:r>
            <a:endParaRPr lang="en-US" sz="1550" dirty="0"/>
          </a:p>
        </p:txBody>
      </p:sp>
      <p:sp>
        <p:nvSpPr>
          <p:cNvPr id="21" name="Text 19"/>
          <p:cNvSpPr/>
          <p:nvPr/>
        </p:nvSpPr>
        <p:spPr>
          <a:xfrm>
            <a:off x="548576" y="5760720"/>
            <a:ext cx="11091672" cy="457200"/>
          </a:xfrm>
          <a:prstGeom prst="rect">
            <a:avLst/>
          </a:prstGeom>
          <a:noFill/>
          <a:ln/>
        </p:spPr>
        <p:txBody>
          <a:bodyPr wrap="square" rtlCol="0" anchor="ctr"/>
          <a:lstStyle/>
          <a:p>
            <a:pPr marL="0" indent="0" algn="ctr">
              <a:buNone/>
            </a:pPr>
            <a:r>
              <a:rPr lang="en-US" sz="1400" i="1" dirty="0">
                <a:solidFill>
                  <a:srgbClr val="AFC6D4"/>
                </a:solidFill>
                <a:latin typeface="Calibri" pitchFamily="34" charset="0"/>
                <a:ea typeface="Calibri" pitchFamily="34" charset="-122"/>
                <a:cs typeface="Calibri" pitchFamily="34" charset="-120"/>
              </a:rPr>
              <a:t>Cảm ơn &amp; Q&amp;A  ·  docs.docker.com · docs.gitlab.com/ee/ci · docs.github.com/actions</a:t>
            </a:r>
            <a:endParaRPr lang="en-US" sz="1400" dirty="0"/>
          </a:p>
        </p:txBody>
      </p:sp>
      <p:sp>
        <p:nvSpPr>
          <p:cNvPr id="24" name="Text 4">
            <a:extLst>
              <a:ext uri="{FF2B5EF4-FFF2-40B4-BE49-F238E27FC236}">
                <a16:creationId xmlns:a16="http://schemas.microsoft.com/office/drawing/2014/main" id="{63E025B8-B3EF-6CB8-B55E-83D24AFB8229}"/>
              </a:ext>
            </a:extLst>
          </p:cNvPr>
          <p:cNvSpPr/>
          <p:nvPr/>
        </p:nvSpPr>
        <p:spPr>
          <a:xfrm>
            <a:off x="608012" y="5173133"/>
            <a:ext cx="5486400" cy="365760"/>
          </a:xfrm>
          <a:prstGeom prst="rect">
            <a:avLst/>
          </a:prstGeom>
          <a:noFill/>
          <a:ln/>
        </p:spPr>
        <p:txBody>
          <a:bodyPr wrap="square" lIns="0" tIns="0" rIns="0" bIns="0" rtlCol="0" anchor="ctr"/>
          <a:lstStyle/>
          <a:p>
            <a:pPr marL="0" indent="0">
              <a:buNone/>
            </a:pPr>
            <a:r>
              <a:rPr lang="en-US" sz="1400" b="1" dirty="0">
                <a:solidFill>
                  <a:srgbClr val="1FBFB3"/>
                </a:solidFill>
                <a:latin typeface="Calibri" pitchFamily="34" charset="0"/>
                <a:ea typeface="Calibri" pitchFamily="34" charset="-122"/>
                <a:cs typeface="Calibri" pitchFamily="34" charset="-120"/>
              </a:rPr>
              <a:t>Liên </a:t>
            </a:r>
            <a:r>
              <a:rPr lang="en-US" sz="1400" b="1" dirty="0" err="1">
                <a:solidFill>
                  <a:srgbClr val="1FBFB3"/>
                </a:solidFill>
                <a:latin typeface="Calibri" pitchFamily="34" charset="0"/>
                <a:ea typeface="Calibri" pitchFamily="34" charset="-122"/>
                <a:cs typeface="Calibri" pitchFamily="34" charset="-120"/>
              </a:rPr>
              <a:t>hệ</a:t>
            </a:r>
            <a:r>
              <a:rPr lang="en-US" sz="1400" b="1" dirty="0">
                <a:solidFill>
                  <a:srgbClr val="1FBFB3"/>
                </a:solidFill>
                <a:latin typeface="Calibri" pitchFamily="34" charset="0"/>
                <a:ea typeface="Calibri" pitchFamily="34" charset="-122"/>
                <a:cs typeface="Calibri" pitchFamily="34" charset="-120"/>
              </a:rPr>
              <a:t>: info@smaclink.vn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2668</Words>
  <Application>Microsoft Office PowerPoint</Application>
  <PresentationFormat>Custom</PresentationFormat>
  <Paragraphs>459</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 Docker &amp; DevOps</dc:title>
  <dc:subject>PptxGenJS Presentation</dc:subject>
  <dc:creator>Ebook DevOps &amp; Docker</dc:creator>
  <cp:lastModifiedBy>Colin Hoang</cp:lastModifiedBy>
  <cp:revision>2</cp:revision>
  <dcterms:created xsi:type="dcterms:W3CDTF">2026-07-13T03:24:51Z</dcterms:created>
  <dcterms:modified xsi:type="dcterms:W3CDTF">2026-07-29T04:02:03Z</dcterms:modified>
</cp:coreProperties>
</file>