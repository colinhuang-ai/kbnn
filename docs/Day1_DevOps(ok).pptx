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in Hoang" userId="02aee87d5f5f4acf" providerId="LiveId" clId="{E4EDE063-AEAF-4AF1-9BCF-D49211A3DBD4}"/>
    <pc:docChg chg="undo custSel modSld">
      <pc:chgData name="Colin Hoang" userId="02aee87d5f5f4acf" providerId="LiveId" clId="{E4EDE063-AEAF-4AF1-9BCF-D49211A3DBD4}" dt="2026-07-29T04:06:43.672" v="547" actId="14100"/>
      <pc:docMkLst>
        <pc:docMk/>
      </pc:docMkLst>
      <pc:sldChg chg="delSp mod">
        <pc:chgData name="Colin Hoang" userId="02aee87d5f5f4acf" providerId="LiveId" clId="{E4EDE063-AEAF-4AF1-9BCF-D49211A3DBD4}" dt="2026-07-13T03:53:05.515" v="30" actId="478"/>
        <pc:sldMkLst>
          <pc:docMk/>
          <pc:sldMk cId="0" sldId="256"/>
        </pc:sldMkLst>
      </pc:sldChg>
      <pc:sldChg chg="addSp delSp modSp mod">
        <pc:chgData name="Colin Hoang" userId="02aee87d5f5f4acf" providerId="LiveId" clId="{E4EDE063-AEAF-4AF1-9BCF-D49211A3DBD4}" dt="2026-07-29T04:06:43.672" v="547" actId="14100"/>
        <pc:sldMkLst>
          <pc:docMk/>
          <pc:sldMk cId="0" sldId="257"/>
        </pc:sldMkLst>
        <pc:spChg chg="mod">
          <ac:chgData name="Colin Hoang" userId="02aee87d5f5f4acf" providerId="LiveId" clId="{E4EDE063-AEAF-4AF1-9BCF-D49211A3DBD4}" dt="2026-07-29T03:40:02.202" v="339" actId="1035"/>
          <ac:spMkLst>
            <pc:docMk/>
            <pc:sldMk cId="0" sldId="257"/>
            <ac:spMk id="4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02.202" v="339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14.600" v="357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02.202" v="339" actId="1035"/>
          <ac:spMkLst>
            <pc:docMk/>
            <pc:sldMk cId="0" sldId="257"/>
            <ac:spMk id="7" creationId="{00000000-0000-0000-0000-000000000000}"/>
          </ac:spMkLst>
        </pc:spChg>
        <pc:spChg chg="del">
          <ac:chgData name="Colin Hoang" userId="02aee87d5f5f4acf" providerId="LiveId" clId="{E4EDE063-AEAF-4AF1-9BCF-D49211A3DBD4}" dt="2026-07-29T03:33:40.195" v="31" actId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48.055" v="36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2:20.034" v="435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2:02.801" v="413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48.055" v="360" actId="1076"/>
          <ac:spMkLst>
            <pc:docMk/>
            <pc:sldMk cId="0" sldId="257"/>
            <ac:spMk id="12" creationId="{00000000-0000-0000-0000-000000000000}"/>
          </ac:spMkLst>
        </pc:spChg>
        <pc:spChg chg="del">
          <ac:chgData name="Colin Hoang" userId="02aee87d5f5f4acf" providerId="LiveId" clId="{E4EDE063-AEAF-4AF1-9BCF-D49211A3DBD4}" dt="2026-07-29T03:33:42.644" v="32" actId="478"/>
          <ac:spMkLst>
            <pc:docMk/>
            <pc:sldMk cId="0" sldId="257"/>
            <ac:spMk id="13" creationId="{00000000-0000-0000-0000-000000000000}"/>
          </ac:spMkLst>
        </pc:spChg>
        <pc:spChg chg="add mod">
          <ac:chgData name="Colin Hoang" userId="02aee87d5f5f4acf" providerId="LiveId" clId="{E4EDE063-AEAF-4AF1-9BCF-D49211A3DBD4}" dt="2026-07-29T04:02:36.380" v="545" actId="20577"/>
          <ac:spMkLst>
            <pc:docMk/>
            <pc:sldMk cId="0" sldId="257"/>
            <ac:spMk id="13" creationId="{7090D05D-263B-B6AE-B99F-F6AB85683C7E}"/>
          </ac:spMkLst>
        </pc:spChg>
        <pc:spChg chg="mod">
          <ac:chgData name="Colin Hoang" userId="02aee87d5f5f4acf" providerId="LiveId" clId="{E4EDE063-AEAF-4AF1-9BCF-D49211A3DBD4}" dt="2026-07-29T03:40:38.298" v="359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2:23.627" v="436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38.298" v="359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38.298" v="359" actId="1076"/>
          <ac:spMkLst>
            <pc:docMk/>
            <pc:sldMk cId="0" sldId="257"/>
            <ac:spMk id="17" creationId="{00000000-0000-0000-0000-000000000000}"/>
          </ac:spMkLst>
        </pc:spChg>
        <pc:spChg chg="del">
          <ac:chgData name="Colin Hoang" userId="02aee87d5f5f4acf" providerId="LiveId" clId="{E4EDE063-AEAF-4AF1-9BCF-D49211A3DBD4}" dt="2026-07-29T03:33:46.904" v="33" actId="478"/>
          <ac:spMkLst>
            <pc:docMk/>
            <pc:sldMk cId="0" sldId="257"/>
            <ac:spMk id="18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3:41.616" v="439" actId="10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3:41.616" v="439" actId="10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2:12.431" v="434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3:41.616" v="439" actId="1036"/>
          <ac:spMkLst>
            <pc:docMk/>
            <pc:sldMk cId="0" sldId="257"/>
            <ac:spMk id="22" creationId="{00000000-0000-0000-0000-000000000000}"/>
          </ac:spMkLst>
        </pc:spChg>
        <pc:spChg chg="del">
          <ac:chgData name="Colin Hoang" userId="02aee87d5f5f4acf" providerId="LiveId" clId="{E4EDE063-AEAF-4AF1-9BCF-D49211A3DBD4}" dt="2026-07-29T03:33:49.811" v="34" actId="478"/>
          <ac:spMkLst>
            <pc:docMk/>
            <pc:sldMk cId="0" sldId="257"/>
            <ac:spMk id="23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02.202" v="339" actId="103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02.202" v="339" actId="103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02.202" v="339" actId="1035"/>
          <ac:spMkLst>
            <pc:docMk/>
            <pc:sldMk cId="0" sldId="257"/>
            <ac:spMk id="26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40:02.202" v="339" actId="1035"/>
          <ac:spMkLst>
            <pc:docMk/>
            <pc:sldMk cId="0" sldId="257"/>
            <ac:spMk id="27" creationId="{00000000-0000-0000-0000-000000000000}"/>
          </ac:spMkLst>
        </pc:spChg>
        <pc:spChg chg="del">
          <ac:chgData name="Colin Hoang" userId="02aee87d5f5f4acf" providerId="LiveId" clId="{E4EDE063-AEAF-4AF1-9BCF-D49211A3DBD4}" dt="2026-07-29T03:33:53.265" v="35" actId="478"/>
          <ac:spMkLst>
            <pc:docMk/>
            <pc:sldMk cId="0" sldId="257"/>
            <ac:spMk id="28" creationId="{00000000-0000-0000-0000-000000000000}"/>
          </ac:spMkLst>
        </pc:spChg>
        <pc:spChg chg="add mod">
          <ac:chgData name="Colin Hoang" userId="02aee87d5f5f4acf" providerId="LiveId" clId="{E4EDE063-AEAF-4AF1-9BCF-D49211A3DBD4}" dt="2026-07-29T04:06:40.577" v="546" actId="14100"/>
          <ac:spMkLst>
            <pc:docMk/>
            <pc:sldMk cId="0" sldId="257"/>
            <ac:spMk id="40" creationId="{CF451C55-E68A-DD3A-FF04-6434A7347931}"/>
          </ac:spMkLst>
        </pc:spChg>
        <pc:spChg chg="add del mod">
          <ac:chgData name="Colin Hoang" userId="02aee87d5f5f4acf" providerId="LiveId" clId="{E4EDE063-AEAF-4AF1-9BCF-D49211A3DBD4}" dt="2026-07-29T03:37:20.459" v="203" actId="478"/>
          <ac:spMkLst>
            <pc:docMk/>
            <pc:sldMk cId="0" sldId="257"/>
            <ac:spMk id="42" creationId="{156B8866-C4CE-EBE0-E1F7-0512AC1E40BB}"/>
          </ac:spMkLst>
        </pc:spChg>
        <pc:spChg chg="add mod">
          <ac:chgData name="Colin Hoang" userId="02aee87d5f5f4acf" providerId="LiveId" clId="{E4EDE063-AEAF-4AF1-9BCF-D49211A3DBD4}" dt="2026-07-29T04:02:34.224" v="544" actId="20577"/>
          <ac:spMkLst>
            <pc:docMk/>
            <pc:sldMk cId="0" sldId="257"/>
            <ac:spMk id="44" creationId="{29F70BDC-2EA1-A1A3-1137-1762F39E3662}"/>
          </ac:spMkLst>
        </pc:spChg>
        <pc:spChg chg="add del mod">
          <ac:chgData name="Colin Hoang" userId="02aee87d5f5f4acf" providerId="LiveId" clId="{E4EDE063-AEAF-4AF1-9BCF-D49211A3DBD4}" dt="2026-07-29T03:55:46.083" v="444" actId="478"/>
          <ac:spMkLst>
            <pc:docMk/>
            <pc:sldMk cId="0" sldId="257"/>
            <ac:spMk id="46" creationId="{318D3D3B-822C-B6A4-BDA7-070672BD3757}"/>
          </ac:spMkLst>
        </pc:spChg>
        <pc:spChg chg="add mod">
          <ac:chgData name="Colin Hoang" userId="02aee87d5f5f4acf" providerId="LiveId" clId="{E4EDE063-AEAF-4AF1-9BCF-D49211A3DBD4}" dt="2026-07-29T04:06:43.672" v="547" actId="14100"/>
          <ac:spMkLst>
            <pc:docMk/>
            <pc:sldMk cId="0" sldId="257"/>
            <ac:spMk id="48" creationId="{AB39F77F-8A3A-9983-0D73-86F6DE506DAC}"/>
          </ac:spMkLst>
        </pc:spChg>
        <pc:spChg chg="add del mod">
          <ac:chgData name="Colin Hoang" userId="02aee87d5f5f4acf" providerId="LiveId" clId="{E4EDE063-AEAF-4AF1-9BCF-D49211A3DBD4}" dt="2026-07-29T03:56:37.600" v="452" actId="478"/>
          <ac:spMkLst>
            <pc:docMk/>
            <pc:sldMk cId="0" sldId="257"/>
            <ac:spMk id="50" creationId="{ECED7652-0290-36B8-B51A-FA2E0284BD88}"/>
          </ac:spMkLst>
        </pc:spChg>
        <pc:spChg chg="add del mod">
          <ac:chgData name="Colin Hoang" userId="02aee87d5f5f4acf" providerId="LiveId" clId="{E4EDE063-AEAF-4AF1-9BCF-D49211A3DBD4}" dt="2026-07-29T03:56:41.485" v="453" actId="478"/>
          <ac:spMkLst>
            <pc:docMk/>
            <pc:sldMk cId="0" sldId="257"/>
            <ac:spMk id="52" creationId="{0BFA8A5E-D3C4-CCB9-E874-1BE5FFBE0C90}"/>
          </ac:spMkLst>
        </pc:spChg>
      </pc:sldChg>
      <pc:sldChg chg="modSp mod">
        <pc:chgData name="Colin Hoang" userId="02aee87d5f5f4acf" providerId="LiveId" clId="{E4EDE063-AEAF-4AF1-9BCF-D49211A3DBD4}" dt="2026-07-29T03:54:26.683" v="443" actId="14100"/>
        <pc:sldMkLst>
          <pc:docMk/>
          <pc:sldMk cId="0" sldId="258"/>
        </pc:sldMkLst>
        <pc:spChg chg="mod">
          <ac:chgData name="Colin Hoang" userId="02aee87d5f5f4acf" providerId="LiveId" clId="{E4EDE063-AEAF-4AF1-9BCF-D49211A3DBD4}" dt="2026-07-29T03:54:08.692" v="440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4:14.732" v="441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4:21.399" v="442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Colin Hoang" userId="02aee87d5f5f4acf" providerId="LiveId" clId="{E4EDE063-AEAF-4AF1-9BCF-D49211A3DBD4}" dt="2026-07-29T03:54:26.683" v="443" actId="14100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Colin Hoang" userId="02aee87d5f5f4acf" providerId="LiveId" clId="{E4EDE063-AEAF-4AF1-9BCF-D49211A3DBD4}" dt="2026-07-12T04:38:39.342" v="29" actId="20577"/>
        <pc:sldMkLst>
          <pc:docMk/>
          <pc:sldMk cId="0" sldId="283"/>
        </pc:sldMkLst>
        <pc:spChg chg="mod">
          <ac:chgData name="Colin Hoang" userId="02aee87d5f5f4acf" providerId="LiveId" clId="{E4EDE063-AEAF-4AF1-9BCF-D49211A3DBD4}" dt="2026-07-12T04:38:39.342" v="29" actId="20577"/>
          <ac:spMkLst>
            <pc:docMk/>
            <pc:sldMk cId="0" sldId="28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13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mừng học viên. Giới thiệu bản thân, mục tiêu ngày học và cách thức thực hành theo cặp/nhóm.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mạnh: mỗi session đều có lab thực hành nối tiếp nhau thành 1 dự án xuyên suốt — cuối ngày mỗi người có 1 repo hoàn chỉnh.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Khảo sát nhanh nền tảng học viên (đã dùng Git? Docker?) để điều chỉnh nhịp giảng.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đời thường: nhà hàng — đầu bếp (Dev) và phục vụ (Ops) phải phối hợp; nếu chỉ nấu nhanh mà bưng chậm thì khách vẫn không hài lòng.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DORA nghiên cứu hàng chục nghìn tổ chức. Điểm nhấn: nhanh hơn KHÔNG đánh đổi ổn định — đội elite vừa deploy nhiều hơn vừa ít lỗi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Đừng sa đà chi tiết từng tool — mục tiêu là học viên thấy bức tranh: mỗi khâu trong vòng lặp DevOps có công cụ tương ứng.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 sẵn VM image / máy dự phòng cho học viên gặp lỗi cài đặt. Ai xong sớm: thử docker run hello-world.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live: chạy ansible -m ping trước, rồi chạy playbook cài nginx lên máy test — học viên xem trước khi tự làm.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khác biệt tư duy: khai báo trạng thái mong muốn (declarative) thay vì viết từng bước lệnh (imperative).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Kubespray là phần nâng cao — chỉ dành cho nhóm nhanh; các nhóm khác hoàn thành 2 lab chính là đạt.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Hỏi lớp: công ty bạn đang ở cấp độ nào? Thường đa số vẫn deploy thủ công — đó chính là gap mà buổi học này giải quyết.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Vẽ nhanh lên bảng luồng: dev push nhánh feature → PR → review → merge → pipeline deploy. Đây chính là thứ học viên sẽ tự dựng ở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thực tế: Facebook/Google dùng canary cho hầu hết release. Hỏi lớp: ngân hàng nên chọn chiến lược nào? Vì sao?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Khoảnh khắc 'aha' của cả ngày: học viên push 1 dòng sửa và nhìn web tự cập nhật. Dành thời gian cho từng người trải nghiệm.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docker compose up một app web + database, sau đó xóa container và chỉ ra dữ liệu mất nếu không có volume — dẫn vào lý do cần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Đừng dạy sâu — mục tiêu là học viên hiểu 4 khái niệm lõi và thấy demo self-healing ở lab (xóa pod, K8s tự dựng lại).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Kể một sự cố thật: hệ thống sập lúc 2h sáng, không có alert thì sáng hôm sau mới biết — thiệt hại ra sao. Monitoring là bảo hiểm.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Minikube tải image khá lâu — cho học viên pull image từ giờ giải lao trước đó, hoặc chuẩn bị registry mirror nội bộ.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Chia sẻ mức lương tham khảo thời điểm hiện tại (junior/mid/senior) và các kênh tuyển dụng. Nhấn mạnh: DevOps không phải chỉ là 'biết nhiều tool'.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chi phí thi tham khảo: AWS CP ~100$, SAA ~150$, CKA ~395$ (hay có giảm giá). CKA thi thực hành trên terminal — rất được nhà tuyển dụng đánh giá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Điều chỉnh lộ trình theo nền tảng học viên: dev đã biết Git/Docker có thể rút xuống 6 tháng; người trái ngành nên đi đủ 12 tháng.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Chấm capstone theo 3 tiêu chí: đúng vấn đề, chọn tool có lý do, trình bày rõ. Không có đáp án duy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Gửi link khảo sát + link repo tổng hợp tài liệu. Nhắc học viên giữ lại VM/repo để tự ôn.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ĐÀO TẠO 1 NGÀY  ·  8 GIỜ  ·  5 SESSION × 90 PHÚT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4630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Tự động hóa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 ứng dụng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khái niệm đến pipeline CI/CD đầu tiên — lý thuyết đi kèm thực hành,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thực tế, chứng chỉ và lộ trình học nghề DevOps.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79487" y="5015484"/>
            <a:ext cx="362834" cy="164592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44368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00895" y="5015484"/>
            <a:ext cx="362834" cy="164592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65776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2303" y="5015484"/>
            <a:ext cx="362834" cy="164592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87184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43711" y="5015484"/>
            <a:ext cx="362834" cy="164592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08592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Chương trình ngày học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2335110"/>
            <a:ext cx="7498080" cy="557784"/>
          </a:xfrm>
          <a:prstGeom prst="roundRect">
            <a:avLst>
              <a:gd name="adj" fmla="val 1046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2312" y="242655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7528" y="237625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thiệu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DevOps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57528" y="264600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niệm, lợi ích, toolchain · Lab: dựng môi trường dev + 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4690533"/>
            <a:ext cx="7498080" cy="493776"/>
          </a:xfrm>
          <a:prstGeom prst="roundRect">
            <a:avLst>
              <a:gd name="adj" fmla="val 1046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4745397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91056" y="4653957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Ansible, Terraform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591056" y="4964853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Playbook, Infrastructure as Code · Lab: deploy web bằng 1 lệnh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1643" y="5302673"/>
            <a:ext cx="7498080" cy="548640"/>
          </a:xfrm>
          <a:prstGeom prst="roundRect">
            <a:avLst>
              <a:gd name="adj" fmla="val 1046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1955" y="5357537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77171" y="5266097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 — Tự động hóa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Gitlab Runner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77171" y="5576993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chiến lược deploy · Lab: GitHub Actions + Docker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" y="5947155"/>
            <a:ext cx="7498080" cy="548640"/>
          </a:xfrm>
          <a:prstGeom prst="roundRect">
            <a:avLst>
              <a:gd name="adj" fmla="val 1046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6020307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91056" y="591532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Container, Kubernetes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</a:t>
            </a:r>
            <a:r>
              <a:rPr lang="en-US" sz="145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Grafana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591056" y="6239763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K8s, Prometheus/Grafana · Lab: Minikube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2000" y="3016338"/>
            <a:ext cx="7498080" cy="557784"/>
          </a:xfrm>
          <a:prstGeom prst="roundRect">
            <a:avLst>
              <a:gd name="adj" fmla="val 1046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2312" y="310777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7528" y="301633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Nghề DevOps: Công việc, Chứng chỉ, Lộ trình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557528" y="332723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thực tế, bản đồ chứng chỉ · Capstone nhóm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58200" y="1554480"/>
            <a:ext cx="3044952" cy="3291840"/>
          </a:xfrm>
          <a:prstGeom prst="roundRect">
            <a:avLst>
              <a:gd name="adj" fmla="val 270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SESSION 90’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45’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60120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&amp; demo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686800" y="3035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40’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601200" y="3145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(lab)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686800" y="387705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5’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601200" y="3986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trong DevOps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458200" y="5029200"/>
            <a:ext cx="3044952" cy="969264"/>
          </a:xfrm>
          <a:prstGeom prst="roundRect">
            <a:avLst>
              <a:gd name="adj" fmla="val 8491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686800" y="5029200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lao 15’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giữa các session
</a:t>
            </a: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Nghỉ trưa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11:15 – 12:00</a:t>
            </a:r>
            <a:endParaRPr lang="en-US" sz="1250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CF451C55-E68A-DD3A-FF04-6434A7347931}"/>
              </a:ext>
            </a:extLst>
          </p:cNvPr>
          <p:cNvSpPr/>
          <p:nvPr/>
        </p:nvSpPr>
        <p:spPr>
          <a:xfrm>
            <a:off x="204216" y="1344168"/>
            <a:ext cx="8055864" cy="786384"/>
          </a:xfrm>
          <a:prstGeom prst="roundRect">
            <a:avLst>
              <a:gd name="adj" fmla="val 1046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29F70BDC-2EA1-A1A3-1137-1762F39E3662}"/>
              </a:ext>
            </a:extLst>
          </p:cNvPr>
          <p:cNvSpPr/>
          <p:nvPr/>
        </p:nvSpPr>
        <p:spPr>
          <a:xfrm>
            <a:off x="338667" y="1478871"/>
            <a:ext cx="7227145" cy="47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DevOps,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SysOps</a:t>
            </a: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</a:t>
            </a: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thăng</a:t>
            </a: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</a:t>
            </a:r>
            <a:endParaRPr lang="en-US" sz="2400" b="1"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AB39F77F-8A3A-9983-0D73-86F6DE506DAC}"/>
              </a:ext>
            </a:extLst>
          </p:cNvPr>
          <p:cNvSpPr/>
          <p:nvPr/>
        </p:nvSpPr>
        <p:spPr>
          <a:xfrm>
            <a:off x="252984" y="3785277"/>
            <a:ext cx="8007096" cy="786384"/>
          </a:xfrm>
          <a:prstGeom prst="roundRect">
            <a:avLst>
              <a:gd name="adj" fmla="val 1046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7090D05D-263B-B6AE-B99F-F6AB85683C7E}"/>
              </a:ext>
            </a:extLst>
          </p:cNvPr>
          <p:cNvSpPr/>
          <p:nvPr/>
        </p:nvSpPr>
        <p:spPr>
          <a:xfrm>
            <a:off x="388451" y="3927514"/>
            <a:ext cx="7227145" cy="47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–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DevOpstasks</a:t>
            </a: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xu </a:t>
            </a:r>
            <a:r>
              <a:rPr lang="en-US" sz="2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Automation</a:t>
            </a:r>
            <a:endParaRPr 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 buổi học, bạn sẽ…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162763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98448" y="155448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văn hóa &amp; quy trình DevOps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Plan → Deploy → Monitor và vì sao doanh nghiệp cần nó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5328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2459736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tay dựng pipeline CI/CD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→ tự động build, test, deploy lên máy chủ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43814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3364992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bằng Ansible &amp; Terraform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cấu hình và hạ tầng như mã (IaC)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43434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427024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ứng dụng trên Kubernetes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 giám sát bằng Prometheus + Grafana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524865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98448" y="517550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lộ trình học rõ ràng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chỉ nên thi, kỹ năng cần bổ sung trong 6–12 tháng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26680" y="1600200"/>
            <a:ext cx="3776472" cy="4434840"/>
          </a:xfrm>
          <a:prstGeom prst="roundRect">
            <a:avLst>
              <a:gd name="adj" fmla="val 217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010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TRƯỚC BUỔI HỌC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01000" y="22402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30768" y="22037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≥ 8 GB RAM, còn trống 30 GB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01000" y="284378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30768" y="2807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/ VMware hoặc WSL2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01000" y="34472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30768" y="34107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tài khoản GitHub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01000" y="40507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30768" y="40142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ChatGPT (hoặc Claude)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01000" y="4654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30768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sẵn Docker Desktop (khuyến khích)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01000" y="5349240"/>
            <a:ext cx="3227832" cy="566928"/>
          </a:xfrm>
          <a:prstGeom prst="roundRect">
            <a:avLst>
              <a:gd name="adj" fmla="val 14516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83880" y="53492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vào: </a:t>
            </a: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Linux cơ bản (command line)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3444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394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709160" y="1417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08:00 – 09:30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09160" y="17830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về DevOps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4754880" y="30632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 và văn hóa DevOps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so với mô hình truyền thống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công cụ: Git, Jenkins, Docker, Kubernetes…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thiết lập môi trường dev + 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5623560"/>
            <a:ext cx="1540764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45’ Lý thuyết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24244" y="5623560"/>
            <a:ext cx="1540764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40’ Thực hành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93608" y="5623560"/>
            <a:ext cx="772668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5’ 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KHÁI NIỆM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là gì?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36192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53619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= Development + Operations.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hóa và tập hợp thực hành giúp đội phát triển và đội vận hành cùng chịu trách nhiệm, để giao phần mềm nhanh hơn, ổn định hơn — với tự động hóa ở trung tâm.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DEVOPS — LIÊN TỤC, KHÔNG CÓ ĐIỂM DỪNG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310896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3726" y="3264408"/>
            <a:ext cx="321869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310896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2526" y="3264408"/>
            <a:ext cx="321869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310896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1326" y="3264408"/>
            <a:ext cx="321869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03720" y="310896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97764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4133088"/>
            <a:ext cx="320040" cy="164592"/>
          </a:xfrm>
          <a:prstGeom prst="lef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397764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4133088"/>
            <a:ext cx="320040" cy="164592"/>
          </a:xfrm>
          <a:prstGeom prst="lef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397764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4133088"/>
            <a:ext cx="320040" cy="164592"/>
          </a:xfrm>
          <a:prstGeom prst="lef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397764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23960" y="3200400"/>
            <a:ext cx="219456" cy="1097280"/>
          </a:xfrm>
          <a:prstGeom prst="downArrow">
            <a:avLst/>
          </a:prstGeom>
          <a:solidFill>
            <a:srgbClr val="F4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3200400"/>
            <a:ext cx="219456" cy="1097280"/>
          </a:xfrm>
          <a:prstGeom prst="upArrow">
            <a:avLst/>
          </a:prstGeom>
          <a:solidFill>
            <a:srgbClr val="F4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08960" y="2761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5074920"/>
            <a:ext cx="3483864" cy="1170432"/>
          </a:xfrm>
          <a:prstGeom prst="roundRect">
            <a:avLst>
              <a:gd name="adj" fmla="val 7031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6968" y="519379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hóa cộng tác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và Ops chung mục tiêu, chung trách nhiệm — không đổ lỗi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352544" y="5074920"/>
            <a:ext cx="3483864" cy="1170432"/>
          </a:xfrm>
          <a:prstGeom prst="roundRect">
            <a:avLst>
              <a:gd name="adj" fmla="val 7031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53712" y="519379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tối đa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bước lặp lại được đều nên giao cho máy: build, test, deploy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19288" y="5074920"/>
            <a:ext cx="3483864" cy="1170432"/>
          </a:xfrm>
          <a:prstGeom prst="roundRect">
            <a:avLst>
              <a:gd name="adj" fmla="val 7031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0456" y="519379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&amp; cải tiến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dựa trên số liệu: tần suất deploy, thời gian khôi phục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LỢI ÍCH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doanh nghiệp chuyển sang DevOps?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303520" cy="2834640"/>
          </a:xfrm>
          <a:prstGeom prst="roundRect">
            <a:avLst>
              <a:gd name="adj" fmla="val 290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TRUYỀN THỐNG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121408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theo quý / năm</a:t>
            </a: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chờ gom đủ tính năng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thủ công</a:t>
            </a: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checklist dài, dễ sai sót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và Ops tách biệt</a:t>
            </a: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“ném qua tường”, đổ lỗi lẫn nhau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cố khôi phục chậm</a:t>
            </a: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không rõ bản nào đang chạy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554480"/>
            <a:ext cx="5303520" cy="2834640"/>
          </a:xfrm>
          <a:prstGeom prst="roundRect">
            <a:avLst>
              <a:gd name="adj" fmla="val 2903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DEVOPS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2121408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hàng ngày / hàng tuần</a:t>
            </a: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tính năng đến tay user sớm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tự động</a:t>
            </a: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lặp lại được, giảm lỗi con người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 trách nhiệm</a:t>
            </a: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“You build it, you run it”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&amp; khôi phục nhanh</a:t>
            </a: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giám sát + rollback tự động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3483864" cy="13716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828032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973×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546811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 suất deploy cao hơn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52544" y="4663440"/>
            <a:ext cx="3483864" cy="13716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52544" y="4828032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6.570×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35424" y="546811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ngắn hơn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9288" y="4663440"/>
            <a:ext cx="3483864" cy="13716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19288" y="4828032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202168" y="546811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thay đổi gây lỗi thấp hơn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6172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“elite” so với đội thấp nhất — Nguồn: DORA, State of DevOps Report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CÔNG CỤ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công cụ DevOps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303520" cy="1024128"/>
          </a:xfrm>
          <a:prstGeom prst="roundRect">
            <a:avLst>
              <a:gd name="adj" fmla="val 80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19293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27048" y="175564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mã nguồn — nền tảng của mọi thứ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303520" cy="1024128"/>
          </a:xfrm>
          <a:prstGeom prst="roundRect">
            <a:avLst>
              <a:gd name="adj" fmla="val 80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9293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175564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/ GitHub Actions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chủ CI/CD — chạy pipeline tự động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5303520" cy="1024128"/>
          </a:xfrm>
          <a:prstGeom prst="roundRect">
            <a:avLst>
              <a:gd name="adj" fmla="val 80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3118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27048" y="294436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ứng dụng thành container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9632" y="2834640"/>
            <a:ext cx="5303520" cy="1024128"/>
          </a:xfrm>
          <a:prstGeom prst="roundRect">
            <a:avLst>
              <a:gd name="adj" fmla="val 80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3118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294436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container ở quy mô lớn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023360"/>
            <a:ext cx="5303520" cy="1024128"/>
          </a:xfrm>
          <a:prstGeom prst="roundRect">
            <a:avLst>
              <a:gd name="adj" fmla="val 80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968" y="43068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27048" y="413308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cấu hình — cài đặt phần mềm hàng loạt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9632" y="4023360"/>
            <a:ext cx="5303520" cy="1024128"/>
          </a:xfrm>
          <a:prstGeom prst="roundRect">
            <a:avLst>
              <a:gd name="adj" fmla="val 80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43068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413308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như mã — tạo/hủy tài nguyên cloud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5212080"/>
            <a:ext cx="5303520" cy="1024128"/>
          </a:xfrm>
          <a:prstGeom prst="roundRect">
            <a:avLst>
              <a:gd name="adj" fmla="val 80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" y="54955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27048" y="532180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metrics &amp; dashboard giám sát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99632" y="5212080"/>
            <a:ext cx="5303520" cy="1024128"/>
          </a:xfrm>
          <a:prstGeom prst="roundRect">
            <a:avLst>
              <a:gd name="adj" fmla="val 80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5495544"/>
            <a:ext cx="457200" cy="457200"/>
          </a:xfrm>
          <a:prstGeom prst="ellipse">
            <a:avLst/>
          </a:prstGeom>
          <a:solidFill>
            <a:srgbClr val="F4A8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532180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AI Agent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lý: viết script, review config, debug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hôm nay sẽ chạm tay vào tất cả các nhóm công cụ này — mỗi session một mảnh ghép.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THỰC HÀNH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Dựng môi trường DevOps đầu tiên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92640" y="658368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F4A825"/>
          </a:solidFill>
          <a:ln>
            <a:solidFill>
              <a:srgbClr val="F4A82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40’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303520" cy="2514600"/>
          </a:xfrm>
          <a:prstGeom prst="roundRect">
            <a:avLst>
              <a:gd name="adj" fmla="val 327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025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phát triển (dev)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386584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Ubuntu VM hoặc bật WSL2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Git, Docker Engine, cấu hình SSH key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tài khoản GitHub, clone repo mẫu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303520" cy="2514600"/>
          </a:xfrm>
          <a:prstGeom prst="roundRect">
            <a:avLst>
              <a:gd name="adj" fmla="val 327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28232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8232" y="20025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kiểm thử (test)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28232" y="2386584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VM / container thứ hai làm máy test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SSH giữa máy dev ↔ máy test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nền cho lab Ansible ở Session 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343400"/>
            <a:ext cx="10817352" cy="960120"/>
          </a:xfrm>
          <a:prstGeom prst="roundRect">
            <a:avLst>
              <a:gd name="adj" fmla="val 8571"/>
            </a:avLst>
          </a:prstGeom>
          <a:solidFill>
            <a:srgbClr val="FCF3DD"/>
          </a:solidFill>
          <a:ln w="12700">
            <a:solidFill>
              <a:srgbClr val="FCF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631436"/>
            <a:ext cx="384048" cy="384048"/>
          </a:xfrm>
          <a:prstGeom prst="ellipse">
            <a:avLst/>
          </a:prstGeom>
          <a:solidFill>
            <a:srgbClr val="F4A8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3434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— hỏi ChatGPT: “So sánh Jenkins vs GitLab CI vs GitHub Actions cho team 5 người” và “Giải thích DevOps bằng một ví dụ đời thường”. Thảo luận: câu trả lời của AI đáng tin đến đâu, kiểm chứng thế nào?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577840"/>
            <a:ext cx="10817352" cy="475488"/>
          </a:xfrm>
          <a:prstGeom prst="roundRect">
            <a:avLst>
              <a:gd name="adj" fmla="val 17308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CHECKPOINT 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máy dev – test kết nối được với nhau qua SSH.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3444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394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709160" y="1417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09:45 – 11:15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09160" y="17830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Tools: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&amp; Terraform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4754880" y="30632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Ansible: kiến trúc agentless, viết playbook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và Infrastructure as Code (IaC)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deploy web server bằng 1 lệnh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Lab: Antigravity dựng Ansible server, Kubespray + debug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5623560"/>
            <a:ext cx="1540764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35’ Lý thuyết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24244" y="5623560"/>
            <a:ext cx="1540764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45’ Thực hành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93608" y="562356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10’ AI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QUẢN LÝ CẤU HÌNH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— tự động hóa cấu hình máy chủ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</a:t>
            </a: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không cần cài gì trên máy đích, chỉ cần SSH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danh sách máy chủ cần quản lý (file hosts)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đơn vị hành động: apt, copy, service, user…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file YAML mô tả trạng thái mong muốn của hệ thống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chạy lại nhiều lần, kết quả không đổi — an toàn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074920" cy="2011680"/>
          </a:xfrm>
          <a:prstGeom prst="roundRect">
            <a:avLst>
              <a:gd name="adj" fmla="val 4091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75120" y="21488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(máy dev)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921240" y="1965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0" y="2084832"/>
            <a:ext cx="1371600" cy="146304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21240" y="2532888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0" y="2651760"/>
            <a:ext cx="1371600" cy="146304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21240" y="309981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3218688"/>
            <a:ext cx="1371600" cy="146304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1810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794760"/>
            <a:ext cx="5074920" cy="2286000"/>
          </a:xfrm>
          <a:prstGeom prst="roundRect">
            <a:avLst>
              <a:gd name="adj" fmla="val 36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PLAYBOOK.YML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400" y="4224528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hosts: web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become: yes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Cài Nginx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apt: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nginx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present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5806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playbook thay cho hàng trăm lần gõ lệnh thủ công trên từng máy.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INFRASTRUCTURE AS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— hạ tầng như mã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ĐỜI TERRAFORM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2148840" cy="5029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58084" y="2043684"/>
            <a:ext cx="438912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20440" y="1874520"/>
            <a:ext cx="214884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92724" y="2043684"/>
            <a:ext cx="438912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1874520"/>
            <a:ext cx="2148840" cy="5029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27364" y="2043684"/>
            <a:ext cx="438912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89720" y="1874520"/>
            <a:ext cx="2148840" cy="502920"/>
          </a:xfrm>
          <a:prstGeom prst="roundRect">
            <a:avLst>
              <a:gd name="adj" fmla="val 50000"/>
            </a:avLst>
          </a:prstGeom>
          <a:solidFill>
            <a:srgbClr val="8A4B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nằm trong Git</a:t>
            </a: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review, rollback, lịch sử thay đổi như code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lập môi trường giống hệt</a:t>
            </a: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dev – staging – production đồng nhất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xem trước</a:t>
            </a: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biết chính xác cái gì sẽ thay đổi trước khi chạy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</a:t>
            </a: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Terraform nhớ hạ tầng thực tế để tính toán khác biệt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5074920" cy="3246120"/>
          </a:xfrm>
          <a:prstGeom prst="roundRect">
            <a:avLst>
              <a:gd name="adj" fmla="val 253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56832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vs TERRAFORM — DÙNG CÁI NÀO?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56832" y="3291840"/>
            <a:ext cx="4572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provisioning
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/ thay đổi / hủy tài nguyên: VM, mạng, database, cluster.
</a:t>
            </a: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— configuration
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&amp; thiết lập phần mềm trên máy đã tồn tại.
</a:t>
            </a:r>
            <a:r>
              <a:rPr lang="en-US" sz="1300" b="1" dirty="0">
                <a:solidFill>
                  <a:srgbClr val="8A4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tế: dùng cả hai
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dựng máy chủ → Ansible cấu hình phần mềm bên trong.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THỰC HÀNH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Tự động hóa bằng Ansible &amp; Terraform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92640" y="658368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F4A825"/>
          </a:solidFill>
          <a:ln>
            <a:solidFill>
              <a:srgbClr val="F4A82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45’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025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Ansible: deploy web bằng 1 lệnh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386584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Ansible trên máy dev, khai báo inventory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playbook: cài Nginx + copy trang web tĩnh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ansible-playbook → web sống trên máy test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28232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8232" y="20025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tạo &amp; quản lý hạ tầng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28232" y="2386584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file .tf tạo Docker container / VM free-tier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→ apply, quan sát tài nguyên tạo ra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code, apply lại → hạ tầng đổi theo mã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10817352" cy="1051560"/>
          </a:xfrm>
          <a:prstGeom prst="roundRect">
            <a:avLst>
              <a:gd name="adj" fmla="val 7826"/>
            </a:avLst>
          </a:prstGeom>
          <a:solidFill>
            <a:srgbClr val="FCF3DD"/>
          </a:solidFill>
          <a:ln w="12700">
            <a:solidFill>
              <a:srgbClr val="FCF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539996"/>
            <a:ext cx="384048" cy="384048"/>
          </a:xfrm>
          <a:prstGeom prst="ellipse">
            <a:avLst/>
          </a:prstGeom>
          <a:solidFill>
            <a:srgbClr val="F4A8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2062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— cài Antigravity (AI coding agent), yêu cầu nó dựng Ansible server. Nâng cao: chạy Kubespray để cài Kubernetes cluster, khi gặp lỗi thì dán log cho AI debug — thực hành quy trình “AI viết – người kiểm tra”.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577840"/>
            <a:ext cx="10817352" cy="475488"/>
          </a:xfrm>
          <a:prstGeom prst="roundRect">
            <a:avLst>
              <a:gd name="adj" fmla="val 17308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CHECKPOINT 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được web server bằng playbook và tạo / hủy được hạ tầng bằng Terraform.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3444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394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709160" y="1417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12:00 – 13:30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09160" y="17830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— Tự động hóa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 ứng dụng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4754880" y="30632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vs Delivery vs Deployment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phẫu pipeline: trigger, stage, runner, artifact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deploy: Rolling, Blue-Green, Canary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pipeline GitHub Actions + Docker hoàn chỉnh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5623560"/>
            <a:ext cx="1540764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35’ Lý thuyết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24244" y="5623560"/>
            <a:ext cx="1540764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45’ Thực hành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93608" y="562356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10’ AI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KHÁI NIỆM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/ CD — ba cấp độ tự động hóa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817352" cy="1389888"/>
          </a:xfrm>
          <a:prstGeom prst="roundRect">
            <a:avLst>
              <a:gd name="adj" fmla="val 5921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773936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
</a:t>
            </a: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lần push: tự động build + chạy test. Phát hiện lỗi sau vài phút, không phải vài tuần.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77840" y="2084832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56614" y="2203704"/>
            <a:ext cx="163860" cy="164592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2084832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45334" y="2203704"/>
            <a:ext cx="163860" cy="164592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55280" y="2084832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163824"/>
            <a:ext cx="10817352" cy="1389888"/>
          </a:xfrm>
          <a:prstGeom prst="roundRect">
            <a:avLst>
              <a:gd name="adj" fmla="val 5921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310128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
</a:t>
            </a: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có bản sẵn sàng release — deploy lên production bằng một nút bấm (phê duyệt tay).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3621024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56614" y="3739896"/>
            <a:ext cx="163860" cy="164592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3621024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45334" y="3739896"/>
            <a:ext cx="163860" cy="164592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55280" y="3621024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34054" y="3739896"/>
            <a:ext cx="163860" cy="164592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0" y="3621024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12680" y="321868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TAY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4700016"/>
            <a:ext cx="10817352" cy="1389888"/>
          </a:xfrm>
          <a:prstGeom prst="roundRect">
            <a:avLst>
              <a:gd name="adj" fmla="val 5921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2688" y="484632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
</a:t>
            </a: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hết test là tự động lên production, không cần con người can thiệp.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5157216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0E5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56614" y="5276088"/>
            <a:ext cx="163860" cy="164592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5157216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0E5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45334" y="5276088"/>
            <a:ext cx="163860" cy="164592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55280" y="5157216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0E5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34054" y="5276088"/>
            <a:ext cx="163860" cy="164592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0" y="5157216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0E5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122774" y="5276088"/>
            <a:ext cx="163860" cy="164592"/>
          </a:xfrm>
          <a:prstGeom prst="rightArrow">
            <a:avLst/>
          </a:prstGeom>
          <a:solidFill>
            <a:srgbClr val="9BB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32720" y="5157216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0E5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12680" y="47548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5A4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63093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cấp độ tự động hóa sâu hơn — hầu hết team bắt đầu với CI, tiến dần lên Delivery rồi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phẫu một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395728" cy="1874520"/>
          </a:xfrm>
          <a:prstGeom prst="roundRect">
            <a:avLst>
              <a:gd name="adj" fmla="val 43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4708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8A4B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request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định kỳ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36392" y="2487168"/>
            <a:ext cx="329184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02152" y="1691640"/>
            <a:ext cx="2395728" cy="1874520"/>
          </a:xfrm>
          <a:prstGeom prst="roundRect">
            <a:avLst>
              <a:gd name="adj" fmla="val 43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85032" y="184708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85032" y="23317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dịch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image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dependency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52744" y="2487168"/>
            <a:ext cx="329184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18504" y="1691640"/>
            <a:ext cx="2395728" cy="1874520"/>
          </a:xfrm>
          <a:prstGeom prst="roundRect">
            <a:avLst>
              <a:gd name="adj" fmla="val 43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01384" y="184708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01384" y="23317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/ security scan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69096" y="2487168"/>
            <a:ext cx="329184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34856" y="1691640"/>
            <a:ext cx="2395728" cy="1874520"/>
          </a:xfrm>
          <a:prstGeom prst="roundRect">
            <a:avLst>
              <a:gd name="adj" fmla="val 43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17736" y="184708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0E5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17736" y="23317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image lên registry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staging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production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C9D8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0050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/ Job / Step
</a:t>
            </a: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chia thành giai đoạn → công việc → từng bước lệnh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52544" y="3886200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C9D8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35424" y="40050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
</a:t>
            </a: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(hoặc container) thực thi các job của pipeline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19288" y="3886200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C9D8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02168" y="40050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
</a:t>
            </a: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sinh ra: Docker image, file build, báo cáo test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5230368"/>
            <a:ext cx="10817352" cy="1051560"/>
          </a:xfrm>
          <a:prstGeom prst="roundRect">
            <a:avLst>
              <a:gd name="adj" fmla="val 782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2688" y="53766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" y="561441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→ merge request (review) → main → pipeline tự chạy. 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Trunk-based: nhánh ngắn, merge liên tục (hợp CI/CD) · Git Flow: nhiều nhánh dài, hợp release theo phiên bản.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CHIẾN LƯỢC TRIỂN KHAI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không downtime: 3 chiến lược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483864" cy="4343400"/>
          </a:xfrm>
          <a:prstGeom prst="roundRect">
            <a:avLst>
              <a:gd name="adj" fmla="val 23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19072" y="22860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32304" y="22860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45536" y="22860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dần từng instance cũ bằng bản mới — mặc định của Kubernetes.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E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Không tốn thêm tài nguyên
</a:t>
            </a:r>
            <a:r>
              <a:rPr lang="en-US" sz="1150" b="1" dirty="0">
                <a:solidFill>
                  <a:srgbClr val="8A4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Rollback chậm, 2 phiên bản chạy song song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2544" y="1645920"/>
            <a:ext cx="3483864" cy="4343400"/>
          </a:xfrm>
          <a:prstGeom prst="roundRect">
            <a:avLst>
              <a:gd name="adj" fmla="val 23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81144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9744" y="2212848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6B7F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18504" y="2212848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0E5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25312" y="2487168"/>
            <a:ext cx="347472" cy="164592"/>
          </a:xfrm>
          <a:prstGeom prst="rightArrow">
            <a:avLst/>
          </a:prstGeom>
          <a:solidFill>
            <a:srgbClr val="F4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1144" y="3154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môi trường giống hệt; chuyển toàn bộ traffic sang bản mới trong một lần.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81144" y="42976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E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Rollback tức thì (chuyển ngược lại)
</a:t>
            </a:r>
            <a:r>
              <a:rPr lang="en-US" sz="1150" b="1" dirty="0">
                <a:solidFill>
                  <a:srgbClr val="8A4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Tốn gấp đôi tài nguyên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9288" y="1645920"/>
            <a:ext cx="3483864" cy="4343400"/>
          </a:xfrm>
          <a:prstGeom prst="roundRect">
            <a:avLst>
              <a:gd name="adj" fmla="val 23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47888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5048" y="2212848"/>
            <a:ext cx="310896" cy="310896"/>
          </a:xfrm>
          <a:prstGeom prst="ellipse">
            <a:avLst/>
          </a:prstGeom>
          <a:solidFill>
            <a:srgbClr val="F4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51976" y="2212848"/>
            <a:ext cx="310896" cy="310896"/>
          </a:xfrm>
          <a:prstGeom prst="ellipse">
            <a:avLst/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18904" y="2212848"/>
            <a:ext cx="310896" cy="310896"/>
          </a:xfrm>
          <a:prstGeom prst="ellipse">
            <a:avLst/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85832" y="2212848"/>
            <a:ext cx="310896" cy="310896"/>
          </a:xfrm>
          <a:prstGeom prst="ellipse">
            <a:avLst/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652760" y="2212848"/>
            <a:ext cx="310896" cy="310896"/>
          </a:xfrm>
          <a:prstGeom prst="ellipse">
            <a:avLst/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85048" y="2670048"/>
            <a:ext cx="310896" cy="310896"/>
          </a:xfrm>
          <a:prstGeom prst="ellipse">
            <a:avLst/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951976" y="2670048"/>
            <a:ext cx="310896" cy="310896"/>
          </a:xfrm>
          <a:prstGeom prst="ellipse">
            <a:avLst/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18904" y="2670048"/>
            <a:ext cx="310896" cy="310896"/>
          </a:xfrm>
          <a:prstGeom prst="ellipse">
            <a:avLst/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085832" y="2670048"/>
            <a:ext cx="310896" cy="310896"/>
          </a:xfrm>
          <a:prstGeom prst="ellipse">
            <a:avLst/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652760" y="2670048"/>
            <a:ext cx="310896" cy="310896"/>
          </a:xfrm>
          <a:prstGeom prst="ellipse">
            <a:avLst/>
          </a:prstGeom>
          <a:solidFill>
            <a:srgbClr val="C4C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47888" y="3154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bản mới cho một nhóm nhỏ người dùng (5–10%) trước, ổn thì mở rộng dần.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47888" y="42976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E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 toàn nhất, đo được trên user thật
</a:t>
            </a:r>
            <a:r>
              <a:rPr lang="en-US" sz="1150" b="1" dirty="0">
                <a:solidFill>
                  <a:srgbClr val="8A4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Phức tạp: cần chia traffic + giám sát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62636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theo mức độ rủi ro chấp nhận được và tài nguyên sẵn có — không có chiến lược “đúng nhất”.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THỰC HÀNH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Pipeline CI/CD đầu tiên của bạn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92640" y="658368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F4A825"/>
          </a:solidFill>
          <a:ln>
            <a:solidFill>
              <a:srgbClr val="F4A82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45’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025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build → test → deploy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386584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repo web app mẫu (kèm Dockerfile + test)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workflow YAML gồm 3 stage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→ xem pipeline tự chạy trên tab Actions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28232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8232" y="20025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với Docker + Ansible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28232" y="2386584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 Docker image → push lên registry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lên máy test bằng playbook từ Session 2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dựng Jenkins bằng Docker để so sánh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10817352" cy="1051560"/>
          </a:xfrm>
          <a:prstGeom prst="roundRect">
            <a:avLst>
              <a:gd name="adj" fmla="val 7826"/>
            </a:avLst>
          </a:prstGeom>
          <a:solidFill>
            <a:srgbClr val="FCF3DD"/>
          </a:solidFill>
          <a:ln w="12700">
            <a:solidFill>
              <a:srgbClr val="FCF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539996"/>
            <a:ext cx="384048" cy="384048"/>
          </a:xfrm>
          <a:prstGeom prst="ellipse">
            <a:avLst/>
          </a:prstGeom>
          <a:solidFill>
            <a:srgbClr val="F4A8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2062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— dán file workflow YAML vào ChatGPT/Claude: “Review pipeline này, chỉ ra lỗ hổng bảo mật và điểm tối ưu”. Sau đó nhờ AI sinh unit test cho app mẫu và thêm vào stage test.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577840"/>
            <a:ext cx="10817352" cy="475488"/>
          </a:xfrm>
          <a:prstGeom prst="roundRect">
            <a:avLst>
              <a:gd name="adj" fmla="val 17308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CHECKPOINT 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→ ứng dụng tự động build, test và deploy lên máy test. Trọn vòng đời commit → production!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3444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394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709160" y="1417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13:45 – 15:15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09160" y="17830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Container, Kubernetes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Giám sát hệ thống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4754880" y="30632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chuyên sâu + Docker Compose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Pod, Deployment, Service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— deploy xong chưa phải là xong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đưa app lên K8s local, xem metrics trên dashboard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5623560"/>
            <a:ext cx="1540764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35’ Lý thuyết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24244" y="5623560"/>
            <a:ext cx="1540764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45’ Thực hành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93608" y="562356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10’ AI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CONTAINER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&amp; Docker Compose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Container</a:t>
            </a: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image là khuôn bất biến, container là instance đang chạy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công thức build image — nằm trong Git cùng source code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image nhỏ (alpine), tận dụng layer cache, không chạy root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mô tả ứng dụng nhiều service trong 1 file YAML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47548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container?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giống hệt nhau ở mọi nơi — máy dev, máy test, production. Chấm dứt “It works on my machine”.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228600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8A4B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74152" y="2468880"/>
            <a:ext cx="384048" cy="18288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31352" y="228600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747504" y="2468880"/>
            <a:ext cx="384048" cy="18288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22992" y="221284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351008" y="2340864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479024" y="246888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73568" y="22128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56064" y="22128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image → nhiều container giống hệt nhau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840480"/>
            <a:ext cx="5074920" cy="219456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9400" y="4261104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["80:3000"]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— điều phối container quy mô lớn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93852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81328" y="181051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nhỏ nhất — bọc 1 (hoặc vài) container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303580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81328" y="29077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số replica, rolling update, tự phục hồi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413308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40050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truy cập ổn định + load balancing cho pod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983480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52303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1328" y="510235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vùng tài nguyên theo team / môi trường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074920" cy="4343400"/>
          </a:xfrm>
          <a:prstGeom prst="roundRect">
            <a:avLst>
              <a:gd name="adj" fmla="val 189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56832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CLUSTER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212848"/>
            <a:ext cx="4434840" cy="566928"/>
          </a:xfrm>
          <a:prstGeom prst="roundRect">
            <a:avLst>
              <a:gd name="adj" fmla="val 11290"/>
            </a:avLst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 ·  API Server · Scheduler · etcd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3063240"/>
            <a:ext cx="2148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3154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3566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35661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20840" y="4526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06840" y="3063240"/>
            <a:ext cx="2148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06840" y="3154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566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149840" y="35661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06840" y="4526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kubelet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20840" y="5349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Self-healing: pod chết → K8s tự tạo pod mới thay thế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5800" y="6172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trạng thái mong muốn (YAML) — K8s lo phần còn lại.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GIÁM SÁT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xong chưa phải là xong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GIÁM SÁT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901952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Server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8823" y="2093976"/>
            <a:ext cx="497434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66160" y="1901952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9183" y="2093976"/>
            <a:ext cx="497434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901952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9543" y="2093976"/>
            <a:ext cx="497434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0" y="1901952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8A4B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ra metrics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lưu metrics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trực quan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khi vượt ngưỡng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3483864" cy="1828800"/>
          </a:xfrm>
          <a:prstGeom prst="roundRect">
            <a:avLst>
              <a:gd name="adj" fmla="val 45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" y="34747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— chỉ số đo
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phản ánh trải nghiệm thật: độ trễ (latency), tỉ lệ lỗi, uptime.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52544" y="3291840"/>
            <a:ext cx="3483864" cy="1828800"/>
          </a:xfrm>
          <a:prstGeom prst="roundRect">
            <a:avLst>
              <a:gd name="adj" fmla="val 45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— mục tiêu
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cụ thể: “99,9% request thành công trong tháng”. Vượt ngưỡng → dừng release, ưu tiên ổn định.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19288" y="3291840"/>
            <a:ext cx="3483864" cy="1828800"/>
          </a:xfrm>
          <a:prstGeom prst="roundRect">
            <a:avLst>
              <a:gd name="adj" fmla="val 45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38744" y="34747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tập trung
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log mọi service về một chỗ (ELK / Loki) — truy vết sự cố nhanh thay vì SSH từng máy.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5394960"/>
            <a:ext cx="10817352" cy="82296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53949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vàng: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bạn không đo được nó, bạn không vận hành được nó. Giám sát là mắt xích khép kín vòng lặp DevOps — Monitor quay lại Plan.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THỰC HÀNH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Từ Compose đến Kubernetes + Grafana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92640" y="658368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F4A825"/>
          </a:solidFill>
          <a:ln>
            <a:solidFill>
              <a:srgbClr val="F4A82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45’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483864" cy="2514600"/>
          </a:xfrm>
          <a:prstGeom prst="roundRect">
            <a:avLst>
              <a:gd name="adj" fmla="val 327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02536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386584"/>
            <a:ext cx="3026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compose chạy web + database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network giữa 2 container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00200"/>
            <a:ext cx="3483864" cy="2514600"/>
          </a:xfrm>
          <a:prstGeom prst="roundRect">
            <a:avLst>
              <a:gd name="adj" fmla="val 327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1144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81144" y="2002536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(Minikube)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81144" y="2386584"/>
            <a:ext cx="3026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 Session 3 bằng manifest YAML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 → 3 replica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1 pod → xem tự phục hồi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9288" y="1600200"/>
            <a:ext cx="3483864" cy="2514600"/>
          </a:xfrm>
          <a:prstGeom prst="roundRect">
            <a:avLst>
              <a:gd name="adj" fmla="val 327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47888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47888" y="2002536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nhanh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47888" y="2386584"/>
            <a:ext cx="3026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Prometheus + Grafana (compose)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dashboard mẫu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CPU / RAM các container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343400"/>
            <a:ext cx="10817352" cy="960120"/>
          </a:xfrm>
          <a:prstGeom prst="roundRect">
            <a:avLst>
              <a:gd name="adj" fmla="val 8571"/>
            </a:avLst>
          </a:prstGeom>
          <a:solidFill>
            <a:srgbClr val="FCF3DD"/>
          </a:solidFill>
          <a:ln w="12700">
            <a:solidFill>
              <a:srgbClr val="FCF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631436"/>
            <a:ext cx="384048" cy="384048"/>
          </a:xfrm>
          <a:prstGeom prst="ellipse">
            <a:avLst/>
          </a:prstGeom>
          <a:solidFill>
            <a:srgbClr val="F4A8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3434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— dán log lỗi pod (CrashLoopBackOff, ImagePullBackOff…) vào AI và yêu cầu chẩn đoán. So sánh với cách debug thủ công: kubectl describe pod / kubectl logs — AI nhanh hơn hay chính xác hơn?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577840"/>
            <a:ext cx="10817352" cy="475488"/>
          </a:xfrm>
          <a:prstGeom prst="roundRect">
            <a:avLst>
              <a:gd name="adj" fmla="val 17308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57784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CHECKPOINT 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chạy trên Kubernetes local và metrics hiển thị trên Grafana.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3444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394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709160" y="1417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15:30 – 17:00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09160" y="17830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Nghề DevOps: Công việc,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Chứng chỉ &amp; Lộ trình học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4754880" y="30632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ngày làm việc của DevOps Engineer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vs SRE vs Platform Engineer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chứng chỉ + lộ trình học 6–12 tháng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 nhóm + xây lộ trình cá nhân bằng 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5623560"/>
            <a:ext cx="1732788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30’ Nghề nghiệp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16268" y="5623560"/>
            <a:ext cx="1444752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30’ Lộ trình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9620" y="5623560"/>
            <a:ext cx="1444752" cy="40233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30’ Capstone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NGHỀ NGHIỆP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ngày của DevOps Engineer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59105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pipeline CI/CD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build hỏng, tối ưu thời gian chạy, thêm bước kiểm tra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5328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4597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hạ tầng cloud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bằng IaC, tối ưu chi phí (FinOps)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40156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32841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on-call &amp; xử lý sự cố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response, viết post-mortem không đổ lỗi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42702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419709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— DevSecOps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lỗ hổng trong pipeline, quản lý secrets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51389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506577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 nối Dev – Ops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tài liệu, dựng công cụ nội bộ cho developer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5074920" cy="3657600"/>
          </a:xfrm>
          <a:prstGeom prst="roundRect">
            <a:avLst>
              <a:gd name="adj" fmla="val 225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56832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VAI TRÒ HỌ HÀNG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56832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quy trình + tự động hóa CI/CD, hạ tầng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56832" y="2971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độ tin cậy hệ thống — SLO, error budget, on-call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56832" y="3749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xây nền tảng nội bộ để dev tự phục vụ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56832" y="4526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chuyên sâu hạ tầng một cloud (AWS/Azure/GCP)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5486400"/>
            <a:ext cx="5074920" cy="777240"/>
          </a:xfrm>
          <a:prstGeom prst="roundRect">
            <a:avLst>
              <a:gd name="adj" fmla="val 10588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9400" y="54864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lõi: </a:t>
            </a: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Networking · Bash/Python · 1 cloud · Git · soft skills (giao tiếp, tài liệu)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3232" y="6035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VN: nhu cầu cao, lương thuộc nhóm tốt nhất ngành — remote quốc tế rộng cửa.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CHỨNG CHỈ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chứng chỉ theo cấp độ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3483864" cy="1874520"/>
          </a:xfrm>
          <a:prstGeom prst="roundRect">
            <a:avLst>
              <a:gd name="adj" fmla="val 43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436168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90472" y="44165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4873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LFCS / LPIC-1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Practitioner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5468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hệ điều hành + khái niệm cloud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3063240"/>
            <a:ext cx="3483864" cy="2971800"/>
          </a:xfrm>
          <a:prstGeom prst="roundRect">
            <a:avLst>
              <a:gd name="adj" fmla="val 276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1144" y="326440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57216" y="33192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CẤP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8576" y="3776472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Solutions Architect Assoc.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— Kubernetes Administrator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Terraform Associate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08576" y="5468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minh kỹ năng thực chiến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9288" y="1965960"/>
            <a:ext cx="3483864" cy="4069080"/>
          </a:xfrm>
          <a:prstGeom prst="roundRect">
            <a:avLst>
              <a:gd name="adj" fmla="val 23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47888" y="2167128"/>
            <a:ext cx="420624" cy="420624"/>
          </a:xfrm>
          <a:prstGeom prst="ellipse">
            <a:avLst/>
          </a:prstGeom>
          <a:solidFill>
            <a:srgbClr val="21295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23960" y="22219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CAO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679192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CKS — Kubernetes Security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Engineer Professional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5468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gia — dẫn dắt hệ thống lớn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6217920"/>
            <a:ext cx="10817352" cy="457200"/>
          </a:xfrm>
          <a:prstGeom prst="roundRect">
            <a:avLst>
              <a:gd name="adj" fmla="val 18000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 khuyên: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giai đoạn chỉ chọn 1 chứng chỉ, học qua dự án thật thay vì chỉ luyện đề.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LỘ TRÌNH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học DevOps 6–12 tháng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2514600"/>
            <a:ext cx="10241280" cy="64008"/>
          </a:xfrm>
          <a:prstGeom prst="roundRect">
            <a:avLst>
              <a:gd name="adj" fmla="val 42857"/>
            </a:avLst>
          </a:prstGeom>
          <a:solidFill>
            <a:srgbClr val="C9D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81912" y="22860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T1–2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2103120" cy="178308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3163824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móng
</a:t>
            </a: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Networking, Git — thành thạo terminal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13048" y="22860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16936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T3–4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16936" y="3017520"/>
            <a:ext cx="2103120" cy="178308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63240" y="3163824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&amp; CI/CD
</a:t>
            </a: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pipeline GitHub Actions / GitLab CI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44184" y="22860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8072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T5–6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48072" y="3017520"/>
            <a:ext cx="2103120" cy="178308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94376" y="3163824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IaC
</a:t>
            </a: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cloud (AWS) + Terraform, thi Cloud Practitioner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75320" y="22860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7920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T7–9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79208" y="3017520"/>
            <a:ext cx="2103120" cy="178308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25512" y="3163824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
</a:t>
            </a: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monitoring, hướng tới CKA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06456" y="22860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10344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T10–12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10344" y="3017520"/>
            <a:ext cx="2103120" cy="178308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56648" y="3163824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&amp; chứng chỉ
</a:t>
            </a: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cá nhân + thi 1 chứng chỉ trung cấp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5120640"/>
            <a:ext cx="10817352" cy="1051560"/>
          </a:xfrm>
          <a:prstGeom prst="roundRect">
            <a:avLst>
              <a:gd name="adj" fmla="val 782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2688" y="52669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NGUYÊN HỌC TẬP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" y="55046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roadmap.sh/devops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(bản đồ kỹ năng)   ·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(lab thực hành)   ·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chính hãng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(docs.docker.com, kubernetes.io)   ·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đồng DevOps VN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63550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tắc: mỗi giai đoạn kết thúc bằng một sản phẩm chạy được — đưa hết lên GitHub làm portfolio.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TỔNG KẾT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Capstone — 30 phút cuối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6949440" cy="2743200"/>
          </a:xfrm>
          <a:prstGeom prst="roundRect">
            <a:avLst>
              <a:gd name="adj" fmla="val 3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 NHÓM (20’)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2148840"/>
            <a:ext cx="6446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“Một startup có web app, đang deploy thủ công bằng FTP, mỗi lần release mất 2 ngày và thường xuyên lỗi.”
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sơ đồ pipeline DevOps đề xuất, chọn bộ công cụ (và giải thích vì sao), trình bày 3 phút/nhóm.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3685032" cy="27432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65008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MANG VỀ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65008" y="214884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repo GitHub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toàn bộ lab: playbook, Terraform, pipeline, manifest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pipeline CI/CD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tự tay dựng, chạy thật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lộ trình học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cá nhân hóa cho chính bạn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10817352" cy="1051560"/>
          </a:xfrm>
          <a:prstGeom prst="roundRect">
            <a:avLst>
              <a:gd name="adj" fmla="val 7826"/>
            </a:avLst>
          </a:prstGeom>
          <a:solidFill>
            <a:srgbClr val="FCF3DD"/>
          </a:solidFill>
          <a:ln w="12700">
            <a:solidFill>
              <a:srgbClr val="FCF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905756"/>
            <a:ext cx="384048" cy="384048"/>
          </a:xfrm>
          <a:prstGeom prst="ellipse">
            <a:avLst/>
          </a:prstGeom>
          <a:solidFill>
            <a:srgbClr val="F4A8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45720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tổng kết — “Tôi là [dev backend 2 năm kinh nghiệm], muốn chuyển sang DevOps trong 6 tháng, hãy lập kế hoạch học theo tuần.” Mỗi học viên tự chạy prompt với hồ sơ của mình → mang về kế hoạch riêng.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817352" cy="475488"/>
          </a:xfrm>
          <a:prstGeom prst="roundRect">
            <a:avLst>
              <a:gd name="adj" fmla="val 17308"/>
            </a:avLst>
          </a:prstGeom>
          <a:solidFill>
            <a:srgbClr val="DFEDF4"/>
          </a:solidFill>
          <a:ln w="12700">
            <a:solidFill>
              <a:srgbClr val="DF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585216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CHECKPOINT 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+ khảo sát cuối khóa (10’). Repo của bạn hôm nay chính là dòng đầu tiên trong portfolio DevOps.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CÁC BẠN!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2402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Hỏi &amp; Đáp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nhiều hơn nữa, deploy sớm hơn nữa — và để máy làm phần việc lặp lại.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06996" y="4626864"/>
            <a:ext cx="304312" cy="164592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96896" y="448056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80932" y="4626864"/>
            <a:ext cx="304312" cy="164592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70832" y="448056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54868" y="4626864"/>
            <a:ext cx="304312" cy="164592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44768" y="448056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28804" y="4626864"/>
            <a:ext cx="304312" cy="164592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18704" y="448056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02740" y="4626864"/>
            <a:ext cx="304312" cy="164592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92640" y="448056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hệ:  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info@smaclink.vn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4219</Words>
  <Application>Microsoft Office PowerPoint</Application>
  <PresentationFormat>Widescreen</PresentationFormat>
  <Paragraphs>540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Colin Hoang</cp:lastModifiedBy>
  <cp:revision>1</cp:revision>
  <dcterms:created xsi:type="dcterms:W3CDTF">2026-07-11T10:44:45Z</dcterms:created>
  <dcterms:modified xsi:type="dcterms:W3CDTF">2026-07-29T04:06:49Z</dcterms:modified>
</cp:coreProperties>
</file>