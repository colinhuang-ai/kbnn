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33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0" d="100"/>
          <a:sy n="90" d="100"/>
        </p:scale>
        <p:origin x="236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lin Hoang" userId="02aee87d5f5f4acf" providerId="LiveId" clId="{E4EDE063-AEAF-4AF1-9BCF-D49211A3DBD4}"/>
    <pc:docChg chg="undo custSel modSld">
      <pc:chgData name="Colin Hoang" userId="02aee87d5f5f4acf" providerId="LiveId" clId="{E4EDE063-AEAF-4AF1-9BCF-D49211A3DBD4}" dt="2026-07-29T04:10:10.669" v="126" actId="20577"/>
      <pc:docMkLst>
        <pc:docMk/>
      </pc:docMkLst>
      <pc:sldChg chg="addSp modSp mod">
        <pc:chgData name="Colin Hoang" userId="02aee87d5f5f4acf" providerId="LiveId" clId="{E4EDE063-AEAF-4AF1-9BCF-D49211A3DBD4}" dt="2026-07-29T04:10:10.669" v="126" actId="20577"/>
        <pc:sldMkLst>
          <pc:docMk/>
          <pc:sldMk cId="0" sldId="258"/>
        </pc:sldMkLst>
        <pc:spChg chg="mod">
          <ac:chgData name="Colin Hoang" userId="02aee87d5f5f4acf" providerId="LiveId" clId="{E4EDE063-AEAF-4AF1-9BCF-D49211A3DBD4}" dt="2026-07-29T04:09:39.869" v="92" actId="1035"/>
          <ac:spMkLst>
            <pc:docMk/>
            <pc:sldMk cId="0" sldId="258"/>
            <ac:spMk id="28" creationId="{00000000-0000-0000-0000-000000000000}"/>
          </ac:spMkLst>
        </pc:spChg>
        <pc:spChg chg="mod">
          <ac:chgData name="Colin Hoang" userId="02aee87d5f5f4acf" providerId="LiveId" clId="{E4EDE063-AEAF-4AF1-9BCF-D49211A3DBD4}" dt="2026-07-29T04:09:39.869" v="92" actId="1035"/>
          <ac:spMkLst>
            <pc:docMk/>
            <pc:sldMk cId="0" sldId="258"/>
            <ac:spMk id="29" creationId="{00000000-0000-0000-0000-000000000000}"/>
          </ac:spMkLst>
        </pc:spChg>
        <pc:spChg chg="mod">
          <ac:chgData name="Colin Hoang" userId="02aee87d5f5f4acf" providerId="LiveId" clId="{E4EDE063-AEAF-4AF1-9BCF-D49211A3DBD4}" dt="2026-07-29T04:09:39.869" v="92" actId="1035"/>
          <ac:spMkLst>
            <pc:docMk/>
            <pc:sldMk cId="0" sldId="258"/>
            <ac:spMk id="30" creationId="{00000000-0000-0000-0000-000000000000}"/>
          </ac:spMkLst>
        </pc:spChg>
        <pc:spChg chg="mod">
          <ac:chgData name="Colin Hoang" userId="02aee87d5f5f4acf" providerId="LiveId" clId="{E4EDE063-AEAF-4AF1-9BCF-D49211A3DBD4}" dt="2026-07-29T04:07:17.038" v="36" actId="1076"/>
          <ac:spMkLst>
            <pc:docMk/>
            <pc:sldMk cId="0" sldId="258"/>
            <ac:spMk id="31" creationId="{00000000-0000-0000-0000-000000000000}"/>
          </ac:spMkLst>
        </pc:spChg>
        <pc:spChg chg="mod">
          <ac:chgData name="Colin Hoang" userId="02aee87d5f5f4acf" providerId="LiveId" clId="{E4EDE063-AEAF-4AF1-9BCF-D49211A3DBD4}" dt="2026-07-29T04:07:22.674" v="37" actId="1076"/>
          <ac:spMkLst>
            <pc:docMk/>
            <pc:sldMk cId="0" sldId="258"/>
            <ac:spMk id="32" creationId="{00000000-0000-0000-0000-000000000000}"/>
          </ac:spMkLst>
        </pc:spChg>
        <pc:spChg chg="mod">
          <ac:chgData name="Colin Hoang" userId="02aee87d5f5f4acf" providerId="LiveId" clId="{E4EDE063-AEAF-4AF1-9BCF-D49211A3DBD4}" dt="2026-07-29T04:09:39.869" v="92" actId="1035"/>
          <ac:spMkLst>
            <pc:docMk/>
            <pc:sldMk cId="0" sldId="258"/>
            <ac:spMk id="33" creationId="{00000000-0000-0000-0000-000000000000}"/>
          </ac:spMkLst>
        </pc:spChg>
        <pc:spChg chg="mod">
          <ac:chgData name="Colin Hoang" userId="02aee87d5f5f4acf" providerId="LiveId" clId="{E4EDE063-AEAF-4AF1-9BCF-D49211A3DBD4}" dt="2026-07-29T04:09:39.869" v="92" actId="1035"/>
          <ac:spMkLst>
            <pc:docMk/>
            <pc:sldMk cId="0" sldId="258"/>
            <ac:spMk id="34" creationId="{00000000-0000-0000-0000-000000000000}"/>
          </ac:spMkLst>
        </pc:spChg>
        <pc:spChg chg="mod">
          <ac:chgData name="Colin Hoang" userId="02aee87d5f5f4acf" providerId="LiveId" clId="{E4EDE063-AEAF-4AF1-9BCF-D49211A3DBD4}" dt="2026-07-29T04:09:39.869" v="92" actId="1035"/>
          <ac:spMkLst>
            <pc:docMk/>
            <pc:sldMk cId="0" sldId="258"/>
            <ac:spMk id="35" creationId="{00000000-0000-0000-0000-000000000000}"/>
          </ac:spMkLst>
        </pc:spChg>
        <pc:spChg chg="mod">
          <ac:chgData name="Colin Hoang" userId="02aee87d5f5f4acf" providerId="LiveId" clId="{E4EDE063-AEAF-4AF1-9BCF-D49211A3DBD4}" dt="2026-07-29T04:09:39.869" v="92" actId="1035"/>
          <ac:spMkLst>
            <pc:docMk/>
            <pc:sldMk cId="0" sldId="258"/>
            <ac:spMk id="36" creationId="{00000000-0000-0000-0000-000000000000}"/>
          </ac:spMkLst>
        </pc:spChg>
        <pc:spChg chg="mod">
          <ac:chgData name="Colin Hoang" userId="02aee87d5f5f4acf" providerId="LiveId" clId="{E4EDE063-AEAF-4AF1-9BCF-D49211A3DBD4}" dt="2026-07-29T04:09:39.869" v="92" actId="1035"/>
          <ac:spMkLst>
            <pc:docMk/>
            <pc:sldMk cId="0" sldId="258"/>
            <ac:spMk id="37" creationId="{00000000-0000-0000-0000-000000000000}"/>
          </ac:spMkLst>
        </pc:spChg>
        <pc:spChg chg="mod">
          <ac:chgData name="Colin Hoang" userId="02aee87d5f5f4acf" providerId="LiveId" clId="{E4EDE063-AEAF-4AF1-9BCF-D49211A3DBD4}" dt="2026-07-29T04:09:48.536" v="102" actId="1036"/>
          <ac:spMkLst>
            <pc:docMk/>
            <pc:sldMk cId="0" sldId="258"/>
            <ac:spMk id="38" creationId="{00000000-0000-0000-0000-000000000000}"/>
          </ac:spMkLst>
        </pc:spChg>
        <pc:spChg chg="mod">
          <ac:chgData name="Colin Hoang" userId="02aee87d5f5f4acf" providerId="LiveId" clId="{E4EDE063-AEAF-4AF1-9BCF-D49211A3DBD4}" dt="2026-07-29T04:09:48.536" v="102" actId="1036"/>
          <ac:spMkLst>
            <pc:docMk/>
            <pc:sldMk cId="0" sldId="258"/>
            <ac:spMk id="39" creationId="{00000000-0000-0000-0000-000000000000}"/>
          </ac:spMkLst>
        </pc:spChg>
        <pc:spChg chg="mod">
          <ac:chgData name="Colin Hoang" userId="02aee87d5f5f4acf" providerId="LiveId" clId="{E4EDE063-AEAF-4AF1-9BCF-D49211A3DBD4}" dt="2026-07-29T04:09:48.536" v="102" actId="1036"/>
          <ac:spMkLst>
            <pc:docMk/>
            <pc:sldMk cId="0" sldId="258"/>
            <ac:spMk id="40" creationId="{00000000-0000-0000-0000-000000000000}"/>
          </ac:spMkLst>
        </pc:spChg>
        <pc:spChg chg="mod">
          <ac:chgData name="Colin Hoang" userId="02aee87d5f5f4acf" providerId="LiveId" clId="{E4EDE063-AEAF-4AF1-9BCF-D49211A3DBD4}" dt="2026-07-29T04:06:26.285" v="33" actId="1076"/>
          <ac:spMkLst>
            <pc:docMk/>
            <pc:sldMk cId="0" sldId="258"/>
            <ac:spMk id="41" creationId="{00000000-0000-0000-0000-000000000000}"/>
          </ac:spMkLst>
        </pc:spChg>
        <pc:spChg chg="mod">
          <ac:chgData name="Colin Hoang" userId="02aee87d5f5f4acf" providerId="LiveId" clId="{E4EDE063-AEAF-4AF1-9BCF-D49211A3DBD4}" dt="2026-07-29T04:09:48.536" v="102" actId="1036"/>
          <ac:spMkLst>
            <pc:docMk/>
            <pc:sldMk cId="0" sldId="258"/>
            <ac:spMk id="42" creationId="{00000000-0000-0000-0000-000000000000}"/>
          </ac:spMkLst>
        </pc:spChg>
        <pc:spChg chg="mod">
          <ac:chgData name="Colin Hoang" userId="02aee87d5f5f4acf" providerId="LiveId" clId="{E4EDE063-AEAF-4AF1-9BCF-D49211A3DBD4}" dt="2026-07-29T04:09:48.536" v="102" actId="1036"/>
          <ac:spMkLst>
            <pc:docMk/>
            <pc:sldMk cId="0" sldId="258"/>
            <ac:spMk id="43" creationId="{00000000-0000-0000-0000-000000000000}"/>
          </ac:spMkLst>
        </pc:spChg>
        <pc:spChg chg="mod">
          <ac:chgData name="Colin Hoang" userId="02aee87d5f5f4acf" providerId="LiveId" clId="{E4EDE063-AEAF-4AF1-9BCF-D49211A3DBD4}" dt="2026-07-29T04:09:48.536" v="102" actId="1036"/>
          <ac:spMkLst>
            <pc:docMk/>
            <pc:sldMk cId="0" sldId="258"/>
            <ac:spMk id="44" creationId="{00000000-0000-0000-0000-000000000000}"/>
          </ac:spMkLst>
        </pc:spChg>
        <pc:spChg chg="mod">
          <ac:chgData name="Colin Hoang" userId="02aee87d5f5f4acf" providerId="LiveId" clId="{E4EDE063-AEAF-4AF1-9BCF-D49211A3DBD4}" dt="2026-07-29T04:04:29.083" v="11" actId="20577"/>
          <ac:spMkLst>
            <pc:docMk/>
            <pc:sldMk cId="0" sldId="258"/>
            <ac:spMk id="45" creationId="{00000000-0000-0000-0000-000000000000}"/>
          </ac:spMkLst>
        </pc:spChg>
        <pc:spChg chg="mod">
          <ac:chgData name="Colin Hoang" userId="02aee87d5f5f4acf" providerId="LiveId" clId="{E4EDE063-AEAF-4AF1-9BCF-D49211A3DBD4}" dt="2026-07-29T04:09:48.536" v="102" actId="1036"/>
          <ac:spMkLst>
            <pc:docMk/>
            <pc:sldMk cId="0" sldId="258"/>
            <ac:spMk id="46" creationId="{00000000-0000-0000-0000-000000000000}"/>
          </ac:spMkLst>
        </pc:spChg>
        <pc:spChg chg="mod">
          <ac:chgData name="Colin Hoang" userId="02aee87d5f5f4acf" providerId="LiveId" clId="{E4EDE063-AEAF-4AF1-9BCF-D49211A3DBD4}" dt="2026-07-29T04:05:38.260" v="25" actId="14100"/>
          <ac:spMkLst>
            <pc:docMk/>
            <pc:sldMk cId="0" sldId="258"/>
            <ac:spMk id="47" creationId="{00000000-0000-0000-0000-000000000000}"/>
          </ac:spMkLst>
        </pc:spChg>
        <pc:spChg chg="mod">
          <ac:chgData name="Colin Hoang" userId="02aee87d5f5f4acf" providerId="LiveId" clId="{E4EDE063-AEAF-4AF1-9BCF-D49211A3DBD4}" dt="2026-07-29T04:05:22.130" v="21" actId="1076"/>
          <ac:spMkLst>
            <pc:docMk/>
            <pc:sldMk cId="0" sldId="258"/>
            <ac:spMk id="48" creationId="{00000000-0000-0000-0000-000000000000}"/>
          </ac:spMkLst>
        </pc:spChg>
        <pc:spChg chg="mod">
          <ac:chgData name="Colin Hoang" userId="02aee87d5f5f4acf" providerId="LiveId" clId="{E4EDE063-AEAF-4AF1-9BCF-D49211A3DBD4}" dt="2026-07-29T04:09:48.536" v="102" actId="1036"/>
          <ac:spMkLst>
            <pc:docMk/>
            <pc:sldMk cId="0" sldId="258"/>
            <ac:spMk id="49" creationId="{00000000-0000-0000-0000-000000000000}"/>
          </ac:spMkLst>
        </pc:spChg>
        <pc:spChg chg="mod">
          <ac:chgData name="Colin Hoang" userId="02aee87d5f5f4acf" providerId="LiveId" clId="{E4EDE063-AEAF-4AF1-9BCF-D49211A3DBD4}" dt="2026-07-29T04:05:22.130" v="21" actId="1076"/>
          <ac:spMkLst>
            <pc:docMk/>
            <pc:sldMk cId="0" sldId="258"/>
            <ac:spMk id="50" creationId="{00000000-0000-0000-0000-000000000000}"/>
          </ac:spMkLst>
        </pc:spChg>
        <pc:spChg chg="mod">
          <ac:chgData name="Colin Hoang" userId="02aee87d5f5f4acf" providerId="LiveId" clId="{E4EDE063-AEAF-4AF1-9BCF-D49211A3DBD4}" dt="2026-07-29T04:09:48.536" v="102" actId="1036"/>
          <ac:spMkLst>
            <pc:docMk/>
            <pc:sldMk cId="0" sldId="258"/>
            <ac:spMk id="51" creationId="{00000000-0000-0000-0000-000000000000}"/>
          </ac:spMkLst>
        </pc:spChg>
        <pc:spChg chg="mod">
          <ac:chgData name="Colin Hoang" userId="02aee87d5f5f4acf" providerId="LiveId" clId="{E4EDE063-AEAF-4AF1-9BCF-D49211A3DBD4}" dt="2026-07-29T04:09:48.536" v="102" actId="1036"/>
          <ac:spMkLst>
            <pc:docMk/>
            <pc:sldMk cId="0" sldId="258"/>
            <ac:spMk id="52" creationId="{00000000-0000-0000-0000-000000000000}"/>
          </ac:spMkLst>
        </pc:spChg>
        <pc:spChg chg="add mod">
          <ac:chgData name="Colin Hoang" userId="02aee87d5f5f4acf" providerId="LiveId" clId="{E4EDE063-AEAF-4AF1-9BCF-D49211A3DBD4}" dt="2026-07-29T04:09:33.558" v="83" actId="14100"/>
          <ac:spMkLst>
            <pc:docMk/>
            <pc:sldMk cId="0" sldId="258"/>
            <ac:spMk id="56" creationId="{2453859B-96B9-A47D-AD4B-1F1EF0B685C5}"/>
          </ac:spMkLst>
        </pc:spChg>
        <pc:spChg chg="add mod">
          <ac:chgData name="Colin Hoang" userId="02aee87d5f5f4acf" providerId="LiveId" clId="{E4EDE063-AEAF-4AF1-9BCF-D49211A3DBD4}" dt="2026-07-29T04:08:51.018" v="70" actId="20577"/>
          <ac:spMkLst>
            <pc:docMk/>
            <pc:sldMk cId="0" sldId="258"/>
            <ac:spMk id="58" creationId="{763D452C-9D1F-FCB0-6D8E-2AC5EDDC8C75}"/>
          </ac:spMkLst>
        </pc:spChg>
        <pc:spChg chg="add mod">
          <ac:chgData name="Colin Hoang" userId="02aee87d5f5f4acf" providerId="LiveId" clId="{E4EDE063-AEAF-4AF1-9BCF-D49211A3DBD4}" dt="2026-07-29T04:10:01.892" v="110" actId="1035"/>
          <ac:spMkLst>
            <pc:docMk/>
            <pc:sldMk cId="0" sldId="258"/>
            <ac:spMk id="60" creationId="{37B4A71D-8C83-AEA5-B614-9A5091B64055}"/>
          </ac:spMkLst>
        </pc:spChg>
        <pc:spChg chg="add mod">
          <ac:chgData name="Colin Hoang" userId="02aee87d5f5f4acf" providerId="LiveId" clId="{E4EDE063-AEAF-4AF1-9BCF-D49211A3DBD4}" dt="2026-07-29T04:10:10.669" v="126" actId="20577"/>
          <ac:spMkLst>
            <pc:docMk/>
            <pc:sldMk cId="0" sldId="258"/>
            <ac:spMk id="62" creationId="{8F7FAF66-A862-86BA-5D3E-63372D71925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0218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 ĐÀO TẠO  ·  8 GIỜ  ·  5 SESSION × 1H30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Automation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685800" y="28803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· Ansible · Config as Code · Golang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8580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E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session: giải thích chi tiết · cách làm (lab) · vị trí trong pipeline CI/CD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4572000"/>
            <a:ext cx="1635252" cy="749808"/>
          </a:xfrm>
          <a:prstGeom prst="roundRect">
            <a:avLst>
              <a:gd name="adj" fmla="val 8537"/>
            </a:avLst>
          </a:prstGeom>
          <a:solidFill>
            <a:srgbClr val="FCA311"/>
          </a:solidFill>
          <a:ln w="12700">
            <a:solidFill>
              <a:srgbClr val="B97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4681728"/>
            <a:ext cx="163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5010912"/>
            <a:ext cx="1635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42744" y="4800600"/>
            <a:ext cx="256032" cy="292608"/>
          </a:xfrm>
          <a:prstGeom prst="chevron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12492" y="4572000"/>
            <a:ext cx="1635252" cy="749808"/>
          </a:xfrm>
          <a:prstGeom prst="roundRect">
            <a:avLst>
              <a:gd name="adj" fmla="val 8537"/>
            </a:avLst>
          </a:prstGeom>
          <a:solidFill>
            <a:srgbClr val="FCA311"/>
          </a:solidFill>
          <a:ln w="12700">
            <a:solidFill>
              <a:srgbClr val="B97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12492" y="4681728"/>
            <a:ext cx="163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12492" y="5010912"/>
            <a:ext cx="1635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052316" y="4800600"/>
            <a:ext cx="256032" cy="292608"/>
          </a:xfrm>
          <a:prstGeom prst="chevron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22064" y="4572000"/>
            <a:ext cx="1635252" cy="749808"/>
          </a:xfrm>
          <a:prstGeom prst="roundRect">
            <a:avLst>
              <a:gd name="adj" fmla="val 8537"/>
            </a:avLst>
          </a:prstGeom>
          <a:solidFill>
            <a:srgbClr val="FCA311"/>
          </a:solidFill>
          <a:ln w="12700">
            <a:solidFill>
              <a:srgbClr val="B97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22064" y="4681728"/>
            <a:ext cx="163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22064" y="5010912"/>
            <a:ext cx="1635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61888" y="4800600"/>
            <a:ext cx="256032" cy="292608"/>
          </a:xfrm>
          <a:prstGeom prst="chevron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31636" y="4572000"/>
            <a:ext cx="1635252" cy="749808"/>
          </a:xfrm>
          <a:prstGeom prst="roundRect">
            <a:avLst>
              <a:gd name="adj" fmla="val 8537"/>
            </a:avLst>
          </a:prstGeom>
          <a:solidFill>
            <a:srgbClr val="FCA311"/>
          </a:solidFill>
          <a:ln w="12700">
            <a:solidFill>
              <a:srgbClr val="B97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31636" y="4681728"/>
            <a:ext cx="163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31636" y="5010912"/>
            <a:ext cx="1635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871460" y="4800600"/>
            <a:ext cx="256032" cy="292608"/>
          </a:xfrm>
          <a:prstGeom prst="chevron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141208" y="4572000"/>
            <a:ext cx="1635252" cy="749808"/>
          </a:xfrm>
          <a:prstGeom prst="roundRect">
            <a:avLst>
              <a:gd name="adj" fmla="val 8537"/>
            </a:avLst>
          </a:prstGeom>
          <a:solidFill>
            <a:srgbClr val="FCA311"/>
          </a:solidFill>
          <a:ln w="12700">
            <a:solidFill>
              <a:srgbClr val="B97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141208" y="4681728"/>
            <a:ext cx="163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141208" y="5010912"/>
            <a:ext cx="1635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781032" y="4800600"/>
            <a:ext cx="256032" cy="292608"/>
          </a:xfrm>
          <a:prstGeom prst="chevron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0050780" y="4572000"/>
            <a:ext cx="1635252" cy="749808"/>
          </a:xfrm>
          <a:prstGeom prst="roundRect">
            <a:avLst>
              <a:gd name="adj" fmla="val 8537"/>
            </a:avLst>
          </a:prstGeom>
          <a:solidFill>
            <a:srgbClr val="FCA311"/>
          </a:solidFill>
          <a:ln w="12700">
            <a:solidFill>
              <a:srgbClr val="B97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050780" y="4681728"/>
            <a:ext cx="163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050780" y="5010912"/>
            <a:ext cx="1635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02920" y="5440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D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chuỗi tự động hóa bạn sẽ dựng qua 5 session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Automation — Jenkins · Ansible · Config as Code · Golang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47120" y="64465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56032" cy="128016"/>
          </a:xfrm>
          <a:prstGeom prst="rect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448056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THIỆU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khóa học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76200" dist="25400" dir="5400000" algn="bl" rotWithShape="0">
              <a:srgbClr val="AAB4C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Bạn sẽ đạt được gì?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2313432"/>
            <a:ext cx="501091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500"/>
              </a:spcBef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với Jenkins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Dựng Jenkins, viết Jenkinsfile build → test → deploy tự động.</a:t>
            </a:r>
            <a:endParaRPr lang="en-US" sz="12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cấu hình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Ansible để cấu hình máy target một cách idempotent.</a:t>
            </a:r>
            <a:endParaRPr lang="en-US" sz="12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as Code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Nắm bức tranh IaC (Terraform, Docker, GitOps) và chọn đúng tool.</a:t>
            </a:r>
            <a:endParaRPr lang="en-US" sz="12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viết công cụ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một CLI tool DevOps nhỏ bằng Golang, cross-compile đa nền tảng.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55080" y="1691640"/>
            <a:ext cx="2697480" cy="2084832"/>
          </a:xfrm>
          <a:prstGeom prst="roundRect">
            <a:avLst>
              <a:gd name="adj" fmla="val 394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blurRad="88900" dist="38100" dir="5400000" algn="bl" rotWithShape="0">
              <a:srgbClr val="9AA6BD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0" y="207568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session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446520" y="30175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FD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1h30 mỗi buổi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308592" y="1691640"/>
            <a:ext cx="2697480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88900" dist="38100" dir="5400000" algn="bl" rotWithShape="0">
              <a:srgbClr val="9AA6BD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354312" y="207568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5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hands-on lab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9400032" y="30175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hành trực tiếp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55080" y="3959352"/>
            <a:ext cx="2697480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88900" dist="38100" dir="5400000" algn="bl" rotWithShape="0">
              <a:srgbClr val="9AA6BD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0" y="434340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5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khâu pipeline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446520" y="52852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→ Build → … → Infra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308592" y="3959352"/>
            <a:ext cx="2697480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88900" dist="38100" dir="5400000" algn="bl" rotWithShape="0">
              <a:srgbClr val="9AA6BD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354312" y="434340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r>
              <a:rPr lang="en-US" sz="15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tái lập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9400032" y="52852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thứ dạng code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Automation — Jenkins · Ansible · Config as Code · Golang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465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56032" cy="128016"/>
          </a:xfrm>
          <a:prstGeom prst="rect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448056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BỨC TRANH LỚN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Vị trí mỗi session trong pipeline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635252" cy="749808"/>
          </a:xfrm>
          <a:prstGeom prst="roundRect">
            <a:avLst>
              <a:gd name="adj" fmla="val 8537"/>
            </a:avLst>
          </a:prstGeom>
          <a:solidFill>
            <a:srgbClr val="FCA311"/>
          </a:solidFill>
          <a:ln w="12700">
            <a:solidFill>
              <a:srgbClr val="B97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892808"/>
            <a:ext cx="163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221992"/>
            <a:ext cx="1635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42744" y="2011680"/>
            <a:ext cx="256032" cy="292608"/>
          </a:xfrm>
          <a:prstGeom prst="chevron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412492" y="1783080"/>
            <a:ext cx="1635252" cy="749808"/>
          </a:xfrm>
          <a:prstGeom prst="roundRect">
            <a:avLst>
              <a:gd name="adj" fmla="val 8537"/>
            </a:avLst>
          </a:prstGeom>
          <a:solidFill>
            <a:srgbClr val="FCA311"/>
          </a:solidFill>
          <a:ln w="12700">
            <a:solidFill>
              <a:srgbClr val="B97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12492" y="1892808"/>
            <a:ext cx="163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12492" y="2221992"/>
            <a:ext cx="1635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052316" y="2011680"/>
            <a:ext cx="256032" cy="292608"/>
          </a:xfrm>
          <a:prstGeom prst="chevron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22064" y="1783080"/>
            <a:ext cx="1635252" cy="749808"/>
          </a:xfrm>
          <a:prstGeom prst="roundRect">
            <a:avLst>
              <a:gd name="adj" fmla="val 8537"/>
            </a:avLst>
          </a:prstGeom>
          <a:solidFill>
            <a:srgbClr val="FCA311"/>
          </a:solidFill>
          <a:ln w="12700">
            <a:solidFill>
              <a:srgbClr val="B97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22064" y="1892808"/>
            <a:ext cx="163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22064" y="2221992"/>
            <a:ext cx="1635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61888" y="2011680"/>
            <a:ext cx="256032" cy="292608"/>
          </a:xfrm>
          <a:prstGeom prst="chevron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31636" y="1783080"/>
            <a:ext cx="1635252" cy="749808"/>
          </a:xfrm>
          <a:prstGeom prst="roundRect">
            <a:avLst>
              <a:gd name="adj" fmla="val 8537"/>
            </a:avLst>
          </a:prstGeom>
          <a:solidFill>
            <a:srgbClr val="FCA311"/>
          </a:solidFill>
          <a:ln w="12700">
            <a:solidFill>
              <a:srgbClr val="B97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31636" y="1892808"/>
            <a:ext cx="163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31636" y="2221992"/>
            <a:ext cx="1635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871460" y="2011680"/>
            <a:ext cx="256032" cy="292608"/>
          </a:xfrm>
          <a:prstGeom prst="chevron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141208" y="1783080"/>
            <a:ext cx="1635252" cy="749808"/>
          </a:xfrm>
          <a:prstGeom prst="roundRect">
            <a:avLst>
              <a:gd name="adj" fmla="val 8537"/>
            </a:avLst>
          </a:prstGeom>
          <a:solidFill>
            <a:srgbClr val="FCA311"/>
          </a:solidFill>
          <a:ln w="12700">
            <a:solidFill>
              <a:srgbClr val="B97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141208" y="1892808"/>
            <a:ext cx="163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41208" y="2221992"/>
            <a:ext cx="1635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781032" y="2011680"/>
            <a:ext cx="256032" cy="292608"/>
          </a:xfrm>
          <a:prstGeom prst="chevron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050780" y="1783080"/>
            <a:ext cx="1635252" cy="749808"/>
          </a:xfrm>
          <a:prstGeom prst="roundRect">
            <a:avLst>
              <a:gd name="adj" fmla="val 8537"/>
            </a:avLst>
          </a:prstGeom>
          <a:solidFill>
            <a:srgbClr val="FCA311"/>
          </a:solidFill>
          <a:ln w="12700">
            <a:solidFill>
              <a:srgbClr val="B97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050780" y="1892808"/>
            <a:ext cx="163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0780" y="2221992"/>
            <a:ext cx="1635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14400" y="3430046"/>
            <a:ext cx="10771632" cy="393192"/>
          </a:xfrm>
          <a:prstGeom prst="roundRect">
            <a:avLst>
              <a:gd name="adj" fmla="val 7576"/>
            </a:avLst>
          </a:prstGeom>
          <a:solidFill>
            <a:srgbClr val="20335E"/>
          </a:solidFill>
          <a:ln w="12700">
            <a:solidFill>
              <a:srgbClr val="3147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69848" y="3457478"/>
            <a:ext cx="365760" cy="365760"/>
          </a:xfrm>
          <a:prstGeom prst="ellipse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69848" y="345747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600200" y="3452019"/>
            <a:ext cx="7955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&amp; Jenkins cơ bản  </a:t>
            </a:r>
            <a:r>
              <a:rPr lang="en-US" sz="1150" dirty="0">
                <a:solidFill>
                  <a:srgbClr val="B9C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nền CI: tự động Build + Test mỗi khi có commit.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941627" y="3458447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Build · Test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14400" y="3933147"/>
            <a:ext cx="10771632" cy="365760"/>
          </a:xfrm>
          <a:prstGeom prst="roundRect">
            <a:avLst>
              <a:gd name="adj" fmla="val 7576"/>
            </a:avLst>
          </a:prstGeom>
          <a:solidFill>
            <a:srgbClr val="20335E"/>
          </a:solidFill>
          <a:ln w="12700">
            <a:solidFill>
              <a:srgbClr val="3147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069848" y="3933147"/>
            <a:ext cx="365760" cy="365760"/>
          </a:xfrm>
          <a:prstGeom prst="ellipse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69848" y="393314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600200" y="3996974"/>
            <a:ext cx="7955280" cy="356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Pipeline  </a:t>
            </a:r>
            <a:r>
              <a:rPr lang="en-US" sz="1150" dirty="0">
                <a:solidFill>
                  <a:srgbClr val="B9C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CI/CD thành code (Jenkinsfile), thêm khâu Deploy.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9075420" y="3996974"/>
            <a:ext cx="2331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· Test · Deploy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2920" y="5155999"/>
            <a:ext cx="11183112" cy="448056"/>
          </a:xfrm>
          <a:prstGeom prst="roundRect">
            <a:avLst>
              <a:gd name="adj" fmla="val 7576"/>
            </a:avLst>
          </a:prstGeom>
          <a:solidFill>
            <a:srgbClr val="20335E"/>
          </a:solidFill>
          <a:ln w="12700">
            <a:solidFill>
              <a:srgbClr val="3147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58368" y="5210863"/>
            <a:ext cx="365760" cy="365760"/>
          </a:xfrm>
          <a:prstGeom prst="ellipse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58368" y="521086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188720" y="5201719"/>
            <a:ext cx="7955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 </a:t>
            </a:r>
            <a:r>
              <a:rPr lang="en-US" sz="1150" dirty="0">
                <a:solidFill>
                  <a:srgbClr val="B9C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 máy target ngay trong bước Deploy (idempotent).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9235440" y="5210863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(trong Deploy)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02920" y="5677207"/>
            <a:ext cx="11183112" cy="365760"/>
          </a:xfrm>
          <a:prstGeom prst="roundRect">
            <a:avLst>
              <a:gd name="adj" fmla="val 7576"/>
            </a:avLst>
          </a:prstGeom>
          <a:solidFill>
            <a:srgbClr val="20335E"/>
          </a:solidFill>
          <a:ln w="12700">
            <a:solidFill>
              <a:srgbClr val="3147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58368" y="5677207"/>
            <a:ext cx="365760" cy="365760"/>
          </a:xfrm>
          <a:prstGeom prst="ellipse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58368" y="567720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188720" y="5558335"/>
            <a:ext cx="7955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as Code  </a:t>
            </a:r>
            <a:r>
              <a:rPr lang="en-US" sz="1150" dirty="0">
                <a:solidFill>
                  <a:srgbClr val="B9C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Dựng &amp; quản lý tầng hạ tầng mà pipeline chạy trên đó.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9235440" y="5732071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02920" y="6152695"/>
            <a:ext cx="11183112" cy="365760"/>
          </a:xfrm>
          <a:prstGeom prst="roundRect">
            <a:avLst>
              <a:gd name="adj" fmla="val 7576"/>
            </a:avLst>
          </a:prstGeom>
          <a:solidFill>
            <a:srgbClr val="20335E"/>
          </a:solidFill>
          <a:ln w="12700">
            <a:solidFill>
              <a:srgbClr val="3147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58368" y="6152695"/>
            <a:ext cx="365760" cy="365760"/>
          </a:xfrm>
          <a:prstGeom prst="ellipse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58368" y="615269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188720" y="5851486"/>
            <a:ext cx="7955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Golang  </a:t>
            </a:r>
            <a:r>
              <a:rPr lang="en-US" sz="1150" dirty="0">
                <a:solidFill>
                  <a:srgbClr val="B9C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công cụ hỗ trợ mọi khâu (health-check, tiện ích CI).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9235440" y="621652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Xuyên suốt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Automation — Jenkins · Ansible · Config as Code · Golang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247120" y="64465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56" name="Shape 2">
            <a:extLst>
              <a:ext uri="{FF2B5EF4-FFF2-40B4-BE49-F238E27FC236}">
                <a16:creationId xmlns:a16="http://schemas.microsoft.com/office/drawing/2014/main" id="{2453859B-96B9-A47D-AD4B-1F1EF0B685C5}"/>
              </a:ext>
            </a:extLst>
          </p:cNvPr>
          <p:cNvSpPr/>
          <p:nvPr/>
        </p:nvSpPr>
        <p:spPr>
          <a:xfrm>
            <a:off x="457200" y="2672063"/>
            <a:ext cx="11228832" cy="640080"/>
          </a:xfrm>
          <a:prstGeom prst="roundRect">
            <a:avLst>
              <a:gd name="adj" fmla="val 10465"/>
            </a:avLst>
          </a:prstGeom>
          <a:solidFill>
            <a:srgbClr val="20335E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Text 4">
            <a:extLst>
              <a:ext uri="{FF2B5EF4-FFF2-40B4-BE49-F238E27FC236}">
                <a16:creationId xmlns:a16="http://schemas.microsoft.com/office/drawing/2014/main" id="{763D452C-9D1F-FCB0-6D8E-2AC5EDDC8C75}"/>
              </a:ext>
            </a:extLst>
          </p:cNvPr>
          <p:cNvSpPr/>
          <p:nvPr/>
        </p:nvSpPr>
        <p:spPr>
          <a:xfrm>
            <a:off x="637371" y="2740743"/>
            <a:ext cx="7227145" cy="479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– JENKIN pipeline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60" name="Shape 2">
            <a:extLst>
              <a:ext uri="{FF2B5EF4-FFF2-40B4-BE49-F238E27FC236}">
                <a16:creationId xmlns:a16="http://schemas.microsoft.com/office/drawing/2014/main" id="{37B4A71D-8C83-AEA5-B614-9A5091B64055}"/>
              </a:ext>
            </a:extLst>
          </p:cNvPr>
          <p:cNvSpPr/>
          <p:nvPr/>
        </p:nvSpPr>
        <p:spPr>
          <a:xfrm>
            <a:off x="457200" y="4445959"/>
            <a:ext cx="11228832" cy="640080"/>
          </a:xfrm>
          <a:prstGeom prst="roundRect">
            <a:avLst>
              <a:gd name="adj" fmla="val 10465"/>
            </a:avLst>
          </a:prstGeom>
          <a:solidFill>
            <a:srgbClr val="20335E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Text 4">
            <a:extLst>
              <a:ext uri="{FF2B5EF4-FFF2-40B4-BE49-F238E27FC236}">
                <a16:creationId xmlns:a16="http://schemas.microsoft.com/office/drawing/2014/main" id="{8F7FAF66-A862-86BA-5D3E-63372D719258}"/>
              </a:ext>
            </a:extLst>
          </p:cNvPr>
          <p:cNvSpPr/>
          <p:nvPr/>
        </p:nvSpPr>
        <p:spPr>
          <a:xfrm>
            <a:off x="637371" y="4514639"/>
            <a:ext cx="7227145" cy="479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</a:t>
            </a:r>
            <a:r>
              <a:rPr lang="en-US" sz="24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Ansible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481328"/>
            <a:ext cx="12191695" cy="54864"/>
          </a:xfrm>
          <a:prstGeom prst="rect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896112" cy="896112"/>
          </a:xfrm>
          <a:prstGeom prst="roundRect">
            <a:avLst>
              <a:gd name="adj" fmla="val 8163"/>
            </a:avLst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292608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572768" y="34747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·  Tổng quan &amp; vị trí trong pipeline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554480" y="621792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&amp; Jenkins cơ bản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55321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76200" dist="25400" dir="5400000" algn="bl" rotWithShape="0">
              <a:srgbClr val="AAB4C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8952" y="19202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session này quan trọng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8952" y="2359152"/>
            <a:ext cx="50566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500"/>
              </a:spcBef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Tránh “integration hell”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liên tục nên lỗi nhỏ và lộ ra sớm.</a:t>
            </a:r>
            <a:endParaRPr lang="en-US" sz="12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nhanh, release đều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commit được build &amp; test tự động.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99632" y="173736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55664" y="19385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55664" y="2359152"/>
            <a:ext cx="4983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Hiểu bản chất CI/CD (và phân biệt CI · Delivery · Deployment); dựng được Jenkins bằng Docker và kết nối tới một Git repo.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4160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VỊ TRÍ TRONG PIPELINE CI/CD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462272"/>
            <a:ext cx="1635252" cy="749808"/>
          </a:xfrm>
          <a:prstGeom prst="roundRect">
            <a:avLst>
              <a:gd name="adj" fmla="val 8537"/>
            </a:avLst>
          </a:prstGeom>
          <a:solidFill>
            <a:srgbClr val="FCA311"/>
          </a:solidFill>
          <a:ln w="12700">
            <a:solidFill>
              <a:srgbClr val="B97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4572000"/>
            <a:ext cx="163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4901184"/>
            <a:ext cx="1635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142744" y="4690872"/>
            <a:ext cx="256032" cy="292608"/>
          </a:xfrm>
          <a:prstGeom prst="chevron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412492" y="4462272"/>
            <a:ext cx="1635252" cy="749808"/>
          </a:xfrm>
          <a:prstGeom prst="roundRect">
            <a:avLst>
              <a:gd name="adj" fmla="val 8537"/>
            </a:avLst>
          </a:prstGeom>
          <a:solidFill>
            <a:srgbClr val="FCA311"/>
          </a:solidFill>
          <a:ln w="12700">
            <a:solidFill>
              <a:srgbClr val="B97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412492" y="4572000"/>
            <a:ext cx="163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412492" y="4901184"/>
            <a:ext cx="1635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052316" y="4690872"/>
            <a:ext cx="256032" cy="292608"/>
          </a:xfrm>
          <a:prstGeom prst="chevron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322064" y="4462272"/>
            <a:ext cx="1635252" cy="749808"/>
          </a:xfrm>
          <a:prstGeom prst="roundRect">
            <a:avLst>
              <a:gd name="adj" fmla="val 8537"/>
            </a:avLst>
          </a:prstGeom>
          <a:solidFill>
            <a:srgbClr val="FCA311"/>
          </a:solidFill>
          <a:ln w="12700">
            <a:solidFill>
              <a:srgbClr val="B97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22064" y="4572000"/>
            <a:ext cx="163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322064" y="4901184"/>
            <a:ext cx="1635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61888" y="4690872"/>
            <a:ext cx="256032" cy="292608"/>
          </a:xfrm>
          <a:prstGeom prst="chevron">
            <a:avLst/>
          </a:prstGeom>
          <a:solidFill>
            <a:srgbClr val="CFD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231636" y="4462272"/>
            <a:ext cx="1635252" cy="749808"/>
          </a:xfrm>
          <a:prstGeom prst="roundRect">
            <a:avLst>
              <a:gd name="adj" fmla="val 8537"/>
            </a:avLst>
          </a:prstGeom>
          <a:solidFill>
            <a:srgbClr val="E7ECF5"/>
          </a:solidFill>
          <a:ln w="12700">
            <a:solidFill>
              <a:srgbClr val="E2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31636" y="4572000"/>
            <a:ext cx="163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31636" y="4901184"/>
            <a:ext cx="1635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871460" y="4690872"/>
            <a:ext cx="256032" cy="292608"/>
          </a:xfrm>
          <a:prstGeom prst="chevron">
            <a:avLst/>
          </a:prstGeom>
          <a:solidFill>
            <a:srgbClr val="CFD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141208" y="4462272"/>
            <a:ext cx="1635252" cy="749808"/>
          </a:xfrm>
          <a:prstGeom prst="roundRect">
            <a:avLst>
              <a:gd name="adj" fmla="val 8537"/>
            </a:avLst>
          </a:prstGeom>
          <a:solidFill>
            <a:srgbClr val="E7ECF5"/>
          </a:solidFill>
          <a:ln w="12700">
            <a:solidFill>
              <a:srgbClr val="E2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141208" y="4572000"/>
            <a:ext cx="163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141208" y="4901184"/>
            <a:ext cx="1635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781032" y="4690872"/>
            <a:ext cx="256032" cy="292608"/>
          </a:xfrm>
          <a:prstGeom prst="chevron">
            <a:avLst/>
          </a:prstGeom>
          <a:solidFill>
            <a:srgbClr val="CFD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0050780" y="4462272"/>
            <a:ext cx="1635252" cy="749808"/>
          </a:xfrm>
          <a:prstGeom prst="roundRect">
            <a:avLst>
              <a:gd name="adj" fmla="val 8537"/>
            </a:avLst>
          </a:prstGeom>
          <a:solidFill>
            <a:srgbClr val="E7ECF5"/>
          </a:solidFill>
          <a:ln w="12700">
            <a:solidFill>
              <a:srgbClr val="E2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050780" y="4572000"/>
            <a:ext cx="163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050780" y="4901184"/>
            <a:ext cx="1635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02920" y="5349240"/>
            <a:ext cx="11183112" cy="822960"/>
          </a:xfrm>
          <a:prstGeom prst="roundRect">
            <a:avLst>
              <a:gd name="adj" fmla="val 6667"/>
            </a:avLst>
          </a:prstGeom>
          <a:solidFill>
            <a:srgbClr val="FFF7E9"/>
          </a:solidFill>
          <a:ln w="12700">
            <a:solidFill>
              <a:srgbClr val="F3D9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77240" y="53492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mấu chốt:  </a:t>
            </a:r>
            <a:r>
              <a:rPr lang="en-US" sz="1300" dirty="0">
                <a:solidFill>
                  <a:srgbClr val="5A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= tự động Build + Test mỗi khi có code mới. Đây là nền móng cho mọi khâu phía sau.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Automation — Jenkins · Ansible · Config as Code · Golang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47120" y="64465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481328"/>
            <a:ext cx="12191695" cy="54864"/>
          </a:xfrm>
          <a:prstGeom prst="rect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896112" cy="896112"/>
          </a:xfrm>
          <a:prstGeom prst="roundRect">
            <a:avLst>
              <a:gd name="adj" fmla="val 8163"/>
            </a:avLst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292608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572768" y="34747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·  Giải thích chi tiết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554480" y="621792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&amp; Jenkins cơ bản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3657600" cy="42519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76200" dist="25400" dir="5400000" algn="bl" rotWithShape="0">
              <a:srgbClr val="AAB4C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8952" y="1965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khái niệm dễ nhầm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8952" y="2404872"/>
            <a:ext cx="318211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500"/>
              </a:spcBef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&amp; test code liên tục vào nhánh chính.</a:t>
            </a:r>
            <a:endParaRPr lang="en-US" sz="12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Delivery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Luôn sẵn sàng release; bấm nút là lên.</a:t>
            </a:r>
            <a:endParaRPr lang="en-US" sz="12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Deployment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lên production, không cần bấm tay.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97680" y="1783080"/>
            <a:ext cx="3703320" cy="425196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76200" dist="25400" dir="5400000" algn="bl" rotWithShape="0">
              <a:srgbClr val="AAB4C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53712" y="19659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Jenkins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53712" y="2404872"/>
            <a:ext cx="322783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500"/>
              </a:spcBef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phối job, lưu cấu hình, giao diện.</a:t>
            </a:r>
            <a:endParaRPr lang="en-US" sz="12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Máy chạy job thật — tách để scale &amp; cô lập môi trường.</a:t>
            </a:r>
            <a:endParaRPr lang="en-US" sz="12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Lõi nhỏ, mọi tính năng (Git, Docker…) là plugin.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138160" y="17830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vs Pipeline — vì sao nên dùng Pipeline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0" y="2377440"/>
          <a:ext cx="3566160" cy="13716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Freestyle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Cấu hình bằng UI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Bằng code (Jenkinsfile)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Khó version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Lưu trong Git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Dễ vỡ khi phức tạp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Chia stage rõ ràng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Khó tái lập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Tái lập &amp; review được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8138160" y="4617720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FFF7E9"/>
          </a:solidFill>
          <a:ln w="12700">
            <a:solidFill>
              <a:srgbClr val="F3D9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339328" y="461772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as Code biến quy trình CI/CD thành file text — versioned, review được, tái lập trên mọi Jenkins.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Automation — Jenkins · Ansible · Config as Code · Golang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47120" y="64465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481328"/>
            <a:ext cx="12191695" cy="54864"/>
          </a:xfrm>
          <a:prstGeom prst="rect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896112" cy="896112"/>
          </a:xfrm>
          <a:prstGeom prst="roundRect">
            <a:avLst>
              <a:gd name="adj" fmla="val 8163"/>
            </a:avLst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292608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572768" y="34747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·  Cách làm — Thực hành (Lab)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554480" y="621792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&amp; Jenkins cơ bản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553212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76200" dist="25400" dir="5400000" algn="bl" rotWithShape="0">
              <a:srgbClr val="AAB4C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8952" y="19476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bước thực hiện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95728"/>
            <a:ext cx="49377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Dựng Jenkins bằng Docker (mount volume để giữ dữ liệu).</a:t>
            </a:r>
            <a:endParaRPr lang="en-US" sz="1250" dirty="0"/>
          </a:p>
          <a:p>
            <a:pPr marL="254000" indent="-2540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bằng initial admin password; cài plugin Git + Pipeline.</a:t>
            </a:r>
            <a:endParaRPr lang="en-US" sz="1250" dirty="0"/>
          </a:p>
          <a:p>
            <a:pPr marL="254000" indent="-2540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credentials (GitHub token) — không hardcode trong job.</a:t>
            </a:r>
            <a:endParaRPr lang="en-US" sz="1250" dirty="0"/>
          </a:p>
          <a:p>
            <a:pPr marL="254000" indent="-2540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Freestyle job: pull repo mẫu + chạy lệnh test.</a:t>
            </a:r>
            <a:endParaRPr lang="en-US" sz="1250" dirty="0"/>
          </a:p>
          <a:p>
            <a:pPr marL="254000" indent="-2540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Bấm Build Now, mở Console Output xem kết quả.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199632" y="1856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Dựng Jenkins &amp; lấy mật khẩu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99632" y="2148840"/>
            <a:ext cx="5486400" cy="2286000"/>
          </a:xfrm>
          <a:prstGeom prst="roundRect">
            <a:avLst>
              <a:gd name="adj" fmla="val 2400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45936" y="2258568"/>
            <a:ext cx="5193792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--name jenkins \</a:t>
            </a: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-p 8080:8080 -p 50000:50000 \</a:t>
            </a: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-v jenkins_home:/var/jenkins_home \</a:t>
            </a: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jenkins/jenkins:lts</a:t>
            </a: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Lấy mật khẩu unlock:</a:t>
            </a: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exec jenkins cat \</a:t>
            </a: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/var/jenkins_home/secrets/\</a:t>
            </a: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initialAdminPassword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99632" y="4617720"/>
            <a:ext cx="5486400" cy="850392"/>
          </a:xfrm>
          <a:prstGeom prst="roundRect">
            <a:avLst>
              <a:gd name="adj" fmla="val 6452"/>
            </a:avLst>
          </a:prstGeom>
          <a:solidFill>
            <a:srgbClr val="EAF6EE"/>
          </a:solidFill>
          <a:ln w="12700">
            <a:solidFill>
              <a:srgbClr val="BFE3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4617720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kỳ vọng:  </a:t>
            </a:r>
            <a:r>
              <a:rPr lang="en-US" sz="1200" dirty="0">
                <a:solidFill>
                  <a:srgbClr val="225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chạy xanh (SUCCESS), Console Output in ra log pull code và kết quả test.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623560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56235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</a:t>
            </a:r>
            <a:r>
              <a:rPr lang="en-US" sz="11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99632" y="5623560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F3F5FA"/>
          </a:solidFill>
          <a:ln w="12700">
            <a:solidFill>
              <a:srgbClr val="E2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28232" y="56235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VỀ NHÀ  </a:t>
            </a: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 webhook để mỗi lần push code là tự động build.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Automation — Jenkins · Ansible · Config as Code · Golang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465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481328"/>
            <a:ext cx="12191695" cy="54864"/>
          </a:xfrm>
          <a:prstGeom prst="rect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896112" cy="896112"/>
          </a:xfrm>
          <a:prstGeom prst="roundRect">
            <a:avLst>
              <a:gd name="adj" fmla="val 8163"/>
            </a:avLst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292608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572768" y="34747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·  Tổng quan &amp; vị trí trong pipeline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554480" y="621792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Pipeline &amp; tự động hóa Build/Deploy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55321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76200" dist="25400" dir="5400000" algn="bl" rotWithShape="0">
              <a:srgbClr val="AAB4C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8952" y="19202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session này quan trọng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8952" y="2359152"/>
            <a:ext cx="50566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500"/>
              </a:spcBef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click không version được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Đưa cấu hình vào code để review &amp; tái lập.</a:t>
            </a:r>
            <a:endParaRPr lang="en-US" sz="12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Fail-fast, log rõ ràng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stage build → test → deploy.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99632" y="173736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55664" y="19385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55664" y="2359152"/>
            <a:ext cx="4983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được một Jenkinsfile hoàn chỉnh: Build → Test → Deploy, quản lý secret an toàn, lưu artifact và thông báo khi fail.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4160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VỊ TRÍ TRONG PIPELINE CI/CD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462272"/>
            <a:ext cx="1635252" cy="749808"/>
          </a:xfrm>
          <a:prstGeom prst="roundRect">
            <a:avLst>
              <a:gd name="adj" fmla="val 8537"/>
            </a:avLst>
          </a:prstGeom>
          <a:solidFill>
            <a:srgbClr val="E7ECF5"/>
          </a:solidFill>
          <a:ln w="12700">
            <a:solidFill>
              <a:srgbClr val="E2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4572000"/>
            <a:ext cx="163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4901184"/>
            <a:ext cx="1635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142744" y="4690872"/>
            <a:ext cx="256032" cy="292608"/>
          </a:xfrm>
          <a:prstGeom prst="chevron">
            <a:avLst/>
          </a:prstGeom>
          <a:solidFill>
            <a:srgbClr val="CFD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412492" y="4462272"/>
            <a:ext cx="1635252" cy="749808"/>
          </a:xfrm>
          <a:prstGeom prst="roundRect">
            <a:avLst>
              <a:gd name="adj" fmla="val 8537"/>
            </a:avLst>
          </a:prstGeom>
          <a:solidFill>
            <a:srgbClr val="FCA311"/>
          </a:solidFill>
          <a:ln w="12700">
            <a:solidFill>
              <a:srgbClr val="B97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412492" y="4572000"/>
            <a:ext cx="163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412492" y="4901184"/>
            <a:ext cx="1635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052316" y="4690872"/>
            <a:ext cx="256032" cy="292608"/>
          </a:xfrm>
          <a:prstGeom prst="chevron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322064" y="4462272"/>
            <a:ext cx="1635252" cy="749808"/>
          </a:xfrm>
          <a:prstGeom prst="roundRect">
            <a:avLst>
              <a:gd name="adj" fmla="val 8537"/>
            </a:avLst>
          </a:prstGeom>
          <a:solidFill>
            <a:srgbClr val="FCA311"/>
          </a:solidFill>
          <a:ln w="12700">
            <a:solidFill>
              <a:srgbClr val="B97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22064" y="4572000"/>
            <a:ext cx="163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322064" y="4901184"/>
            <a:ext cx="1635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61888" y="4690872"/>
            <a:ext cx="256032" cy="292608"/>
          </a:xfrm>
          <a:prstGeom prst="chevron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231636" y="4462272"/>
            <a:ext cx="1635252" cy="749808"/>
          </a:xfrm>
          <a:prstGeom prst="roundRect">
            <a:avLst>
              <a:gd name="adj" fmla="val 8537"/>
            </a:avLst>
          </a:prstGeom>
          <a:solidFill>
            <a:srgbClr val="FCA311"/>
          </a:solidFill>
          <a:ln w="12700">
            <a:solidFill>
              <a:srgbClr val="B97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31636" y="4572000"/>
            <a:ext cx="163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31636" y="4901184"/>
            <a:ext cx="1635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871460" y="4690872"/>
            <a:ext cx="256032" cy="292608"/>
          </a:xfrm>
          <a:prstGeom prst="chevron">
            <a:avLst/>
          </a:prstGeom>
          <a:solidFill>
            <a:srgbClr val="CFD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141208" y="4462272"/>
            <a:ext cx="1635252" cy="749808"/>
          </a:xfrm>
          <a:prstGeom prst="roundRect">
            <a:avLst>
              <a:gd name="adj" fmla="val 8537"/>
            </a:avLst>
          </a:prstGeom>
          <a:solidFill>
            <a:srgbClr val="E7ECF5"/>
          </a:solidFill>
          <a:ln w="12700">
            <a:solidFill>
              <a:srgbClr val="E2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141208" y="4572000"/>
            <a:ext cx="163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141208" y="4901184"/>
            <a:ext cx="1635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781032" y="4690872"/>
            <a:ext cx="256032" cy="292608"/>
          </a:xfrm>
          <a:prstGeom prst="chevron">
            <a:avLst/>
          </a:prstGeom>
          <a:solidFill>
            <a:srgbClr val="CFD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0050780" y="4462272"/>
            <a:ext cx="1635252" cy="749808"/>
          </a:xfrm>
          <a:prstGeom prst="roundRect">
            <a:avLst>
              <a:gd name="adj" fmla="val 8537"/>
            </a:avLst>
          </a:prstGeom>
          <a:solidFill>
            <a:srgbClr val="E7ECF5"/>
          </a:solidFill>
          <a:ln w="12700">
            <a:solidFill>
              <a:srgbClr val="E2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050780" y="4572000"/>
            <a:ext cx="163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050780" y="4901184"/>
            <a:ext cx="1635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02920" y="5349240"/>
            <a:ext cx="11183112" cy="822960"/>
          </a:xfrm>
          <a:prstGeom prst="roundRect">
            <a:avLst>
              <a:gd name="adj" fmla="val 6667"/>
            </a:avLst>
          </a:prstGeom>
          <a:solidFill>
            <a:srgbClr val="FFF7E9"/>
          </a:solidFill>
          <a:ln w="12700">
            <a:solidFill>
              <a:srgbClr val="F3D9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77240" y="53492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mấu chốt:  </a:t>
            </a:r>
            <a:r>
              <a:rPr lang="en-US" sz="1300" dirty="0">
                <a:solidFill>
                  <a:srgbClr val="5A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Jenkinsfile mô tả toàn bộ pipeline bằng code — thêm khâu Deploy vào chuỗi tự động.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Automation — Jenkins · Ansible · Config as Code · Golang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47120" y="64465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481328"/>
            <a:ext cx="12191695" cy="54864"/>
          </a:xfrm>
          <a:prstGeom prst="rect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896112" cy="896112"/>
          </a:xfrm>
          <a:prstGeom prst="roundRect">
            <a:avLst>
              <a:gd name="adj" fmla="val 8163"/>
            </a:avLst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292608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572768" y="34747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·  Giải thích chi tiết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554480" y="621792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Pipeline &amp; tự động hóa Build/Deploy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3794760" cy="42519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76200" dist="25400" dir="5400000" algn="bl" rotWithShape="0">
              <a:srgbClr val="AAB4C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8952" y="19659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phẫu Jenkinsfile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8952" y="2404872"/>
            <a:ext cx="331927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500"/>
              </a:spcBef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pipeline ở đâu (node/label/docker).</a:t>
            </a:r>
            <a:endParaRPr lang="en-US" sz="12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/ steps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giai đoạn và lệnh cụ thể trong mỗi giai đoạn.</a:t>
            </a:r>
            <a:endParaRPr lang="en-US" sz="12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Biến &amp; secret dùng chung cho pipeline.</a:t>
            </a:r>
            <a:endParaRPr lang="en-US" sz="12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sau cùng: always / success / failure.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434840" y="1783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vs Scripted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2286000"/>
          <a:ext cx="3611880" cy="914400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Cú pháp cố định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Groovy tự 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Dễ đọc, an toàn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Linh hoạt cao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Đa số trường hợp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 phức tạp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434840" y="3977640"/>
            <a:ext cx="3611880" cy="2057400"/>
          </a:xfrm>
          <a:prstGeom prst="roundRect">
            <a:avLst>
              <a:gd name="adj" fmla="val 2667"/>
            </a:avLst>
          </a:prstGeom>
          <a:solidFill>
            <a:srgbClr val="FFF7E9"/>
          </a:solidFill>
          <a:ln w="12700">
            <a:solidFill>
              <a:srgbClr val="F3D9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645152" y="4133088"/>
            <a:ext cx="3200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secret
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rgbClr val="5A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withCredentials / credentials() để tiêm secret lúc chạy. Không hardcode, không in secret ra log (Jenkins tự che ****).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83880" y="18105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Jenkinsfile (rút gọn)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183880" y="2103120"/>
            <a:ext cx="3520440" cy="3840480"/>
          </a:xfrm>
          <a:prstGeom prst="roundRect">
            <a:avLst>
              <a:gd name="adj" fmla="val 1558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330184" y="2212848"/>
            <a:ext cx="3227832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{</a:t>
            </a: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agent any</a:t>
            </a: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stages {</a:t>
            </a: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stage('Build'){ steps{</a:t>
            </a: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sh 'npm ci &amp;&amp; npm run build' } }</a:t>
            </a: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stage('Test'){ steps{</a:t>
            </a: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sh 'npm test' } }</a:t>
            </a: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stage('Deploy'){ steps{</a:t>
            </a: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sh './deploy.sh' } }</a:t>
            </a: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 {</a:t>
            </a: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failure { echo 'Báo Slack!' }</a:t>
            </a: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always { archiveArtifacts 'dist/**' }</a:t>
            </a: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Automation — Jenkins · Ansible · Config as Code · Golang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47120" y="64465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481328"/>
            <a:ext cx="12191695" cy="54864"/>
          </a:xfrm>
          <a:prstGeom prst="rect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896112" cy="896112"/>
          </a:xfrm>
          <a:prstGeom prst="roundRect">
            <a:avLst>
              <a:gd name="adj" fmla="val 8163"/>
            </a:avLst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292608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572768" y="34747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·  Cách làm — Thực hành (Lab)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554480" y="621792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Pipeline &amp; tự động hóa Build/Deploy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553212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76200" dist="25400" dir="5400000" algn="bl" rotWithShape="0">
              <a:srgbClr val="AAB4C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8952" y="19476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bước thực hiện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95728"/>
            <a:ext cx="49377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bị app mẫu (Node.js) với script test &amp; build.</a:t>
            </a:r>
            <a:endParaRPr lang="en-US" sz="1250" dirty="0"/>
          </a:p>
          <a:p>
            <a:pPr marL="254000" indent="-2540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Jenkinsfile vào repo (Declarative).</a:t>
            </a:r>
            <a:endParaRPr lang="en-US" sz="1250" dirty="0"/>
          </a:p>
          <a:p>
            <a:pPr marL="254000" indent="-2540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Multibranch Pipeline trỏ tới repo.</a:t>
            </a:r>
            <a:endParaRPr lang="en-US" sz="1250" dirty="0"/>
          </a:p>
          <a:p>
            <a:pPr marL="254000" indent="-2540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pipeline, theo dõi từng stage trong Blue Ocean/Stage View.</a:t>
            </a:r>
            <a:endParaRPr lang="en-US" sz="1250" dirty="0"/>
          </a:p>
          <a:p>
            <a:pPr marL="254000" indent="-2540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artifact bằng archiveArtifacts, xem ở trang build.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199632" y="1856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Lệnh trong stage &amp; artifact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99632" y="2148840"/>
            <a:ext cx="5486400" cy="2148840"/>
          </a:xfrm>
          <a:prstGeom prst="roundRect">
            <a:avLst>
              <a:gd name="adj" fmla="val 2553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45936" y="2258568"/>
            <a:ext cx="5193792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ci        # cài đúng lock</a:t>
            </a: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test      # chạy test</a:t>
            </a: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build # tạo dist/</a:t>
            </a: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trong Jenkinsfile:</a:t>
            </a: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archiveArtifacts 'dist/**'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99632" y="4480560"/>
            <a:ext cx="5486400" cy="987552"/>
          </a:xfrm>
          <a:prstGeom prst="roundRect">
            <a:avLst>
              <a:gd name="adj" fmla="val 5556"/>
            </a:avLst>
          </a:prstGeom>
          <a:solidFill>
            <a:srgbClr val="EAF6EE"/>
          </a:solidFill>
          <a:ln w="12700">
            <a:solidFill>
              <a:srgbClr val="BFE3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4480560"/>
            <a:ext cx="5074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kỳ vọng:  </a:t>
            </a:r>
            <a:r>
              <a:rPr lang="en-US" sz="1200" dirty="0">
                <a:solidFill>
                  <a:srgbClr val="225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hiện đủ 3 stage (Build/Test/Deploy); artifact dist/ tải được từ trang build.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623560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56235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</a:t>
            </a:r>
            <a:r>
              <a:rPr lang="en-US" sz="11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Nhờ AI sinh khung Jenkinsfile từ mô tả, rồi review env/secret/đường deploy.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99632" y="5623560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F3F5FA"/>
          </a:solidFill>
          <a:ln w="12700">
            <a:solidFill>
              <a:srgbClr val="E2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28232" y="56235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VỀ NHÀ  </a:t>
            </a: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stage thông báo Slack/email khi build fail.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Automation — Jenkins · Ansible · Config as Code · Golang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465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481328"/>
            <a:ext cx="12191695" cy="54864"/>
          </a:xfrm>
          <a:prstGeom prst="rect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896112" cy="896112"/>
          </a:xfrm>
          <a:prstGeom prst="roundRect">
            <a:avLst>
              <a:gd name="adj" fmla="val 8163"/>
            </a:avLst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292608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572768" y="34747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 ·  Tổng quan &amp; vị trí trong pipeline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554480" y="621792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Ansible: Configuration Management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55321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76200" dist="25400" dir="5400000" algn="bl" rotWithShape="0">
              <a:srgbClr val="AAB4C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8952" y="19202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session này quan trọng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8952" y="2359152"/>
            <a:ext cx="50566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500"/>
              </a:spcBef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Diệt “config drift”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Kéo các server lệch nhau về đúng chuẩn.</a:t>
            </a:r>
            <a:endParaRPr lang="en-US" sz="12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lại nhiều lần vẫn ra một trạng thái.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99632" y="173736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55664" y="19385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55664" y="2359152"/>
            <a:ext cx="4983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Ansible mô tả trạng thái mong muốn của máy target và gọi playbook từ Jenkins để deploy tự động.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4160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VỊ TRÍ TRONG PIPELINE CI/CD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462272"/>
            <a:ext cx="1635252" cy="749808"/>
          </a:xfrm>
          <a:prstGeom prst="roundRect">
            <a:avLst>
              <a:gd name="adj" fmla="val 8537"/>
            </a:avLst>
          </a:prstGeom>
          <a:solidFill>
            <a:srgbClr val="E7ECF5"/>
          </a:solidFill>
          <a:ln w="12700">
            <a:solidFill>
              <a:srgbClr val="E2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4572000"/>
            <a:ext cx="163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4901184"/>
            <a:ext cx="1635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142744" y="4690872"/>
            <a:ext cx="256032" cy="292608"/>
          </a:xfrm>
          <a:prstGeom prst="chevron">
            <a:avLst/>
          </a:prstGeom>
          <a:solidFill>
            <a:srgbClr val="CFD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412492" y="4462272"/>
            <a:ext cx="1635252" cy="749808"/>
          </a:xfrm>
          <a:prstGeom prst="roundRect">
            <a:avLst>
              <a:gd name="adj" fmla="val 8537"/>
            </a:avLst>
          </a:prstGeom>
          <a:solidFill>
            <a:srgbClr val="E7ECF5"/>
          </a:solidFill>
          <a:ln w="12700">
            <a:solidFill>
              <a:srgbClr val="E2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412492" y="4572000"/>
            <a:ext cx="163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412492" y="4901184"/>
            <a:ext cx="1635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052316" y="4690872"/>
            <a:ext cx="256032" cy="292608"/>
          </a:xfrm>
          <a:prstGeom prst="chevron">
            <a:avLst/>
          </a:prstGeom>
          <a:solidFill>
            <a:srgbClr val="CFD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322064" y="4462272"/>
            <a:ext cx="1635252" cy="749808"/>
          </a:xfrm>
          <a:prstGeom prst="roundRect">
            <a:avLst>
              <a:gd name="adj" fmla="val 8537"/>
            </a:avLst>
          </a:prstGeom>
          <a:solidFill>
            <a:srgbClr val="E7ECF5"/>
          </a:solidFill>
          <a:ln w="12700">
            <a:solidFill>
              <a:srgbClr val="E2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22064" y="4572000"/>
            <a:ext cx="163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322064" y="4901184"/>
            <a:ext cx="1635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61888" y="4690872"/>
            <a:ext cx="256032" cy="292608"/>
          </a:xfrm>
          <a:prstGeom prst="chevron">
            <a:avLst/>
          </a:prstGeom>
          <a:solidFill>
            <a:srgbClr val="CFD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231636" y="4462272"/>
            <a:ext cx="1635252" cy="749808"/>
          </a:xfrm>
          <a:prstGeom prst="roundRect">
            <a:avLst>
              <a:gd name="adj" fmla="val 8537"/>
            </a:avLst>
          </a:prstGeom>
          <a:solidFill>
            <a:srgbClr val="E7ECF5"/>
          </a:solidFill>
          <a:ln w="12700">
            <a:solidFill>
              <a:srgbClr val="E2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31636" y="4572000"/>
            <a:ext cx="163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31636" y="4901184"/>
            <a:ext cx="1635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871460" y="4690872"/>
            <a:ext cx="256032" cy="292608"/>
          </a:xfrm>
          <a:prstGeom prst="chevron">
            <a:avLst/>
          </a:prstGeom>
          <a:solidFill>
            <a:srgbClr val="CFD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141208" y="4462272"/>
            <a:ext cx="1635252" cy="749808"/>
          </a:xfrm>
          <a:prstGeom prst="roundRect">
            <a:avLst>
              <a:gd name="adj" fmla="val 8537"/>
            </a:avLst>
          </a:prstGeom>
          <a:solidFill>
            <a:srgbClr val="FCA311"/>
          </a:solidFill>
          <a:ln w="12700">
            <a:solidFill>
              <a:srgbClr val="B97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141208" y="4572000"/>
            <a:ext cx="163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141208" y="4901184"/>
            <a:ext cx="1635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781032" y="4690872"/>
            <a:ext cx="256032" cy="292608"/>
          </a:xfrm>
          <a:prstGeom prst="chevron">
            <a:avLst/>
          </a:prstGeom>
          <a:solidFill>
            <a:srgbClr val="CFD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0050780" y="4462272"/>
            <a:ext cx="1635252" cy="749808"/>
          </a:xfrm>
          <a:prstGeom prst="roundRect">
            <a:avLst>
              <a:gd name="adj" fmla="val 8537"/>
            </a:avLst>
          </a:prstGeom>
          <a:solidFill>
            <a:srgbClr val="E7ECF5"/>
          </a:solidFill>
          <a:ln w="12700">
            <a:solidFill>
              <a:srgbClr val="E2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050780" y="4572000"/>
            <a:ext cx="163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050780" y="4901184"/>
            <a:ext cx="1635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02920" y="5349240"/>
            <a:ext cx="11183112" cy="822960"/>
          </a:xfrm>
          <a:prstGeom prst="roundRect">
            <a:avLst>
              <a:gd name="adj" fmla="val 6667"/>
            </a:avLst>
          </a:prstGeom>
          <a:solidFill>
            <a:srgbClr val="FFF7E9"/>
          </a:solidFill>
          <a:ln w="12700">
            <a:solidFill>
              <a:srgbClr val="F3D9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77240" y="53492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mấu chốt:  </a:t>
            </a:r>
            <a:r>
              <a:rPr lang="en-US" sz="1300" dirty="0">
                <a:solidFill>
                  <a:srgbClr val="5A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lo khâu Config trong bước Deploy: cấu hình máy đích một cách idempotent, agentless.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Automation — Jenkins · Ansible · Config as Code · Golang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47120" y="64465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481328"/>
            <a:ext cx="12191695" cy="54864"/>
          </a:xfrm>
          <a:prstGeom prst="rect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896112" cy="896112"/>
          </a:xfrm>
          <a:prstGeom prst="roundRect">
            <a:avLst>
              <a:gd name="adj" fmla="val 8163"/>
            </a:avLst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292608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572768" y="34747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 ·  Giải thích chi tiết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554480" y="621792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Ansible: Configuration Management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3931920" cy="425196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76200" dist="25400" dir="5400000" algn="bl" rotWithShape="0">
              <a:srgbClr val="AAB4C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8952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Khái niệm cốt lõi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8952" y="2404872"/>
            <a:ext cx="345643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500"/>
              </a:spcBef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sách host &amp; nhóm (dev/staging/prod).</a:t>
            </a:r>
            <a:endParaRPr lang="en-US" sz="12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/ Task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Kịch bản YAML mô tả trạng thái mong muốn.</a:t>
            </a:r>
            <a:endParaRPr lang="en-US" sz="12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vị hành động idempotent (apt, copy, service…).</a:t>
            </a:r>
            <a:endParaRPr lang="en-US" sz="12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/ Variables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gói tái sử dụng + biến theo môi trường.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0" y="1783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Agentless — vì sao là lợi thế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2286000"/>
          <a:ext cx="3611880" cy="914400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Agent-based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Agentless (Ansible)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Cài agent mỗi máy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Chỉ cần SSH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Bảo trì 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có gì để bảo trì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Nhiều cổng mở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Ít bề mặt tấn công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8321040" y="19933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(rút gọn)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321040" y="2286000"/>
            <a:ext cx="3383280" cy="1920240"/>
          </a:xfrm>
          <a:prstGeom prst="roundRect">
            <a:avLst>
              <a:gd name="adj" fmla="val 2857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467344" y="2395728"/>
            <a:ext cx="309067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hosts: web</a:t>
            </a: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become: true</a:t>
            </a: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tasks:</a:t>
            </a: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apt: name=nginx state=present</a:t>
            </a: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service:</a:t>
            </a: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name=nginx state=started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572000" y="4297680"/>
            <a:ext cx="7132320" cy="1737360"/>
          </a:xfrm>
          <a:prstGeom prst="roundRect">
            <a:avLst>
              <a:gd name="adj" fmla="val 3158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800600" y="44348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làm gì?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800600" y="4846320"/>
            <a:ext cx="6720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điều phối (khi nào deploy) — Ansible cấu hình (máy đích trông ra sao). Trong stage Deploy, Jenkins chỉ cần gọi: ansible-playbook -i inventory site.yml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Automation — Jenkins · Ansible · Config as Code · Golang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47120" y="64465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481328"/>
            <a:ext cx="12191695" cy="54864"/>
          </a:xfrm>
          <a:prstGeom prst="rect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896112" cy="896112"/>
          </a:xfrm>
          <a:prstGeom prst="roundRect">
            <a:avLst>
              <a:gd name="adj" fmla="val 8163"/>
            </a:avLst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292608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572768" y="34747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 ·  Cách làm — Thực hành (Lab)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554480" y="621792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Ansible: Configuration Management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553212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76200" dist="25400" dir="5400000" algn="bl" rotWithShape="0">
              <a:srgbClr val="AAB4C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8952" y="19476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bước thực hiện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95728"/>
            <a:ext cx="49377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lập SSH key tới node target; viết inventory (nhóm [web]).</a:t>
            </a:r>
            <a:endParaRPr lang="en-US" sz="1250" dirty="0"/>
          </a:p>
          <a:p>
            <a:pPr marL="254000" indent="-2540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playbook cài &amp; cấu hình Nginx (dùng module, có handler restart).</a:t>
            </a:r>
            <a:endParaRPr lang="en-US" sz="1250" dirty="0"/>
          </a:p>
          <a:p>
            <a:pPr marL="254000" indent="-2540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playbook lần 1 → thấy 'changed'.</a:t>
            </a:r>
            <a:endParaRPr lang="en-US" sz="1250" dirty="0"/>
          </a:p>
          <a:p>
            <a:pPr marL="254000" indent="-2540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lại lần 2 → 'changed=0' (chứng minh idempotency).</a:t>
            </a:r>
            <a:endParaRPr lang="en-US" sz="1250" dirty="0"/>
          </a:p>
          <a:p>
            <a:pPr marL="254000" indent="-2540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stage trong Jenkins gọi ansible-playbook để deploy.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199632" y="1856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&amp; kiểm tra idempotency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99632" y="2148840"/>
            <a:ext cx="5486400" cy="2148840"/>
          </a:xfrm>
          <a:prstGeom prst="roundRect">
            <a:avLst>
              <a:gd name="adj" fmla="val 2553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45936" y="2258568"/>
            <a:ext cx="5193792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ansible-playbook -i inventory \</a:t>
            </a: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site.yml</a:t>
            </a: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lần 1: changed=4</a:t>
            </a: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lần 2: ok=4  changed=0  &lt;-- idempotent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99632" y="4480560"/>
            <a:ext cx="5486400" cy="987552"/>
          </a:xfrm>
          <a:prstGeom prst="roundRect">
            <a:avLst>
              <a:gd name="adj" fmla="val 5556"/>
            </a:avLst>
          </a:prstGeom>
          <a:solidFill>
            <a:srgbClr val="EAF6EE"/>
          </a:solidFill>
          <a:ln w="12700">
            <a:solidFill>
              <a:srgbClr val="BFE3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4480560"/>
            <a:ext cx="5074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kỳ vọng:  </a:t>
            </a:r>
            <a:r>
              <a:rPr lang="en-US" sz="1200" dirty="0">
                <a:solidFill>
                  <a:srgbClr val="225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chạy trên node target; lần chạy thứ 2 báo changed=0 → cấu hình ổn định.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623560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56235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</a:t>
            </a:r>
            <a:r>
              <a:rPr lang="en-US" sz="11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inventory cho dev/staging/prod với group_vars riêng từng môi trường.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99632" y="5623560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F3F5FA"/>
          </a:solidFill>
          <a:ln w="12700">
            <a:solidFill>
              <a:srgbClr val="E2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28232" y="56235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VỀ NHÀ  </a:t>
            </a: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gói playbook thành Role tái sử dụng.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Automation — Jenkins · Ansible · Config as Code · Golang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465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481328"/>
            <a:ext cx="12191695" cy="54864"/>
          </a:xfrm>
          <a:prstGeom prst="rect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896112" cy="896112"/>
          </a:xfrm>
          <a:prstGeom prst="roundRect">
            <a:avLst>
              <a:gd name="adj" fmla="val 8163"/>
            </a:avLst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292608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572768" y="34747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 ·  Tổng quan &amp; vị trí trong pipeline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554480" y="621792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as Code: hệ sinh thái công cụ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55321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76200" dist="25400" dir="5400000" algn="bl" rotWithShape="0">
              <a:srgbClr val="AAB4C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8952" y="19202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session này quan trọng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8952" y="2359152"/>
            <a:ext cx="50566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500"/>
              </a:spcBef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 tầng tay không tái lập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Bấm chuột không lặp lại, không review được.</a:t>
            </a:r>
            <a:endParaRPr lang="en-US" sz="12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as Code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· declarative · reproducible.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99632" y="173736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55664" y="19385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55664" y="2359152"/>
            <a:ext cx="4983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Nắm bức tranh tổng thể IaC/Config as Code và biết khi nào dùng Terraform, Ansible, Docker Compose hay GitOps.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4160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VỊ TRÍ TRONG PIPELINE CI/CD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462272"/>
            <a:ext cx="1635252" cy="749808"/>
          </a:xfrm>
          <a:prstGeom prst="roundRect">
            <a:avLst>
              <a:gd name="adj" fmla="val 8537"/>
            </a:avLst>
          </a:prstGeom>
          <a:solidFill>
            <a:srgbClr val="E7ECF5"/>
          </a:solidFill>
          <a:ln w="12700">
            <a:solidFill>
              <a:srgbClr val="E2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4572000"/>
            <a:ext cx="163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4901184"/>
            <a:ext cx="1635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142744" y="4690872"/>
            <a:ext cx="256032" cy="292608"/>
          </a:xfrm>
          <a:prstGeom prst="chevron">
            <a:avLst/>
          </a:prstGeom>
          <a:solidFill>
            <a:srgbClr val="CFD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412492" y="4462272"/>
            <a:ext cx="1635252" cy="749808"/>
          </a:xfrm>
          <a:prstGeom prst="roundRect">
            <a:avLst>
              <a:gd name="adj" fmla="val 8537"/>
            </a:avLst>
          </a:prstGeom>
          <a:solidFill>
            <a:srgbClr val="E7ECF5"/>
          </a:solidFill>
          <a:ln w="12700">
            <a:solidFill>
              <a:srgbClr val="E2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412492" y="4572000"/>
            <a:ext cx="163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412492" y="4901184"/>
            <a:ext cx="1635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052316" y="4690872"/>
            <a:ext cx="256032" cy="292608"/>
          </a:xfrm>
          <a:prstGeom prst="chevron">
            <a:avLst/>
          </a:prstGeom>
          <a:solidFill>
            <a:srgbClr val="CFD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322064" y="4462272"/>
            <a:ext cx="1635252" cy="749808"/>
          </a:xfrm>
          <a:prstGeom prst="roundRect">
            <a:avLst>
              <a:gd name="adj" fmla="val 8537"/>
            </a:avLst>
          </a:prstGeom>
          <a:solidFill>
            <a:srgbClr val="E7ECF5"/>
          </a:solidFill>
          <a:ln w="12700">
            <a:solidFill>
              <a:srgbClr val="E2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22064" y="4572000"/>
            <a:ext cx="163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322064" y="4901184"/>
            <a:ext cx="1635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61888" y="4690872"/>
            <a:ext cx="256032" cy="292608"/>
          </a:xfrm>
          <a:prstGeom prst="chevron">
            <a:avLst/>
          </a:prstGeom>
          <a:solidFill>
            <a:srgbClr val="CFD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231636" y="4462272"/>
            <a:ext cx="1635252" cy="749808"/>
          </a:xfrm>
          <a:prstGeom prst="roundRect">
            <a:avLst>
              <a:gd name="adj" fmla="val 8537"/>
            </a:avLst>
          </a:prstGeom>
          <a:solidFill>
            <a:srgbClr val="E7ECF5"/>
          </a:solidFill>
          <a:ln w="12700">
            <a:solidFill>
              <a:srgbClr val="E2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31636" y="4572000"/>
            <a:ext cx="163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31636" y="4901184"/>
            <a:ext cx="1635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871460" y="4690872"/>
            <a:ext cx="256032" cy="292608"/>
          </a:xfrm>
          <a:prstGeom prst="chevron">
            <a:avLst/>
          </a:prstGeom>
          <a:solidFill>
            <a:srgbClr val="CFD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141208" y="4462272"/>
            <a:ext cx="1635252" cy="749808"/>
          </a:xfrm>
          <a:prstGeom prst="roundRect">
            <a:avLst>
              <a:gd name="adj" fmla="val 8537"/>
            </a:avLst>
          </a:prstGeom>
          <a:solidFill>
            <a:srgbClr val="E7ECF5"/>
          </a:solidFill>
          <a:ln w="12700">
            <a:solidFill>
              <a:srgbClr val="E2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141208" y="4572000"/>
            <a:ext cx="163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141208" y="4901184"/>
            <a:ext cx="1635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781032" y="4690872"/>
            <a:ext cx="256032" cy="292608"/>
          </a:xfrm>
          <a:prstGeom prst="chevron">
            <a:avLst/>
          </a:prstGeom>
          <a:solidFill>
            <a:srgbClr val="CFD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0050780" y="4462272"/>
            <a:ext cx="1635252" cy="749808"/>
          </a:xfrm>
          <a:prstGeom prst="roundRect">
            <a:avLst>
              <a:gd name="adj" fmla="val 8537"/>
            </a:avLst>
          </a:prstGeom>
          <a:solidFill>
            <a:srgbClr val="FCA311"/>
          </a:solidFill>
          <a:ln w="12700">
            <a:solidFill>
              <a:srgbClr val="B97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050780" y="4572000"/>
            <a:ext cx="163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050780" y="4901184"/>
            <a:ext cx="1635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02920" y="5349240"/>
            <a:ext cx="11183112" cy="822960"/>
          </a:xfrm>
          <a:prstGeom prst="roundRect">
            <a:avLst>
              <a:gd name="adj" fmla="val 6667"/>
            </a:avLst>
          </a:prstGeom>
          <a:solidFill>
            <a:srgbClr val="FFF7E9"/>
          </a:solidFill>
          <a:ln w="12700">
            <a:solidFill>
              <a:srgbClr val="F3D9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77240" y="53492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mấu chốt:  </a:t>
            </a:r>
            <a:r>
              <a:rPr lang="en-US" sz="1300" dirty="0">
                <a:solidFill>
                  <a:srgbClr val="5A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lo tầng Infra — dựng &amp; quản lý chính hạ tầng mà toàn bộ pipeline chạy bên trên.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Automation — Jenkins · Ansible · Config as Code · Golang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47120" y="64465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481328"/>
            <a:ext cx="12191695" cy="54864"/>
          </a:xfrm>
          <a:prstGeom prst="rect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896112" cy="896112"/>
          </a:xfrm>
          <a:prstGeom prst="roundRect">
            <a:avLst>
              <a:gd name="adj" fmla="val 8163"/>
            </a:avLst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292608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572768" y="34747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 ·  Giải thích chi tiết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554480" y="621792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as Code: hệ sinh thái công cụ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tool nào, khi nào?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94560"/>
          <a:ext cx="7040880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Công cụ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Nhóm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Khi nào dùng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Terraform / OpenTofu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Provisioning (state)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Tạo hạ tầng: VM, mạng, cloud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 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Cấu hình bên trong máy đã có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/ Compose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 as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Đóng gói &amp; chạy stack local/dev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ArgoCD / Flux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GitOps (pull)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Đồng bộ deploy từ Git → K8s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Helm / Packer / Vagrant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Đóng gói / image / VM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 K8s, build image, VM dev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772400" y="178308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76200" dist="25400" dir="5400000" algn="bl" rotWithShape="0">
              <a:srgbClr val="AAB4C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028432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trục tư duy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028432" y="2404872"/>
            <a:ext cx="34564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500"/>
              </a:spcBef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Imperative vs Declarative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tả “làm gì” vs “trạng thái cuối” — xu hướng nghiêng về declarative.</a:t>
            </a:r>
            <a:endParaRPr lang="en-US" sz="12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vs Pull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Đẩy thay đổi tới máy vs máy tự kéo từ Git (GitOps).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772400" y="39593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GitOps: Git là nguồn sự thật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772400" y="4251960"/>
            <a:ext cx="3931920" cy="1783080"/>
          </a:xfrm>
          <a:prstGeom prst="roundRect">
            <a:avLst>
              <a:gd name="adj" fmla="val 3077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2"/>
          <p:cNvSpPr/>
          <p:nvPr/>
        </p:nvSpPr>
        <p:spPr>
          <a:xfrm>
            <a:off x="7918704" y="4361688"/>
            <a:ext cx="3639312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 config → Git</a:t>
            </a: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</a:t>
            </a: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controller (pull)</a:t>
            </a: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▼</a:t>
            </a: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cluster tự đồng bộ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5074920"/>
            <a:ext cx="7040880" cy="960120"/>
          </a:xfrm>
          <a:prstGeom prst="roundRect">
            <a:avLst>
              <a:gd name="adj" fmla="val 5714"/>
            </a:avLst>
          </a:prstGeom>
          <a:solidFill>
            <a:srgbClr val="FFF7E9"/>
          </a:solidFill>
          <a:ln w="12700">
            <a:solidFill>
              <a:srgbClr val="F3D9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31520" y="507492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cần “state”  </a:t>
            </a:r>
            <a:r>
              <a:rPr lang="en-US" sz="1200" dirty="0">
                <a:solidFill>
                  <a:srgbClr val="5A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để nhớ nó đã tạo gì → biết cần thêm/sửa/xóa gì. plan cho xem trước thay đổi trước khi apply.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Automation — Jenkins · Ansible · Config as Code · Golang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47120" y="64465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481328"/>
            <a:ext cx="12191695" cy="54864"/>
          </a:xfrm>
          <a:prstGeom prst="rect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896112" cy="896112"/>
          </a:xfrm>
          <a:prstGeom prst="roundRect">
            <a:avLst>
              <a:gd name="adj" fmla="val 8163"/>
            </a:avLst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292608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572768" y="34747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 ·  Cách làm — Thực hành (Lab)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554480" y="621792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as Code: hệ sinh thái công cụ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553212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76200" dist="25400" dir="5400000" algn="bl" rotWithShape="0">
              <a:srgbClr val="AAB4C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8952" y="19476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bước thực hiện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95728"/>
            <a:ext cx="49377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file Terraform tạo 1 Docker container (provider docker).</a:t>
            </a:r>
            <a:endParaRPr lang="en-US" sz="1250" dirty="0"/>
          </a:p>
          <a:p>
            <a:pPr marL="254000" indent="-2540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init → plan (xem trước) → apply.</a:t>
            </a:r>
            <a:endParaRPr lang="en-US" sz="1250" dirty="0"/>
          </a:p>
          <a:p>
            <a:pPr marL="254000" indent="-2540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docker-compose.yml: stack app + db.</a:t>
            </a:r>
            <a:endParaRPr lang="en-US" sz="1250" dirty="0"/>
          </a:p>
          <a:p>
            <a:pPr marL="254000" indent="-2540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-d, kiểm tra dịch vụ.</a:t>
            </a:r>
            <a:endParaRPr lang="en-US" sz="1250" dirty="0"/>
          </a:p>
          <a:p>
            <a:pPr marL="254000" indent="-2540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Đưa toàn bộ file config vào Git, review qua Pull Request.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199632" y="1856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&amp; Compose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99632" y="2148840"/>
            <a:ext cx="5486400" cy="2514600"/>
          </a:xfrm>
          <a:prstGeom prst="roundRect">
            <a:avLst>
              <a:gd name="adj" fmla="val 2182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45936" y="2258568"/>
            <a:ext cx="5193792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init</a:t>
            </a: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    # xem trước</a:t>
            </a: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</a:t>
            </a: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</a:t>
            </a: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compose: services app + db,</a:t>
            </a: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volume, depends_on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99632" y="4846320"/>
            <a:ext cx="5486400" cy="621792"/>
          </a:xfrm>
          <a:prstGeom prst="roundRect">
            <a:avLst>
              <a:gd name="adj" fmla="val 8824"/>
            </a:avLst>
          </a:prstGeom>
          <a:solidFill>
            <a:srgbClr val="EAF6EE"/>
          </a:solidFill>
          <a:ln w="12700">
            <a:solidFill>
              <a:srgbClr val="BFE3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4846320"/>
            <a:ext cx="5074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kỳ vọng:  </a:t>
            </a:r>
            <a:r>
              <a:rPr lang="en-US" sz="1200" dirty="0">
                <a:solidFill>
                  <a:srgbClr val="225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Container/stack chạy đúng mô tả; mọi thay đổi hạ tầng đi qua Git + PR review.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623560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56235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</a:t>
            </a:r>
            <a:r>
              <a:rPr lang="en-US" sz="11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khung Terraform/Compose từ mô tả; review kỹ state, secret, pin version.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99632" y="5623560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F3F5FA"/>
          </a:solidFill>
          <a:ln w="12700">
            <a:solidFill>
              <a:srgbClr val="E2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28232" y="56235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VỀ NHÀ  </a:t>
            </a: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Phác thảo pipeline GitOps: commit config → tự động apply.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Automation — Jenkins · Ansible · Config as Code · Golang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465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481328"/>
            <a:ext cx="12191695" cy="54864"/>
          </a:xfrm>
          <a:prstGeom prst="rect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896112" cy="896112"/>
          </a:xfrm>
          <a:prstGeom prst="roundRect">
            <a:avLst>
              <a:gd name="adj" fmla="val 8163"/>
            </a:avLst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292608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572768" y="34747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  ·  Tổng quan &amp; vị trí trong pipeline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554480" y="621792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Golang để viết DevOps tool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55321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76200" dist="25400" dir="5400000" algn="bl" rotWithShape="0">
              <a:srgbClr val="AAB4C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8952" y="19202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session này quan trọng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8952" y="2359152"/>
            <a:ext cx="50566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500"/>
              </a:spcBef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Ngôn ngữ của hạ tầng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K8s, Terraform, Prometheus dùng Go.</a:t>
            </a:r>
            <a:endParaRPr lang="en-US" sz="12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phối cực dễ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binary tĩnh, cross-compile mọi OS.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99632" y="173736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55664" y="19385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55664" y="2359152"/>
            <a:ext cx="4983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Hiểu vì sao Go thống trị DevOps tooling và tự viết được một CLI tool nhỏ (vd: health-check), build đa nền tảng.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4160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VỊ TRÍ TRONG PIPELINE CI/CD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462272"/>
            <a:ext cx="1635252" cy="749808"/>
          </a:xfrm>
          <a:prstGeom prst="roundRect">
            <a:avLst>
              <a:gd name="adj" fmla="val 8537"/>
            </a:avLst>
          </a:prstGeom>
          <a:solidFill>
            <a:srgbClr val="FCA311"/>
          </a:solidFill>
          <a:ln w="12700">
            <a:solidFill>
              <a:srgbClr val="B97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4572000"/>
            <a:ext cx="163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4901184"/>
            <a:ext cx="1635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142744" y="4690872"/>
            <a:ext cx="256032" cy="292608"/>
          </a:xfrm>
          <a:prstGeom prst="chevron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412492" y="4462272"/>
            <a:ext cx="1635252" cy="749808"/>
          </a:xfrm>
          <a:prstGeom prst="roundRect">
            <a:avLst>
              <a:gd name="adj" fmla="val 8537"/>
            </a:avLst>
          </a:prstGeom>
          <a:solidFill>
            <a:srgbClr val="FCA311"/>
          </a:solidFill>
          <a:ln w="12700">
            <a:solidFill>
              <a:srgbClr val="B97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412492" y="4572000"/>
            <a:ext cx="163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412492" y="4901184"/>
            <a:ext cx="1635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052316" y="4690872"/>
            <a:ext cx="256032" cy="292608"/>
          </a:xfrm>
          <a:prstGeom prst="chevron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322064" y="4462272"/>
            <a:ext cx="1635252" cy="749808"/>
          </a:xfrm>
          <a:prstGeom prst="roundRect">
            <a:avLst>
              <a:gd name="adj" fmla="val 8537"/>
            </a:avLst>
          </a:prstGeom>
          <a:solidFill>
            <a:srgbClr val="FCA311"/>
          </a:solidFill>
          <a:ln w="12700">
            <a:solidFill>
              <a:srgbClr val="B97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22064" y="4572000"/>
            <a:ext cx="163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322064" y="4901184"/>
            <a:ext cx="1635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61888" y="4690872"/>
            <a:ext cx="256032" cy="292608"/>
          </a:xfrm>
          <a:prstGeom prst="chevron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231636" y="4462272"/>
            <a:ext cx="1635252" cy="749808"/>
          </a:xfrm>
          <a:prstGeom prst="roundRect">
            <a:avLst>
              <a:gd name="adj" fmla="val 8537"/>
            </a:avLst>
          </a:prstGeom>
          <a:solidFill>
            <a:srgbClr val="FCA311"/>
          </a:solidFill>
          <a:ln w="12700">
            <a:solidFill>
              <a:srgbClr val="B97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31636" y="4572000"/>
            <a:ext cx="163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31636" y="4901184"/>
            <a:ext cx="1635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871460" y="4690872"/>
            <a:ext cx="256032" cy="292608"/>
          </a:xfrm>
          <a:prstGeom prst="chevron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141208" y="4462272"/>
            <a:ext cx="1635252" cy="749808"/>
          </a:xfrm>
          <a:prstGeom prst="roundRect">
            <a:avLst>
              <a:gd name="adj" fmla="val 8537"/>
            </a:avLst>
          </a:prstGeom>
          <a:solidFill>
            <a:srgbClr val="FCA311"/>
          </a:solidFill>
          <a:ln w="12700">
            <a:solidFill>
              <a:srgbClr val="B97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141208" y="4572000"/>
            <a:ext cx="163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141208" y="4901184"/>
            <a:ext cx="1635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781032" y="4690872"/>
            <a:ext cx="256032" cy="292608"/>
          </a:xfrm>
          <a:prstGeom prst="chevron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0050780" y="4462272"/>
            <a:ext cx="1635252" cy="749808"/>
          </a:xfrm>
          <a:prstGeom prst="roundRect">
            <a:avLst>
              <a:gd name="adj" fmla="val 8537"/>
            </a:avLst>
          </a:prstGeom>
          <a:solidFill>
            <a:srgbClr val="FCA311"/>
          </a:solidFill>
          <a:ln w="12700">
            <a:solidFill>
              <a:srgbClr val="B97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050780" y="4572000"/>
            <a:ext cx="163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050780" y="4901184"/>
            <a:ext cx="1635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02920" y="5349240"/>
            <a:ext cx="11183112" cy="822960"/>
          </a:xfrm>
          <a:prstGeom prst="roundRect">
            <a:avLst>
              <a:gd name="adj" fmla="val 6667"/>
            </a:avLst>
          </a:prstGeom>
          <a:solidFill>
            <a:srgbClr val="FFF7E9"/>
          </a:solidFill>
          <a:ln w="12700">
            <a:solidFill>
              <a:srgbClr val="F3D9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77240" y="53492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mấu chốt:  </a:t>
            </a:r>
            <a:r>
              <a:rPr lang="en-US" sz="1300" dirty="0">
                <a:solidFill>
                  <a:srgbClr val="5A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là công cụ xuyên suốt: viết tiện ích hỗ trợ mọi khâu của pipeline (health-check, CI helper…).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Automation — Jenkins · Ansible · Config as Code · Golang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47120" y="64465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481328"/>
            <a:ext cx="12191695" cy="54864"/>
          </a:xfrm>
          <a:prstGeom prst="rect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896112" cy="896112"/>
          </a:xfrm>
          <a:prstGeom prst="roundRect">
            <a:avLst>
              <a:gd name="adj" fmla="val 8163"/>
            </a:avLst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292608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572768" y="34747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  ·  Giải thích chi tiết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554480" y="621792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Golang để viết DevOps tool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3931920" cy="425196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76200" dist="25400" dir="5400000" algn="bl" rotWithShape="0">
              <a:srgbClr val="AAB4C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8952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Go hợp DevOps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8952" y="2404872"/>
            <a:ext cx="345643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500"/>
              </a:spcBef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tĩnh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1 file là chạy — không lo thiếu thư viện.</a:t>
            </a:r>
            <a:endParaRPr lang="en-US" sz="12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Cross-compile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GOOS/GOARCH build cho Linux/Windows/macOS từ 1 máy.</a:t>
            </a:r>
            <a:endParaRPr lang="en-US" sz="12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goroutine gọi nhiều I/O song song rất gọn.</a:t>
            </a:r>
            <a:endParaRPr lang="en-US" sz="12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tường minh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error rõ ràng → tool dễ đoán, dễ debug.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0" y="1783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vs cobra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2286000"/>
          <a:ext cx="3566160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(chuẩn)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cần cài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Thư viện ngoài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1 lệnh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Nhiều subcommand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Nhỏ gọn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kubectl-style CLI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4572000" y="382219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Cross-compile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0" y="4114800"/>
            <a:ext cx="7132320" cy="1920240"/>
          </a:xfrm>
          <a:prstGeom prst="roundRect">
            <a:avLst>
              <a:gd name="adj" fmla="val 2857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718304" y="4224528"/>
            <a:ext cx="683971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GOOS=linux   GOARCH=amd64 go build -o hc</a:t>
            </a: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GOOS=windows GOARCH=amd64 go build -o hc.exe</a:t>
            </a: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GOOS=darwin  GOARCH=arm64 go build -o hc-mac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Automation — Jenkins · Ansible · Config as Code · Golang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47120" y="64465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481328"/>
            <a:ext cx="12191695" cy="54864"/>
          </a:xfrm>
          <a:prstGeom prst="rect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896112" cy="896112"/>
          </a:xfrm>
          <a:prstGeom prst="roundRect">
            <a:avLst>
              <a:gd name="adj" fmla="val 8163"/>
            </a:avLst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292608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572768" y="34747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  ·  Cách làm — Thực hành (Lab)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554480" y="621792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Golang để viết DevOps tool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553212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76200" dist="25400" dir="5400000" algn="bl" rotWithShape="0">
              <a:srgbClr val="AAB4C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8952" y="19476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bước thực hiện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95728"/>
            <a:ext cx="49377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mod init healthcheck.</a:t>
            </a:r>
            <a:endParaRPr lang="en-US" sz="1250" dirty="0"/>
          </a:p>
          <a:p>
            <a:pPr marL="254000" indent="-2540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CLI: nhận -urls, gọi HTTP GET có timeout.</a:t>
            </a:r>
            <a:endParaRPr lang="en-US" sz="1250" dirty="0"/>
          </a:p>
          <a:p>
            <a:pPr marL="254000" indent="-2540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goroutine + WaitGroup gọi song song.</a:t>
            </a:r>
            <a:endParaRPr lang="en-US" sz="1250" dirty="0"/>
          </a:p>
          <a:p>
            <a:pPr marL="254000" indent="-2540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trạng thái từng URL; exit code ≠ 0 nếu có service down.</a:t>
            </a:r>
            <a:endParaRPr lang="en-US" sz="1250" dirty="0"/>
          </a:p>
          <a:p>
            <a:pPr marL="254000" indent="-2540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build; cross-compile Linux/Windows; đóng gói vào Jenkins.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199632" y="1856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chạy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99632" y="2148840"/>
            <a:ext cx="5486400" cy="2148840"/>
          </a:xfrm>
          <a:prstGeom prst="roundRect">
            <a:avLst>
              <a:gd name="adj" fmla="val 2553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45936" y="2258568"/>
            <a:ext cx="5193792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mod init healthcheck</a:t>
            </a: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build -o healthcheck</a:t>
            </a: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./healthcheck -urls=https://a,https://b</a:t>
            </a: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GOOS=linux GOARCH=amd64 \</a:t>
            </a:r>
            <a:endParaRPr lang="en-US" sz="10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go build -o healthcheck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99632" y="4480560"/>
            <a:ext cx="5486400" cy="987552"/>
          </a:xfrm>
          <a:prstGeom prst="roundRect">
            <a:avLst>
              <a:gd name="adj" fmla="val 5556"/>
            </a:avLst>
          </a:prstGeom>
          <a:solidFill>
            <a:srgbClr val="EAF6EE"/>
          </a:solidFill>
          <a:ln w="12700">
            <a:solidFill>
              <a:srgbClr val="BFE3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4480560"/>
            <a:ext cx="5074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kỳ vọng:  </a:t>
            </a:r>
            <a:r>
              <a:rPr lang="en-US" sz="1200" dirty="0">
                <a:solidFill>
                  <a:srgbClr val="225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in trạng thái OK/lỗi từng URL; trả exit code để Jenkins biết pass/fail.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623560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56235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</a:t>
            </a:r>
            <a:r>
              <a:rPr lang="en-US" sz="11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Nhờ AI sinh boilerplate CLI, rồi tự bổ sung xử lý error/timeout/exit code.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99632" y="5623560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F3F5FA"/>
          </a:solidFill>
          <a:ln w="12700">
            <a:solidFill>
              <a:srgbClr val="E2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28232" y="56235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VỀ NHÀ  </a:t>
            </a: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1 subcommand mới (vd: version, check-tcp).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Automation — Jenkins · Ansible · Config as Code · Golang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465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685800"/>
            <a:ext cx="256032" cy="128016"/>
          </a:xfrm>
          <a:prstGeom prst="rect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585216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KẾT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pipeline hoàn chỉnh — do bạn dựng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1635252" cy="749808"/>
          </a:xfrm>
          <a:prstGeom prst="roundRect">
            <a:avLst>
              <a:gd name="adj" fmla="val 8537"/>
            </a:avLst>
          </a:prstGeom>
          <a:solidFill>
            <a:srgbClr val="FCA311"/>
          </a:solidFill>
          <a:ln w="12700">
            <a:solidFill>
              <a:srgbClr val="B97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2075688"/>
            <a:ext cx="163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404872"/>
            <a:ext cx="1635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42744" y="2194560"/>
            <a:ext cx="256032" cy="292608"/>
          </a:xfrm>
          <a:prstGeom prst="chevron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12492" y="1965960"/>
            <a:ext cx="1635252" cy="749808"/>
          </a:xfrm>
          <a:prstGeom prst="roundRect">
            <a:avLst>
              <a:gd name="adj" fmla="val 8537"/>
            </a:avLst>
          </a:prstGeom>
          <a:solidFill>
            <a:srgbClr val="FCA311"/>
          </a:solidFill>
          <a:ln w="12700">
            <a:solidFill>
              <a:srgbClr val="B97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12492" y="2075688"/>
            <a:ext cx="163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12492" y="2404872"/>
            <a:ext cx="1635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052316" y="2194560"/>
            <a:ext cx="256032" cy="292608"/>
          </a:xfrm>
          <a:prstGeom prst="chevron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22064" y="1965960"/>
            <a:ext cx="1635252" cy="749808"/>
          </a:xfrm>
          <a:prstGeom prst="roundRect">
            <a:avLst>
              <a:gd name="adj" fmla="val 8537"/>
            </a:avLst>
          </a:prstGeom>
          <a:solidFill>
            <a:srgbClr val="FCA311"/>
          </a:solidFill>
          <a:ln w="12700">
            <a:solidFill>
              <a:srgbClr val="B97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22064" y="2075688"/>
            <a:ext cx="163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22064" y="2404872"/>
            <a:ext cx="1635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61888" y="2194560"/>
            <a:ext cx="256032" cy="292608"/>
          </a:xfrm>
          <a:prstGeom prst="chevron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31636" y="1965960"/>
            <a:ext cx="1635252" cy="749808"/>
          </a:xfrm>
          <a:prstGeom prst="roundRect">
            <a:avLst>
              <a:gd name="adj" fmla="val 8537"/>
            </a:avLst>
          </a:prstGeom>
          <a:solidFill>
            <a:srgbClr val="FCA311"/>
          </a:solidFill>
          <a:ln w="12700">
            <a:solidFill>
              <a:srgbClr val="B97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31636" y="2075688"/>
            <a:ext cx="163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31636" y="2404872"/>
            <a:ext cx="1635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871460" y="2194560"/>
            <a:ext cx="256032" cy="292608"/>
          </a:xfrm>
          <a:prstGeom prst="chevron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141208" y="1965960"/>
            <a:ext cx="1635252" cy="749808"/>
          </a:xfrm>
          <a:prstGeom prst="roundRect">
            <a:avLst>
              <a:gd name="adj" fmla="val 8537"/>
            </a:avLst>
          </a:prstGeom>
          <a:solidFill>
            <a:srgbClr val="FCA311"/>
          </a:solidFill>
          <a:ln w="12700">
            <a:solidFill>
              <a:srgbClr val="B97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141208" y="2075688"/>
            <a:ext cx="163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41208" y="2404872"/>
            <a:ext cx="1635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781032" y="2194560"/>
            <a:ext cx="256032" cy="292608"/>
          </a:xfrm>
          <a:prstGeom prst="chevron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050780" y="1965960"/>
            <a:ext cx="1635252" cy="749808"/>
          </a:xfrm>
          <a:prstGeom prst="roundRect">
            <a:avLst>
              <a:gd name="adj" fmla="val 8537"/>
            </a:avLst>
          </a:prstGeom>
          <a:solidFill>
            <a:srgbClr val="FCA311"/>
          </a:solidFill>
          <a:ln w="12700">
            <a:solidFill>
              <a:srgbClr val="B97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050780" y="2075688"/>
            <a:ext cx="163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0780" y="2404872"/>
            <a:ext cx="1635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3108960"/>
            <a:ext cx="2606040" cy="1600200"/>
          </a:xfrm>
          <a:prstGeom prst="roundRect">
            <a:avLst>
              <a:gd name="adj" fmla="val 5143"/>
            </a:avLst>
          </a:prstGeom>
          <a:solidFill>
            <a:srgbClr val="20335E"/>
          </a:solidFill>
          <a:ln w="12700">
            <a:solidFill>
              <a:srgbClr val="3147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22960" y="32918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22960" y="367588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(S1–S2)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22960" y="409651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9C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&amp; Pipeline as Code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538728" y="3108960"/>
            <a:ext cx="2606040" cy="1600200"/>
          </a:xfrm>
          <a:prstGeom prst="roundRect">
            <a:avLst>
              <a:gd name="adj" fmla="val 5143"/>
            </a:avLst>
          </a:prstGeom>
          <a:solidFill>
            <a:srgbClr val="20335E"/>
          </a:solidFill>
          <a:ln w="12700">
            <a:solidFill>
              <a:srgbClr val="3147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813048" y="32918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3813048" y="367588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(S3)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813048" y="409651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9C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Management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528816" y="3108960"/>
            <a:ext cx="2606040" cy="1600200"/>
          </a:xfrm>
          <a:prstGeom prst="roundRect">
            <a:avLst>
              <a:gd name="adj" fmla="val 5143"/>
            </a:avLst>
          </a:prstGeom>
          <a:solidFill>
            <a:srgbClr val="20335E"/>
          </a:solidFill>
          <a:ln w="12700">
            <a:solidFill>
              <a:srgbClr val="3147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803136" y="32918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803136" y="367588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as Code (S4)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803136" y="409651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9C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toàn cảnh &amp; GitOps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518904" y="3108960"/>
            <a:ext cx="2606040" cy="1600200"/>
          </a:xfrm>
          <a:prstGeom prst="roundRect">
            <a:avLst>
              <a:gd name="adj" fmla="val 5143"/>
            </a:avLst>
          </a:prstGeom>
          <a:solidFill>
            <a:srgbClr val="20335E"/>
          </a:solidFill>
          <a:ln w="12700">
            <a:solidFill>
              <a:srgbClr val="3147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793224" y="32918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9793224" y="367588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Golang (S5)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793224" y="409651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9C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viết DevOps tool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48640" y="4983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E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Xuyên suốt: dùng AI để tăng tốc — sinh Jenkinsfile, inventory, Terraform, Go boilerplate rồi review &amp; tinh chỉnh.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Automation — Jenkins · Ansible · Config as Code · Golang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247120" y="64465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0" name="Text 8">
            <a:extLst>
              <a:ext uri="{FF2B5EF4-FFF2-40B4-BE49-F238E27FC236}">
                <a16:creationId xmlns:a16="http://schemas.microsoft.com/office/drawing/2014/main" id="{CD368514-60F6-5AE1-3EC8-9C58065147A1}"/>
              </a:ext>
            </a:extLst>
          </p:cNvPr>
          <p:cNvSpPr/>
          <p:nvPr/>
        </p:nvSpPr>
        <p:spPr>
          <a:xfrm>
            <a:off x="502920" y="558698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Liên </a:t>
            </a:r>
            <a:r>
              <a:rPr lang="en-US" sz="1500" b="1" dirty="0" err="1">
                <a:solidFill>
                  <a:srgbClr val="34D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</a:t>
            </a:r>
            <a:r>
              <a:rPr lang="en-US" sz="1500" b="1" dirty="0">
                <a:solidFill>
                  <a:srgbClr val="34D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info@smaclink.vn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3028</Words>
  <Application>Microsoft Office PowerPoint</Application>
  <PresentationFormat>Widescreen</PresentationFormat>
  <Paragraphs>527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Colin Hoang</cp:lastModifiedBy>
  <cp:revision>2</cp:revision>
  <dcterms:created xsi:type="dcterms:W3CDTF">2026-07-13T03:24:15Z</dcterms:created>
  <dcterms:modified xsi:type="dcterms:W3CDTF">2026-07-29T04:10:11Z</dcterms:modified>
</cp:coreProperties>
</file>