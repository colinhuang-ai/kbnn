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A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3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in Hoang" userId="02aee87d5f5f4acf" providerId="LiveId" clId="{E4EDE063-AEAF-4AF1-9BCF-D49211A3DBD4}"/>
    <pc:docChg chg="undo custSel modSld">
      <pc:chgData name="Colin Hoang" userId="02aee87d5f5f4acf" providerId="LiveId" clId="{E4EDE063-AEAF-4AF1-9BCF-D49211A3DBD4}" dt="2026-07-29T07:44:16.519" v="230" actId="20577"/>
      <pc:docMkLst>
        <pc:docMk/>
      </pc:docMkLst>
      <pc:sldChg chg="addSp delSp modSp mod">
        <pc:chgData name="Colin Hoang" userId="02aee87d5f5f4acf" providerId="LiveId" clId="{E4EDE063-AEAF-4AF1-9BCF-D49211A3DBD4}" dt="2026-07-29T07:44:16.519" v="230" actId="20577"/>
        <pc:sldMkLst>
          <pc:docMk/>
          <pc:sldMk cId="0" sldId="259"/>
        </pc:sldMkLst>
        <pc:spChg chg="mod">
          <ac:chgData name="Colin Hoang" userId="02aee87d5f5f4acf" providerId="LiveId" clId="{E4EDE063-AEAF-4AF1-9BCF-D49211A3DBD4}" dt="2026-07-29T05:09:02.265" v="26" actId="14100"/>
          <ac:spMkLst>
            <pc:docMk/>
            <pc:sldMk cId="0" sldId="259"/>
            <ac:spMk id="5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9:25.066" v="30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9:25.066" v="30" actId="1076"/>
          <ac:spMkLst>
            <pc:docMk/>
            <pc:sldMk cId="0" sldId="259"/>
            <ac:spMk id="7" creationId="{00000000-0000-0000-0000-000000000000}"/>
          </ac:spMkLst>
        </pc:spChg>
        <pc:spChg chg="del mod">
          <ac:chgData name="Colin Hoang" userId="02aee87d5f5f4acf" providerId="LiveId" clId="{E4EDE063-AEAF-4AF1-9BCF-D49211A3DBD4}" dt="2026-07-29T05:08:03.142" v="18" actId="478"/>
          <ac:spMkLst>
            <pc:docMk/>
            <pc:sldMk cId="0" sldId="259"/>
            <ac:spMk id="10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9:06.665" v="27" actId="14100"/>
          <ac:spMkLst>
            <pc:docMk/>
            <pc:sldMk cId="0" sldId="259"/>
            <ac:spMk id="11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7:05.428" v="8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9:25.066" v="30" actId="107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7:05.428" v="8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9:25.066" v="30" actId="1076"/>
          <ac:spMkLst>
            <pc:docMk/>
            <pc:sldMk cId="0" sldId="259"/>
            <ac:spMk id="15" creationId="{00000000-0000-0000-0000-000000000000}"/>
          </ac:spMkLst>
        </pc:spChg>
        <pc:spChg chg="del">
          <ac:chgData name="Colin Hoang" userId="02aee87d5f5f4acf" providerId="LiveId" clId="{E4EDE063-AEAF-4AF1-9BCF-D49211A3DBD4}" dt="2026-07-29T05:07:55.765" v="16" actId="478"/>
          <ac:spMkLst>
            <pc:docMk/>
            <pc:sldMk cId="0" sldId="259"/>
            <ac:spMk id="16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9:10.086" v="28" actId="14100"/>
          <ac:spMkLst>
            <pc:docMk/>
            <pc:sldMk cId="0" sldId="259"/>
            <ac:spMk id="17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9:25.066" v="30" actId="1076"/>
          <ac:spMkLst>
            <pc:docMk/>
            <pc:sldMk cId="0" sldId="259"/>
            <ac:spMk id="18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7:17.134" v="9" actId="1076"/>
          <ac:spMkLst>
            <pc:docMk/>
            <pc:sldMk cId="0" sldId="259"/>
            <ac:spMk id="19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9:25.066" v="30" actId="107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9:25.066" v="30" actId="1076"/>
          <ac:spMkLst>
            <pc:docMk/>
            <pc:sldMk cId="0" sldId="259"/>
            <ac:spMk id="21" creationId="{00000000-0000-0000-0000-000000000000}"/>
          </ac:spMkLst>
        </pc:spChg>
        <pc:spChg chg="del mod">
          <ac:chgData name="Colin Hoang" userId="02aee87d5f5f4acf" providerId="LiveId" clId="{E4EDE063-AEAF-4AF1-9BCF-D49211A3DBD4}" dt="2026-07-29T05:08:24.607" v="20" actId="478"/>
          <ac:spMkLst>
            <pc:docMk/>
            <pc:sldMk cId="0" sldId="259"/>
            <ac:spMk id="22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9:13.300" v="29" actId="14100"/>
          <ac:spMkLst>
            <pc:docMk/>
            <pc:sldMk cId="0" sldId="259"/>
            <ac:spMk id="23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7:25.884" v="10" actId="1076"/>
          <ac:spMkLst>
            <pc:docMk/>
            <pc:sldMk cId="0" sldId="259"/>
            <ac:spMk id="24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9:25.066" v="30" actId="1076"/>
          <ac:spMkLst>
            <pc:docMk/>
            <pc:sldMk cId="0" sldId="259"/>
            <ac:spMk id="25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9:25.066" v="30" actId="107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Colin Hoang" userId="02aee87d5f5f4acf" providerId="LiveId" clId="{E4EDE063-AEAF-4AF1-9BCF-D49211A3DBD4}" dt="2026-07-29T05:09:25.066" v="30" actId="1076"/>
          <ac:spMkLst>
            <pc:docMk/>
            <pc:sldMk cId="0" sldId="259"/>
            <ac:spMk id="27" creationId="{00000000-0000-0000-0000-000000000000}"/>
          </ac:spMkLst>
        </pc:spChg>
        <pc:spChg chg="del mod">
          <ac:chgData name="Colin Hoang" userId="02aee87d5f5f4acf" providerId="LiveId" clId="{E4EDE063-AEAF-4AF1-9BCF-D49211A3DBD4}" dt="2026-07-29T05:07:58.581" v="17" actId="478"/>
          <ac:spMkLst>
            <pc:docMk/>
            <pc:sldMk cId="0" sldId="259"/>
            <ac:spMk id="28" creationId="{00000000-0000-0000-0000-000000000000}"/>
          </ac:spMkLst>
        </pc:spChg>
        <pc:spChg chg="mod">
          <ac:chgData name="Colin Hoang" userId="02aee87d5f5f4acf" providerId="LiveId" clId="{E4EDE063-AEAF-4AF1-9BCF-D49211A3DBD4}" dt="2026-07-29T07:43:30.457" v="145" actId="1035"/>
          <ac:spMkLst>
            <pc:docMk/>
            <pc:sldMk cId="0" sldId="259"/>
            <ac:spMk id="29" creationId="{00000000-0000-0000-0000-000000000000}"/>
          </ac:spMkLst>
        </pc:spChg>
        <pc:spChg chg="mod">
          <ac:chgData name="Colin Hoang" userId="02aee87d5f5f4acf" providerId="LiveId" clId="{E4EDE063-AEAF-4AF1-9BCF-D49211A3DBD4}" dt="2026-07-29T07:43:30.457" v="145" actId="1035"/>
          <ac:spMkLst>
            <pc:docMk/>
            <pc:sldMk cId="0" sldId="259"/>
            <ac:spMk id="30" creationId="{00000000-0000-0000-0000-000000000000}"/>
          </ac:spMkLst>
        </pc:spChg>
        <pc:spChg chg="mod">
          <ac:chgData name="Colin Hoang" userId="02aee87d5f5f4acf" providerId="LiveId" clId="{E4EDE063-AEAF-4AF1-9BCF-D49211A3DBD4}" dt="2026-07-29T07:43:50.934" v="173" actId="1037"/>
          <ac:spMkLst>
            <pc:docMk/>
            <pc:sldMk cId="0" sldId="259"/>
            <ac:spMk id="31" creationId="{00000000-0000-0000-0000-000000000000}"/>
          </ac:spMkLst>
        </pc:spChg>
        <pc:spChg chg="mod">
          <ac:chgData name="Colin Hoang" userId="02aee87d5f5f4acf" providerId="LiveId" clId="{E4EDE063-AEAF-4AF1-9BCF-D49211A3DBD4}" dt="2026-07-29T07:43:30.457" v="145" actId="1035"/>
          <ac:spMkLst>
            <pc:docMk/>
            <pc:sldMk cId="0" sldId="259"/>
            <ac:spMk id="32" creationId="{00000000-0000-0000-0000-000000000000}"/>
          </ac:spMkLst>
        </pc:spChg>
        <pc:spChg chg="mod">
          <ac:chgData name="Colin Hoang" userId="02aee87d5f5f4acf" providerId="LiveId" clId="{E4EDE063-AEAF-4AF1-9BCF-D49211A3DBD4}" dt="2026-07-29T07:43:30.457" v="145" actId="1035"/>
          <ac:spMkLst>
            <pc:docMk/>
            <pc:sldMk cId="0" sldId="259"/>
            <ac:spMk id="33" creationId="{00000000-0000-0000-0000-000000000000}"/>
          </ac:spMkLst>
        </pc:spChg>
        <pc:spChg chg="del">
          <ac:chgData name="Colin Hoang" userId="02aee87d5f5f4acf" providerId="LiveId" clId="{E4EDE063-AEAF-4AF1-9BCF-D49211A3DBD4}" dt="2026-07-29T07:42:08.467" v="86" actId="478"/>
          <ac:spMkLst>
            <pc:docMk/>
            <pc:sldMk cId="0" sldId="259"/>
            <ac:spMk id="34" creationId="{00000000-0000-0000-0000-000000000000}"/>
          </ac:spMkLst>
        </pc:spChg>
        <pc:spChg chg="add del">
          <ac:chgData name="Colin Hoang" userId="02aee87d5f5f4acf" providerId="LiveId" clId="{E4EDE063-AEAF-4AF1-9BCF-D49211A3DBD4}" dt="2026-07-29T05:08:39.115" v="22" actId="22"/>
          <ac:spMkLst>
            <pc:docMk/>
            <pc:sldMk cId="0" sldId="259"/>
            <ac:spMk id="38" creationId="{F7F87CB0-BA49-DDB3-703A-680A647181F4}"/>
          </ac:spMkLst>
        </pc:spChg>
        <pc:spChg chg="add mod">
          <ac:chgData name="Colin Hoang" userId="02aee87d5f5f4acf" providerId="LiveId" clId="{E4EDE063-AEAF-4AF1-9BCF-D49211A3DBD4}" dt="2026-07-29T05:09:48.614" v="32" actId="207"/>
          <ac:spMkLst>
            <pc:docMk/>
            <pc:sldMk cId="0" sldId="259"/>
            <ac:spMk id="40" creationId="{6F80F3BD-7B4E-F571-9936-22702B77E547}"/>
          </ac:spMkLst>
        </pc:spChg>
        <pc:spChg chg="add mod">
          <ac:chgData name="Colin Hoang" userId="02aee87d5f5f4acf" providerId="LiveId" clId="{E4EDE063-AEAF-4AF1-9BCF-D49211A3DBD4}" dt="2026-07-29T05:10:21.899" v="75" actId="20577"/>
          <ac:spMkLst>
            <pc:docMk/>
            <pc:sldMk cId="0" sldId="259"/>
            <ac:spMk id="42" creationId="{4573EF56-17E0-88D9-BD1D-9C90606FB15D}"/>
          </ac:spMkLst>
        </pc:spChg>
        <pc:spChg chg="add del mod">
          <ac:chgData name="Colin Hoang" userId="02aee87d5f5f4acf" providerId="LiveId" clId="{E4EDE063-AEAF-4AF1-9BCF-D49211A3DBD4}" dt="2026-07-29T07:41:34.675" v="79" actId="22"/>
          <ac:spMkLst>
            <pc:docMk/>
            <pc:sldMk cId="0" sldId="259"/>
            <ac:spMk id="44" creationId="{ECC4EEDF-8C03-E879-E458-C888EC0B6F39}"/>
          </ac:spMkLst>
        </pc:spChg>
        <pc:spChg chg="add mod">
          <ac:chgData name="Colin Hoang" userId="02aee87d5f5f4acf" providerId="LiveId" clId="{E4EDE063-AEAF-4AF1-9BCF-D49211A3DBD4}" dt="2026-07-29T07:43:34.580" v="146" actId="14100"/>
          <ac:spMkLst>
            <pc:docMk/>
            <pc:sldMk cId="0" sldId="259"/>
            <ac:spMk id="46" creationId="{B139B795-DB6E-F74B-AC3A-5C4983797085}"/>
          </ac:spMkLst>
        </pc:spChg>
        <pc:spChg chg="add mod">
          <ac:chgData name="Colin Hoang" userId="02aee87d5f5f4acf" providerId="LiveId" clId="{E4EDE063-AEAF-4AF1-9BCF-D49211A3DBD4}" dt="2026-07-29T07:44:16.519" v="230" actId="20577"/>
          <ac:spMkLst>
            <pc:docMk/>
            <pc:sldMk cId="0" sldId="259"/>
            <ac:spMk id="48" creationId="{086127B1-2832-3381-F9D2-5EF73307789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6242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822960"/>
            <a:ext cx="2926080" cy="2926080"/>
          </a:xfrm>
          <a:prstGeom prst="ellipse">
            <a:avLst/>
          </a:prstGeom>
          <a:solidFill>
            <a:srgbClr val="16608A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247120" y="4754880"/>
            <a:ext cx="2377440" cy="2377440"/>
          </a:xfrm>
          <a:prstGeom prst="ellipse">
            <a:avLst/>
          </a:prstGeom>
          <a:solidFill>
            <a:srgbClr val="129C9C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731520" y="5120640"/>
            <a:ext cx="2194560" cy="2194560"/>
          </a:xfrm>
          <a:prstGeom prst="ellipse">
            <a:avLst/>
          </a:prstGeom>
          <a:solidFill>
            <a:srgbClr val="34D1B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8 GIỜ · 5 SESSION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</a:t>
            </a:r>
            <a:endParaRPr lang="en-US" sz="4800" dirty="0"/>
          </a:p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&amp; CI/CD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K8s · Minikube · RBAC · EKS/ECS · Cloud Build · GitHooks &amp; Jenkins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029200"/>
            <a:ext cx="3383280" cy="640080"/>
          </a:xfrm>
          <a:prstGeom prst="roundRect">
            <a:avLst>
              <a:gd name="adj" fmla="val 11429"/>
            </a:avLst>
          </a:prstGeom>
          <a:solidFill>
            <a:srgbClr val="129C9C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50292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→ Intermediate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Mục tiêu học tập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thúc buổi học, học viên có thể: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920240"/>
            <a:ext cx="594360" cy="59436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54480" y="1764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K8s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21031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Giải thích Node, Pod, Service, Deployment, RBAC và vòng đời reconcile.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446520" y="1920240"/>
            <a:ext cx="594360" cy="59436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46520" y="1920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23760" y="1764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thực tế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10312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Cài Minikube, deploy FE + BE có sẵn, cấu hình network giữa 2 tầng.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1752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3337560"/>
            <a:ext cx="594360" cy="59436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" y="3337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54480" y="31821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&amp; RBAC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5204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Viết manifest cho Pod/Deployment/Service và phân quyền truy cập.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01752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46520" y="3337560"/>
            <a:ext cx="594360" cy="59436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46520" y="3337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23760" y="31821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Managed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52044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Phân biệt K8s tự quản vs EKS/ECS/GKE, biết khi nào chọn cái nào.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77240" y="4754880"/>
            <a:ext cx="594360" cy="59436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7240" y="4754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554480" y="45994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Pipeline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49377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luồng GitHooks → Jenkins → build / test / deploy.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17920" y="4434840"/>
            <a:ext cx="5349240" cy="1234440"/>
          </a:xfrm>
          <a:prstGeom prst="roundRect">
            <a:avLst>
              <a:gd name="adj" fmla="val 444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446520" y="4754880"/>
            <a:ext cx="594360" cy="59436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46520" y="4754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223760" y="45994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Ứng dụng AI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4937760"/>
            <a:ext cx="4160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AI sinh manifest, script shell và tăng tốc thao tác.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Chuẩn bị trước buổi học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66928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cho học viên cài đặt sẵn để không mất thời gian setup trong lớp.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Phần cứng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108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RAM ≥ 8GB, ổ trống ≥ 10GB cho image &amp; cluster.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51960" y="16916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26280" y="1965960"/>
            <a:ext cx="640080" cy="64008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2628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Công cụ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526280" y="3108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Desktop, kubectl, Minikube, Git đã cài và chạy được.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55280" y="169164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0" y="1965960"/>
            <a:ext cx="640080" cy="640080"/>
          </a:xfrm>
          <a:prstGeom prst="ellipse">
            <a:avLst/>
          </a:prstGeom>
          <a:solidFill>
            <a:srgbClr val="34D1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29600" y="1965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0" y="27432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0" y="31089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cá nhân để làm phần GitHooks &amp; CI/CD.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400300" y="40690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EAF4F4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674620" y="4343400"/>
            <a:ext cx="640080" cy="64008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67462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74620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 mẫu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674620" y="5486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sẵn source FE (React/Next) + BE (Go) do giảng viên cấp.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03620" y="4069080"/>
            <a:ext cx="3520440" cy="2148840"/>
          </a:xfrm>
          <a:prstGeom prst="roundRect">
            <a:avLst>
              <a:gd name="adj" fmla="val 2553"/>
            </a:avLst>
          </a:prstGeom>
          <a:solidFill>
            <a:srgbClr val="EAF4F4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377940" y="4343400"/>
            <a:ext cx="640080" cy="64008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77940" y="4343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377940" y="512064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(tùy chọn)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377940" y="54864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Tài khoản AWS/GCP free-tier cho demo EKS/ECS/Cloud Build.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914400"/>
            <a:ext cx="2743200" cy="2743200"/>
          </a:xfrm>
          <a:prstGeom prst="ellipse">
            <a:avLst/>
          </a:prstGeom>
          <a:solidFill>
            <a:srgbClr val="16608A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Chương trình · 5 Session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7.5 giờ học + 2×15' nghỉ giải lao = 8 giờ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209040" y="2487168"/>
            <a:ext cx="9487408" cy="557784"/>
          </a:xfrm>
          <a:prstGeom prst="roundRect">
            <a:avLst>
              <a:gd name="adj" fmla="val 5435"/>
            </a:avLst>
          </a:prstGeom>
          <a:solidFill>
            <a:srgbClr val="1A3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73632" y="2496312"/>
            <a:ext cx="548640" cy="54864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3632" y="2496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23440" y="245973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+ Cloud Landscape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123440" y="28072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K8s · EKS/ECS/GKE · Cloud Build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224280" y="3131820"/>
            <a:ext cx="9472168" cy="539496"/>
          </a:xfrm>
          <a:prstGeom prst="roundRect">
            <a:avLst>
              <a:gd name="adj" fmla="val 5435"/>
            </a:avLst>
          </a:prstGeom>
          <a:solidFill>
            <a:srgbClr val="1A3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88872" y="3122676"/>
            <a:ext cx="548640" cy="54864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88872" y="31226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138680" y="30861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Minikube, Pod, Deployment &amp; YAML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138680" y="34335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cluster local · deploy FE/BE · YAML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227328" y="3781044"/>
            <a:ext cx="9469120" cy="566928"/>
          </a:xfrm>
          <a:prstGeom prst="roundRect">
            <a:avLst>
              <a:gd name="adj" fmla="val 5435"/>
            </a:avLst>
          </a:prstGeom>
          <a:solidFill>
            <a:srgbClr val="1A3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391920" y="3808476"/>
            <a:ext cx="548640" cy="54864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391920" y="380847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141728" y="37719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Networking, Multi-env &amp; RBAC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2141728" y="411937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FE↔BE · Namespace Dev/Staging · phân quyền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209040" y="4462272"/>
            <a:ext cx="9469120" cy="530352"/>
          </a:xfrm>
          <a:prstGeom prst="roundRect">
            <a:avLst>
              <a:gd name="adj" fmla="val 5435"/>
            </a:avLst>
          </a:prstGeom>
          <a:solidFill>
            <a:srgbClr val="1A3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373632" y="4462272"/>
            <a:ext cx="548640" cy="54864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373632" y="4462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2123440" y="442569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Deployment + Managed K8s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2086864" y="467258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app 3 replicas + probes · EKS/ECS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227328" y="5971540"/>
            <a:ext cx="9450832" cy="548640"/>
          </a:xfrm>
          <a:prstGeom prst="roundRect">
            <a:avLst>
              <a:gd name="adj" fmla="val 5435"/>
            </a:avLst>
          </a:prstGeom>
          <a:solidFill>
            <a:srgbClr val="1A3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39088" y="5994400"/>
            <a:ext cx="512806" cy="515789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73632" y="5944613"/>
            <a:ext cx="51280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2123440" y="5922942"/>
            <a:ext cx="726475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CI/CD: GitHooks → Jenkins → Deploy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2123440" y="6270414"/>
            <a:ext cx="81194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Jenkins/Docker · Jenkinsfile · AI script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Shape 2">
            <a:extLst>
              <a:ext uri="{FF2B5EF4-FFF2-40B4-BE49-F238E27FC236}">
                <a16:creationId xmlns:a16="http://schemas.microsoft.com/office/drawing/2014/main" id="{6F80F3BD-7B4E-F571-9936-22702B77E547}"/>
              </a:ext>
            </a:extLst>
          </p:cNvPr>
          <p:cNvSpPr/>
          <p:nvPr/>
        </p:nvSpPr>
        <p:spPr>
          <a:xfrm>
            <a:off x="530352" y="1540764"/>
            <a:ext cx="10166096" cy="786384"/>
          </a:xfrm>
          <a:prstGeom prst="roundRect">
            <a:avLst>
              <a:gd name="adj" fmla="val 10465"/>
            </a:avLst>
          </a:prstGeom>
          <a:solidFill>
            <a:srgbClr val="1A3A57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4573EF56-17E0-88D9-BD1D-9C90606FB15D}"/>
              </a:ext>
            </a:extLst>
          </p:cNvPr>
          <p:cNvSpPr/>
          <p:nvPr/>
        </p:nvSpPr>
        <p:spPr>
          <a:xfrm>
            <a:off x="664803" y="1675467"/>
            <a:ext cx="9926045" cy="479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– </a:t>
            </a:r>
            <a:r>
              <a:rPr lang="en-US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Kubenettes</a:t>
            </a: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kubecli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46" name="Shape 2">
            <a:extLst>
              <a:ext uri="{FF2B5EF4-FFF2-40B4-BE49-F238E27FC236}">
                <a16:creationId xmlns:a16="http://schemas.microsoft.com/office/drawing/2014/main" id="{B139B795-DB6E-F74B-AC3A-5C4983797085}"/>
              </a:ext>
            </a:extLst>
          </p:cNvPr>
          <p:cNvSpPr/>
          <p:nvPr/>
        </p:nvSpPr>
        <p:spPr>
          <a:xfrm>
            <a:off x="607568" y="5073988"/>
            <a:ext cx="10166096" cy="786384"/>
          </a:xfrm>
          <a:prstGeom prst="roundRect">
            <a:avLst>
              <a:gd name="adj" fmla="val 10465"/>
            </a:avLst>
          </a:prstGeom>
          <a:solidFill>
            <a:srgbClr val="1A3A57"/>
          </a:solidFill>
          <a:ln w="12700">
            <a:solidFill>
              <a:srgbClr val="EEF4FA"/>
            </a:solidFill>
            <a:prstDash val="solid"/>
          </a:ln>
          <a:effectLst>
            <a:outerShdw blurRad="88900" dist="25400" dir="5400000" algn="bl" rotWithShape="0">
              <a:srgbClr val="16305A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Text 4">
            <a:extLst>
              <a:ext uri="{FF2B5EF4-FFF2-40B4-BE49-F238E27FC236}">
                <a16:creationId xmlns:a16="http://schemas.microsoft.com/office/drawing/2014/main" id="{086127B1-2832-3381-F9D2-5EF733077892}"/>
              </a:ext>
            </a:extLst>
          </p:cNvPr>
          <p:cNvSpPr/>
          <p:nvPr/>
        </p:nvSpPr>
        <p:spPr>
          <a:xfrm>
            <a:off x="612648" y="5248485"/>
            <a:ext cx="9926045" cy="4793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– CI/CD, </a:t>
            </a:r>
            <a:r>
              <a:rPr lang="en-US" sz="24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Githook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937760"/>
            <a:ext cx="2743200" cy="2743200"/>
          </a:xfrm>
          <a:prstGeom prst="ellipse">
            <a:avLst/>
          </a:prstGeom>
          <a:solidFill>
            <a:srgbClr val="16608A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40080"/>
            <a:ext cx="822960" cy="822960"/>
          </a:xfrm>
          <a:prstGeom prst="ellipse">
            <a:avLst/>
          </a:prstGeom>
          <a:solidFill>
            <a:srgbClr val="16608A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658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024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phút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+ Cloud Landscape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Nền tảng container, orchestration và bức tranh cloud để định vị K8s.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&amp; Lab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89120" y="1234440"/>
            <a:ext cx="7269480" cy="1435608"/>
          </a:xfrm>
          <a:prstGeom prst="roundRect">
            <a:avLst>
              <a:gd name="adj" fmla="val 318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39903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399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55' · LT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1353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Kiến trúc K8s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89320" y="1709928"/>
            <a:ext cx="5486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vs Worker Node. Cluster→Node→Pod→Deployment→Service. Mô hình declarative.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2834640"/>
            <a:ext cx="7269480" cy="1435608"/>
          </a:xfrm>
          <a:prstGeom prst="roundRect">
            <a:avLst>
              <a:gd name="adj" fmla="val 318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299923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29992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 · Demo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9535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landscape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989320" y="3310128"/>
            <a:ext cx="5486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· ECS · GKE &amp; Cloud Build. So sánh tự quản vs managed.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4434840"/>
            <a:ext cx="7269480" cy="1435608"/>
          </a:xfrm>
          <a:prstGeom prst="roundRect">
            <a:avLst>
              <a:gd name="adj" fmla="val 318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459943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45994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10' · Lab 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4553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môi trường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989320" y="4910328"/>
            <a:ext cx="5486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tra docker / kubectl / minikube. Xem kubectl get nodes,pods.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cần Kubernetes?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Docker container thủ công không trụ nổi khi hệ thống lớn dần.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949440" cy="676656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2258568"/>
            <a:ext cx="457200" cy="45720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58568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chết → không tự dậy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17320" y="2560320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Phải có người canh và khởi động lại bằng tay.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6949440" cy="676656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3099816"/>
            <a:ext cx="457200" cy="45720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099816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thủ công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417320" y="3401568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Tăng/giảm số bản chạy phải tự làm, không co giãn theo tải.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6949440" cy="676656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" y="3941064"/>
            <a:ext cx="457200" cy="45720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941064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bản mới rủi ro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17320" y="4242816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downtime, khó rollback khi phát hiện lỗi.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672584"/>
            <a:ext cx="6949440" cy="676656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9808" y="4782312"/>
            <a:ext cx="457200" cy="45720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478231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biết đặt ở đâu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417320" y="5084064"/>
            <a:ext cx="5852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Nhiều máy chủ → tự quyết định container chạy trên node nào.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26680" y="2148840"/>
            <a:ext cx="3886200" cy="3246120"/>
          </a:xfrm>
          <a:prstGeom prst="roundRect">
            <a:avLst>
              <a:gd name="adj" fmla="val 2254"/>
            </a:avLst>
          </a:prstGeom>
          <a:solidFill>
            <a:srgbClr val="0F2A43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001000" y="2377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giải quyết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46720" y="288036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hồi phục (self-healing)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scale theo tải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4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phân bổ Pod lên node</a:t>
            </a:r>
            <a:endParaRPr lang="en-US" sz="1450" dirty="0"/>
          </a:p>
          <a:p>
            <a:pPr marL="342900" indent="-342900">
              <a:buSzPct val="100000"/>
              <a:buChar char="✓"/>
            </a:pPr>
            <a:r>
              <a:rPr lang="en-US" sz="14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 không downtime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A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Tư tưởng cốt lõi: bạn khai báo “muốn gì”, Kubernetes lo “làm thế nào” để đạt và giữ trạng thái đó.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Kiến trúc Kubernetes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= Control Plane (bộ não) điều khiển các Worker Node (nơi chạy ứng dụng).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404872"/>
            <a:ext cx="502920" cy="50292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— bộ não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Server — cổng giao tiếp duy nhất của cluster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etcd — cơ sở dữ liệu lưu toàn bộ trạng thái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Scheduler — chọn node phù hợp để đặt Pod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Manager — vòng lặp giữ đúng trạng thái mong muốn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7960" y="2404872"/>
            <a:ext cx="502920" cy="50292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Node — cơ bắp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— agent chạy &amp; giám sát Pod trên node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kube-proxy — định tuyến mạng cho Service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runtime — thực thi container (containerd)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Nơi Pod của bạn thực sự chạy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Declarative &amp; các đối tượng cốt lõi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Ý tưởng trung tâm khiến Kubernetes “tự chữa lành”.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404872"/>
            <a:ext cx="502920" cy="50292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Vòng lặp reconcile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state — trạng thái bạn khai báo trong YAML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state — trạng thái thực tế trong cluster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liên tục SO SÁNH hai trạng thái…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…và tự SỬA chênh lệch (tạo/xóa/thay Pod)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7960" y="2404872"/>
            <a:ext cx="502920" cy="50292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 thống đối tượng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→ Node → Pod → ReplicaSet → Deployment → Service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= đơn vị nhỏ nhất (bọc 1+ container), KHÔNG phải container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quản lý ReplicaSet để giữ đủ số bản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= địa chỉ ổn định để truy cập nhóm Pod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Cloud: tự quản hay managed?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Cùng là K8s, khác nhau ở việc ai vận hành control plane.</a:t>
            </a:r>
            <a:endParaRPr lang="en-US" sz="15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Tự quản (Minikube/kubeadm)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08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Managed (EKS / GKE)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0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plane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Bạn tự cài &amp; vận hành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Nhà cung cấp lo hết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Công sức vận hành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Cao — vá lỗi, nâng cấp tay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Thấp — click là xong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 phí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Rẻ (chỉ trả hạ tầng)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Thêm phí quản lý control plane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Phù hợp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Học, dev, on-premise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Production, team nhỏ ít người ops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25780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A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≠ Kubernetes: orchestration riêng của AWS, đơn giản hơn nhưng khóa vào AWS · Cloud Build: build image từ commit → đẩy lên registry.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6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937760"/>
            <a:ext cx="2743200" cy="2743200"/>
          </a:xfrm>
          <a:prstGeom prst="ellipse">
            <a:avLst/>
          </a:prstGeom>
          <a:solidFill>
            <a:srgbClr val="129C9C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40080"/>
            <a:ext cx="822960" cy="822960"/>
          </a:xfrm>
          <a:prstGeom prst="ellipse">
            <a:avLst/>
          </a:prstGeom>
          <a:solidFill>
            <a:srgbClr val="129C9C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658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024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phút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Minikube, Pod, Deployment &amp; YAML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Bắt tay dựng cluster local và deploy ứng dụng FE + BE đầu tiên.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&amp; Lab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89120" y="1234440"/>
            <a:ext cx="7269480" cy="1035558"/>
          </a:xfrm>
          <a:prstGeom prst="roundRect">
            <a:avLst>
              <a:gd name="adj" fmla="val 441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39903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399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 · LT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1353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cơ bản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89320" y="1709928"/>
            <a:ext cx="54864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apiVersion / kind / metadata / spec. Pod vs Deployment.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2434590"/>
            <a:ext cx="7269480" cy="1035558"/>
          </a:xfrm>
          <a:prstGeom prst="roundRect">
            <a:avLst>
              <a:gd name="adj" fmla="val 441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259918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259918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 · Lab 2.1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55346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cluster local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989320" y="2910078"/>
            <a:ext cx="54864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start tạo Node ảo. kubectl get nodes.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3634740"/>
            <a:ext cx="7269480" cy="1035558"/>
          </a:xfrm>
          <a:prstGeom prst="roundRect">
            <a:avLst>
              <a:gd name="adj" fmla="val 441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379933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37993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 · Lab 2.2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37536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FE &amp; BE bằng Pod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989320" y="4110228"/>
            <a:ext cx="54864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pod-backend.yaml (Go) &amp; pod-frontend.yaml. logs/describe.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0" y="4834890"/>
            <a:ext cx="7269480" cy="1035558"/>
          </a:xfrm>
          <a:prstGeom prst="roundRect">
            <a:avLst>
              <a:gd name="adj" fmla="val 441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0" y="499948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499948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 · Lab 2.3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495376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Chuyển sang Deployment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989320" y="5310378"/>
            <a:ext cx="54864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Pod→Deployment, scale, rollout.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Cấu trúc file YAML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Mọi đối tượng K8s đều mô tả bằng 4 khối giống nhau.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400800" cy="676656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2258568"/>
            <a:ext cx="457200" cy="45720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258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585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apiVersion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17320" y="256032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Phiên bản API dùng để tạo đối tượng (vd: apps/v1).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90088"/>
            <a:ext cx="6400800" cy="676656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3099816"/>
            <a:ext cx="457200" cy="45720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099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09981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417320" y="34015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Loại đối tượng: Pod, Deployment, Service, Role…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831336"/>
            <a:ext cx="6400800" cy="676656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" y="3941064"/>
            <a:ext cx="457200" cy="45720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3941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394106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17320" y="424281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danh: name, labels, namespace.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4672584"/>
            <a:ext cx="6400800" cy="676656"/>
          </a:xfrm>
          <a:prstGeom prst="roundRect">
            <a:avLst>
              <a:gd name="adj" fmla="val 6757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9808" y="4782312"/>
            <a:ext cx="457200" cy="45720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478231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417320" y="508406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 tả trạng thái mong muốn của đối tượng.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78040" y="2148840"/>
            <a:ext cx="4434840" cy="3108960"/>
          </a:xfrm>
          <a:prstGeom prst="roundRect">
            <a:avLst>
              <a:gd name="adj" fmla="val 1765"/>
            </a:avLst>
          </a:prstGeom>
          <a:solidFill>
            <a:srgbClr val="0F2A43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52360" y="2313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deployment.yaml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52360" y="2697480"/>
            <a:ext cx="3886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apiVersion: apps/v1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kind: Deployment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backend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spec: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replicas: 3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spec: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containers: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name: api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image: myapp:1.0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A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YAML? Khai báo được lưu vào Git → review, tái lập chính xác, không “bấm tay” mỗi lần.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 vs Deployment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Gần như luôn dùng Deployment — hiếm khi tạo Pod trần.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404872"/>
            <a:ext cx="502920" cy="502920"/>
          </a:xfrm>
          <a:prstGeom prst="ellipse">
            <a:avLst/>
          </a:prstGeom>
          <a:solidFill>
            <a:srgbClr val="5B6B7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trần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Đơn vị nhỏ nhất, bọc một hoặc vài container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Chết là mất luôn — không ai tạo lại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tự scale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có cơ chế rollout / rollback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7960" y="2404872"/>
            <a:ext cx="502920" cy="50292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Quản lý ReplicaSet để luôn giữ đủ N bản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chết → tự tạo lại (self-healing)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bằng một lệnh / một dòng YAML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 &amp; rollback an toàn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Vòng làm việc với Minikube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cluster local trong một lệnh, mọi thao tác qua kubectl.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400800" cy="882396"/>
          </a:xfrm>
          <a:prstGeom prst="roundRect">
            <a:avLst>
              <a:gd name="adj" fmla="val 5181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2361438"/>
            <a:ext cx="457200" cy="45720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36143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585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minikube start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17320" y="2560320"/>
            <a:ext cx="5303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Tạo node ảo + cấu hình kubeconfig để kubectl trỏ vào.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95828"/>
            <a:ext cx="6400800" cy="882396"/>
          </a:xfrm>
          <a:prstGeom prst="roundRect">
            <a:avLst>
              <a:gd name="adj" fmla="val 5181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3408426"/>
            <a:ext cx="457200" cy="45720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40842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30555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apply -f app.yaml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417320" y="3607308"/>
            <a:ext cx="5303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Gửi trạng thái mong muốn lên cluster.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42816"/>
            <a:ext cx="6400800" cy="882396"/>
          </a:xfrm>
          <a:prstGeom prst="roundRect">
            <a:avLst>
              <a:gd name="adj" fmla="val 5181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" y="4455414"/>
            <a:ext cx="457200" cy="45720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445541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35254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get / logs / describe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17320" y="4654296"/>
            <a:ext cx="5303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sát và debug Pod, Deployment, Service.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89804"/>
            <a:ext cx="6400800" cy="882396"/>
          </a:xfrm>
          <a:prstGeom prst="roundRect">
            <a:avLst>
              <a:gd name="adj" fmla="val 5181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9808" y="5502402"/>
            <a:ext cx="457200" cy="45720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" y="550240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539953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kubectl scale / rollout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417320" y="5701284"/>
            <a:ext cx="5303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Tăng giảm số bản và cập nhật phiên bản.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78040" y="2148840"/>
            <a:ext cx="4434840" cy="3566160"/>
          </a:xfrm>
          <a:prstGeom prst="roundRect">
            <a:avLst>
              <a:gd name="adj" fmla="val 1538"/>
            </a:avLst>
          </a:prstGeom>
          <a:solidFill>
            <a:srgbClr val="0F2A43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52360" y="2313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thao tác thường dùng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52360" y="2697480"/>
            <a:ext cx="3886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minikube start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get nodes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apply -f backend.yaml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get pods -w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logs backend-xxxx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scale deploy/backend \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--replicas=3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rollout status \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deploy/backend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937760"/>
            <a:ext cx="2743200" cy="2743200"/>
          </a:xfrm>
          <a:prstGeom prst="ellipse">
            <a:avLst/>
          </a:prstGeom>
          <a:solidFill>
            <a:srgbClr val="34D1BF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40080"/>
            <a:ext cx="822960" cy="822960"/>
          </a:xfrm>
          <a:prstGeom prst="ellipse">
            <a:avLst/>
          </a:prstGeom>
          <a:solidFill>
            <a:srgbClr val="34D1BF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658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024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phút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Networking, Multi-env &amp; RBAC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FE↔BE, tách môi trường và kiểm soát quyền truy cập.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&amp; Lab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89120" y="1234440"/>
            <a:ext cx="7269480" cy="1435608"/>
          </a:xfrm>
          <a:prstGeom prst="roundRect">
            <a:avLst>
              <a:gd name="adj" fmla="val 318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39903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34D1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399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30' · Lab 3.1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1353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&amp; network FE↔BE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89320" y="1709928"/>
            <a:ext cx="5486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 cho BE, FE gọi qua DNS. Expose FE bằng NodePort.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2834640"/>
            <a:ext cx="7269480" cy="1435608"/>
          </a:xfrm>
          <a:prstGeom prst="roundRect">
            <a:avLst>
              <a:gd name="adj" fmla="val 318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299923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34D1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29992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25' · Lab 3.2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9535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Môi trường Dev &amp; Staging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989320" y="3310128"/>
            <a:ext cx="5486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dev/staging. Deploy cùng app, so sánh.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4434840"/>
            <a:ext cx="7269480" cy="1435608"/>
          </a:xfrm>
          <a:prstGeom prst="roundRect">
            <a:avLst>
              <a:gd name="adj" fmla="val 318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459943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34D1B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45994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 · Lab 3.3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4553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&amp; phân quyền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989320" y="4910328"/>
            <a:ext cx="5486400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Role, RoleBinding, ServiceAccount. kubectl auth can-i.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— điểm truy cập ổn định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tái tạo là đổi IP → cần Service làm địa chỉ cố định.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40080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2400300"/>
            <a:ext cx="457200" cy="45720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585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ClusterIP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17320" y="2560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Truy cập nội bộ trong cluster (mặc định).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73552"/>
            <a:ext cx="640080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3525012"/>
            <a:ext cx="457200" cy="45720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5250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3832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NodePort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417320" y="368503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Mở một cổng trên IP của node để truy cập từ ngoài.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640080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" y="4649724"/>
            <a:ext cx="457200" cy="45720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46497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5079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LoadBalancer / Ingress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17320" y="480974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hành ra Internet, định tuyến theo domain/đường dẫn.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78040" y="2148840"/>
            <a:ext cx="4434840" cy="2788920"/>
          </a:xfrm>
          <a:prstGeom prst="roundRect">
            <a:avLst>
              <a:gd name="adj" fmla="val 2623"/>
            </a:avLst>
          </a:prstGeom>
          <a:solidFill>
            <a:srgbClr val="0F2A43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5236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discovery bằng DNS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52360" y="278892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 không cần biết IP của BE. Nó gọi qua TÊN service: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52360" y="3520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1B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http://backend-svc:8080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452360" y="40690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CoreDNS phân giải tên → IP hiện tại của Service.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A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Vì sao không dùng IP? IP Pod thay đổi liên tục; tên Service thì ổn định suốt vòng đời ứng dụng.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Namespace — tách môi trường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và Staging sống chung một cluster nhưng cô lập nhau.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404872"/>
            <a:ext cx="502920" cy="50292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 mang lại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Cô lập tài nguyên &amp; tên (trùng tên ở 2 namespace vẫn ổn)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Áp resource quota riêng cho từng môi trường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Gắn quyền RBAC theo từng namespace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Dễ dọn dẹp: xóa namespace là xóa sạch môi trường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7960" y="2404872"/>
            <a:ext cx="502920" cy="50292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với cluster riêng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Rẻ hơn: không phải dựng nhiều cluster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Nhanh: tạo môi trường mới chỉ bằng 1 lệnh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Đủ cô lập cho dev/staging trong đa số trường hợp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quan trọng vẫn nên tách cluster riêng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RBAC — ai được làm gì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Nguyên tắc least privilege: chỉ cấp đúng quyền tối thiểu cần thiết.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404872"/>
            <a:ext cx="502920" cy="50292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quyền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— tập quyền trong MỘT namespace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ClusterRole — tập quyền trên TOÀN cluster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Quyền = verbs (get, list, create, delete…) trên resources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349240" cy="27432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7960" y="2404872"/>
            <a:ext cx="502920" cy="50292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Gán quyền cho ai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4709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RoleBinding / ClusterRoleBinding — nối quyền với chủ thể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Chủ thể: User (người) hoặc ServiceAccount (ứng dụng)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Kiểm chứng nhanh: kubectl auth can-i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0F2A43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239512"/>
            <a:ext cx="105156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auth can-i create deploy -n staging --as=dev-user   →  no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kubectl auth can-i list pods     -n dev     --as=dev-user   →  yes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937760"/>
            <a:ext cx="2743200" cy="2743200"/>
          </a:xfrm>
          <a:prstGeom prst="ellipse">
            <a:avLst/>
          </a:prstGeom>
          <a:solidFill>
            <a:srgbClr val="16608A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40080"/>
            <a:ext cx="822960" cy="822960"/>
          </a:xfrm>
          <a:prstGeom prst="ellipse">
            <a:avLst/>
          </a:prstGeom>
          <a:solidFill>
            <a:srgbClr val="16608A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658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024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phút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Deployment + Managed K8s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Dùng AI sinh deployment chuẩn production và mở rộng ra cloud.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&amp; Lab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89120" y="1234440"/>
            <a:ext cx="7269480" cy="2235708"/>
          </a:xfrm>
          <a:prstGeom prst="roundRect">
            <a:avLst>
              <a:gd name="adj" fmla="val 204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39903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399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40' · Lab 4.1 ⭐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1353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Deployment cho app Go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89320" y="1709928"/>
            <a:ext cx="5486400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replicas 3, livenessProbe /healthz, readinessProbe /ready. Test self-healing.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3634740"/>
            <a:ext cx="7269480" cy="2235708"/>
          </a:xfrm>
          <a:prstGeom prst="roundRect">
            <a:avLst>
              <a:gd name="adj" fmla="val 204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379933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37993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50' · Demo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37536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K8s: EKS / ECS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989320" y="4110228"/>
            <a:ext cx="5486400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vs Minikube. ECS task definition. Cloud Build/GKE: commit → deploy.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 chuẩn production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replicas để có sẵn sàng cao, chịu tải và cập nhật không downtime.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40080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2400300"/>
            <a:ext cx="457200" cy="45720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585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(HA)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17320" y="25603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Một replica chết, các replica còn lại vẫn phục vụ.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73552"/>
            <a:ext cx="640080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3525012"/>
            <a:ext cx="457200" cy="45720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5250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383280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Chịu tải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417320" y="3685032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chia traffic đều ra nhiều Pod.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398264"/>
            <a:ext cx="640080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" y="4649724"/>
            <a:ext cx="457200" cy="45720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46497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50799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update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17320" y="4809744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từng Pod một, luôn giữ đủ Pod sống → 0 downtime.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178040" y="2148840"/>
            <a:ext cx="4434840" cy="2788920"/>
          </a:xfrm>
          <a:prstGeom prst="roundRect">
            <a:avLst>
              <a:gd name="adj" fmla="val 1967"/>
            </a:avLst>
          </a:prstGeom>
          <a:solidFill>
            <a:srgbClr val="0F2A43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52360" y="231343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chiến lược rolling update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52360" y="2697480"/>
            <a:ext cx="3886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RollingUpdate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rollingUpdate: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maxUnavailable: 1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maxSurge: 1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A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55321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maxUnavailable / maxSurge = cách bạn đánh đổi giữa tốc độ deploy và khả năng phục vụ trong lúc cập nhật.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livenessProbe vs readinessProbe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 probe khác mục đích hoàn toàn — cấu hình nhầm là hỏng hệ thống.</a:t>
            </a:r>
            <a:endParaRPr lang="en-US" sz="155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402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C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livenessProbe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C9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readinessProbe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9C9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Câu hỏi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Container còn SỐNG không?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Đã SẴN SÀNG nhận traffic chưa?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Khi FAIL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K8s restart lại container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Gỡ Pod khỏi Service (không nhận request)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khi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treo / deadlock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đang khởi động hoặc quá tải tạm thời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A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 ví dụ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/healthz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/ready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9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539496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A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22960" y="53949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 lầm phổ biến: liveness quá gắt → Pod bị restart liên tục; thiếu readiness → traffic vào Pod chưa sẵn sàng gây lỗi 5xx.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Resources &amp; Managed K8s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Khai báo tài nguyên đúng, rồi mang deployment lên cloud thật.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404872"/>
            <a:ext cx="502920" cy="50292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&amp; limits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— tài nguyên tối thiểu, dùng để scheduler chọn node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— trần tối đa cho phép dùng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CPU limit → bị throttle (chậm lại)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Vượt RAM limit → bị OOMKill (giết container)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349240" cy="4023360"/>
          </a:xfrm>
          <a:prstGeom prst="roundRect">
            <a:avLst>
              <a:gd name="adj" fmla="val 1364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7960" y="2404872"/>
            <a:ext cx="502920" cy="50292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Đưa lên cloud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47091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 — AWS quản control plane, bạn chỉ lo workload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ECS — orchestration riêng của AWS (không phải K8s)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Build / GKE — build image từ commit → registry → deploy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Lưu ý: luôn REVIEW manifest do AI sinh trước khi apply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0F2A4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4937760"/>
            <a:ext cx="2743200" cy="2743200"/>
          </a:xfrm>
          <a:prstGeom prst="ellipse">
            <a:avLst/>
          </a:prstGeom>
          <a:solidFill>
            <a:srgbClr val="129C9C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640080"/>
            <a:ext cx="822960" cy="822960"/>
          </a:xfrm>
          <a:prstGeom prst="ellipse">
            <a:avLst/>
          </a:prstGeom>
          <a:solidFill>
            <a:srgbClr val="129C9C"/>
          </a:solidFill>
          <a:ln w="25400">
            <a:solidFill>
              <a:srgbClr val="FFFFFF"/>
            </a:solidFill>
            <a:prstDash val="solid"/>
          </a:ln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6400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508760" y="6583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0241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EC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phút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CI/CD: GitHooks → Jenkins → Deploy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FE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Khép vòng: mỗi commit tự động build, test và deploy lên cluster.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89120" y="548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Nội dung &amp; Lab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389120" y="1234440"/>
            <a:ext cx="7269480" cy="1035558"/>
          </a:xfrm>
          <a:prstGeom prst="roundRect">
            <a:avLst>
              <a:gd name="adj" fmla="val 441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39903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3990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15' · LT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89320" y="1353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GitHooks &amp; luồng CI/CD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989320" y="1709928"/>
            <a:ext cx="54864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/ post-receive. commit → hook → Jenkins → deploy.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89120" y="2434590"/>
            <a:ext cx="7269480" cy="1035558"/>
          </a:xfrm>
          <a:prstGeom prst="roundRect">
            <a:avLst>
              <a:gd name="adj" fmla="val 441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0" y="259918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259918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 · Lab 5.1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255346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Dựng Jenkins bằng Docker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989320" y="2910078"/>
            <a:ext cx="54864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jenkins/jenkins:lts, cài plugin.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389120" y="3634740"/>
            <a:ext cx="7269480" cy="1035558"/>
          </a:xfrm>
          <a:prstGeom prst="roundRect">
            <a:avLst>
              <a:gd name="adj" fmla="val 441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572000" y="379933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0" y="379933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20' · Lab 5.2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89320" y="37536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nối Git ↔ Jenkins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989320" y="4110228"/>
            <a:ext cx="54864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Webhook/GitHook để commit trigger job.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389120" y="4834890"/>
            <a:ext cx="7269480" cy="1035558"/>
          </a:xfrm>
          <a:prstGeom prst="roundRect">
            <a:avLst>
              <a:gd name="adj" fmla="val 441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572000" y="4999482"/>
            <a:ext cx="1280160" cy="384048"/>
          </a:xfrm>
          <a:prstGeom prst="roundRect">
            <a:avLst>
              <a:gd name="adj" fmla="val 11905"/>
            </a:avLst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72000" y="499948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35' · Lab 5.3+5.4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989320" y="495376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 &amp; AI script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5989320" y="5310378"/>
            <a:ext cx="5486400" cy="48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Build→Test→Deploy. AI viết shell auto-trigger.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Vì sao cần CI/CD?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tay thì chậm, dễ lỗi và không lặp lại được.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404872"/>
            <a:ext cx="502920" cy="50292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6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— Continuous Integration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68680" y="3108960"/>
            <a:ext cx="4709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Mỗi commit tự động build + chạy test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Phát hiện lỗi sớm, ngay khi vừa gộp code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Giữ nhánh chính luôn ở trạng thái “chạy được”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63640" y="2148840"/>
            <a:ext cx="5349240" cy="3108960"/>
          </a:xfrm>
          <a:prstGeom prst="roundRect">
            <a:avLst>
              <a:gd name="adj" fmla="val 1765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37960" y="2404872"/>
            <a:ext cx="502920" cy="502920"/>
          </a:xfrm>
          <a:prstGeom prst="ellipse">
            <a:avLst/>
          </a:prstGeom>
          <a:solidFill>
            <a:srgbClr val="129C9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37960" y="24048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2404872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9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— Continuous Delivery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470916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Tự động đưa bản build ĐÃ test đi deploy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nhanh, nhất quán giữa các môi trường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Giảm rủi ro con người khi lên production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EAF6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54406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5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trả lời “code có chạy được không?”, CD trả lời “đưa nó tới tay người dùng thế nào?”.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GitHooks &amp; luồng tự động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Sự kiện Git là “ngòi nổ” kích hoạt cả pipeline.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400800" cy="882396"/>
          </a:xfrm>
          <a:prstGeom prst="roundRect">
            <a:avLst>
              <a:gd name="adj" fmla="val 5181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2361438"/>
            <a:ext cx="457200" cy="45720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236143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258568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417320" y="2560320"/>
            <a:ext cx="5303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trước khi commit: lint, format, check nhanh.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195828"/>
            <a:ext cx="6400800" cy="882396"/>
          </a:xfrm>
          <a:prstGeom prst="roundRect">
            <a:avLst>
              <a:gd name="adj" fmla="val 5181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3408426"/>
            <a:ext cx="457200" cy="45720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340842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17320" y="330555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commit-msg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417320" y="3607308"/>
            <a:ext cx="5303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hoá / kiểm tra nội dung commit message.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42816"/>
            <a:ext cx="6400800" cy="882396"/>
          </a:xfrm>
          <a:prstGeom prst="roundRect">
            <a:avLst>
              <a:gd name="adj" fmla="val 5181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" y="4455414"/>
            <a:ext cx="457200" cy="45720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9808" y="445541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17320" y="4352544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pre-push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1417320" y="4654296"/>
            <a:ext cx="5303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Chạy test trước khi push lên remote.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289804"/>
            <a:ext cx="6400800" cy="882396"/>
          </a:xfrm>
          <a:prstGeom prst="roundRect">
            <a:avLst>
              <a:gd name="adj" fmla="val 5181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49808" y="5502402"/>
            <a:ext cx="457200" cy="45720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49808" y="550240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17320" y="5399532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post-receive (server)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417320" y="5701284"/>
            <a:ext cx="530352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Nhận code trên server → trigger deploy.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178040" y="2148840"/>
            <a:ext cx="4434840" cy="3108960"/>
          </a:xfrm>
          <a:prstGeom prst="roundRect">
            <a:avLst>
              <a:gd name="adj" fmla="val 2353"/>
            </a:avLst>
          </a:prstGeom>
          <a:solidFill>
            <a:srgbClr val="0F2A43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452360" y="23774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Luồng tổng thể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2834640"/>
            <a:ext cx="3931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4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commit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4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hook / webhook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4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Jenkins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4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build</a:t>
            </a:r>
            <a:endParaRPr lang="en-US" sz="15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E4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unit test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E4EE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deploy lên K8s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737360" cy="384048"/>
          </a:xfrm>
          <a:prstGeom prst="roundRect">
            <a:avLst>
              <a:gd name="adj" fmla="val 23810"/>
            </a:avLst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30352" y="91440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Jenkinsfile — Pipeline as Code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928" y="1572768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Định nghĩa pipeline bằng file nằm trong repo, versioned cùng code.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6400800" cy="3657600"/>
          </a:xfrm>
          <a:prstGeom prst="roundRect">
            <a:avLst>
              <a:gd name="adj" fmla="val 1500"/>
            </a:avLst>
          </a:prstGeom>
          <a:solidFill>
            <a:srgbClr val="0F2A43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3134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Jenkinsfile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97480"/>
            <a:ext cx="585216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 any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stages 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stage('Build')  { steps { sh 'go build' } 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stage('Test')   { steps { sh 'go test ./...' } 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stage('Deploy') {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steps { sh 'kubectl apply -f k8s/' 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25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6E5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178040" y="2148840"/>
            <a:ext cx="443484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379208" y="2400300"/>
            <a:ext cx="457200" cy="45720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79208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46720" y="2258568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cùng source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046720" y="25603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thay đổi theo code, có lịch sử.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178040" y="3273552"/>
            <a:ext cx="443484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79208" y="3525012"/>
            <a:ext cx="457200" cy="45720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79208" y="35250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046720" y="338328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qua Pull Request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8046720" y="368503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Thay đổi CI/CD cũng được duyệt như code.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178040" y="4398264"/>
            <a:ext cx="4434840" cy="960120"/>
          </a:xfrm>
          <a:prstGeom prst="roundRect">
            <a:avLst>
              <a:gd name="adj" fmla="val 4762"/>
            </a:avLst>
          </a:prstGeom>
          <a:solidFill>
            <a:srgbClr val="F4F7FA"/>
          </a:solidFill>
          <a:ln/>
          <a:effectLst>
            <a:outerShdw blurRad="101600" dist="38100" dir="5400000" algn="bl" rotWithShape="0">
              <a:srgbClr val="0F2A43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379208" y="4649724"/>
            <a:ext cx="457200" cy="457200"/>
          </a:xfrm>
          <a:prstGeom prst="ellipse">
            <a:avLst/>
          </a:prstGeom>
          <a:solidFill>
            <a:srgbClr val="1660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79208" y="46497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4507992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Tái lập chính xác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046720" y="4809744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Không phụ thuộc cấu hình bấm tay trên UI Jenkins.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926080" cy="2926080"/>
          </a:xfrm>
          <a:prstGeom prst="ellipse">
            <a:avLst/>
          </a:prstGeom>
          <a:solidFill>
            <a:srgbClr val="129C9C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98480" y="4572000"/>
            <a:ext cx="2743200" cy="2743200"/>
          </a:xfrm>
          <a:prstGeom prst="ellipse">
            <a:avLst/>
          </a:prstGeom>
          <a:solidFill>
            <a:srgbClr val="34D1BF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Đánh giá &amp; Tổng kết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thực hành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2011680"/>
            <a:ext cx="5577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thành công app FE + BE có Service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3 replicas + liveness/readiness probe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Cấu hình RBAC chặn quyền theo namespace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✓"/>
            </a:pPr>
            <a:r>
              <a:rPr lang="en-US" sz="15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CI/CD build–test–deploy chạy được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0" y="1554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Học tiếp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629400" y="2011680"/>
            <a:ext cx="4937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kubernetes.io/docs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 — package manager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 với ArgoCD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→"/>
            </a:pPr>
            <a:r>
              <a:rPr lang="en-US" sz="150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hardening &amp; observability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709160"/>
            <a:ext cx="10881360" cy="682413"/>
          </a:xfrm>
          <a:prstGeom prst="roundRect">
            <a:avLst>
              <a:gd name="adj" fmla="val 3750"/>
            </a:avLst>
          </a:prstGeom>
          <a:solidFill>
            <a:srgbClr val="1A3A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Liên </a:t>
            </a:r>
            <a:r>
              <a:rPr lang="en-US" sz="1500" b="1" dirty="0" err="1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hệ</a:t>
            </a:r>
            <a:r>
              <a:rPr lang="en-US" sz="1500" b="1" dirty="0">
                <a:solidFill>
                  <a:srgbClr val="34D1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info@smaclink.vn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&amp; CI/CD · Workshop 8h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3071</Words>
  <Application>Microsoft Office PowerPoint</Application>
  <PresentationFormat>Widescreen</PresentationFormat>
  <Paragraphs>523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Colin Hoang</cp:lastModifiedBy>
  <cp:revision>3</cp:revision>
  <dcterms:created xsi:type="dcterms:W3CDTF">2026-07-13T03:16:45Z</dcterms:created>
  <dcterms:modified xsi:type="dcterms:W3CDTF">2026-07-29T07:44:19Z</dcterms:modified>
</cp:coreProperties>
</file>