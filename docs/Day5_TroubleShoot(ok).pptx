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7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in Hoang" userId="02aee87d5f5f4acf" providerId="LiveId" clId="{E4EDE063-AEAF-4AF1-9BCF-D49211A3DBD4}"/>
    <pc:docChg chg="undo custSel modSld">
      <pc:chgData name="Colin Hoang" userId="02aee87d5f5f4acf" providerId="LiveId" clId="{E4EDE063-AEAF-4AF1-9BCF-D49211A3DBD4}" dt="2026-07-29T07:50:42.920" v="339" actId="1038"/>
      <pc:docMkLst>
        <pc:docMk/>
      </pc:docMkLst>
      <pc:sldChg chg="delSp mod">
        <pc:chgData name="Colin Hoang" userId="02aee87d5f5f4acf" providerId="LiveId" clId="{E4EDE063-AEAF-4AF1-9BCF-D49211A3DBD4}" dt="2026-07-13T03:31:43.505" v="48" actId="478"/>
        <pc:sldMkLst>
          <pc:docMk/>
          <pc:sldMk cId="0" sldId="256"/>
        </pc:sldMkLst>
      </pc:sldChg>
      <pc:sldChg chg="addSp modSp mod">
        <pc:chgData name="Colin Hoang" userId="02aee87d5f5f4acf" providerId="LiveId" clId="{E4EDE063-AEAF-4AF1-9BCF-D49211A3DBD4}" dt="2026-07-29T07:50:42.920" v="339" actId="1038"/>
        <pc:sldMkLst>
          <pc:docMk/>
          <pc:sldMk cId="0" sldId="257"/>
        </pc:sldMkLst>
        <pc:spChg chg="mod">
          <ac:chgData name="Colin Hoang" userId="02aee87d5f5f4acf" providerId="LiveId" clId="{E4EDE063-AEAF-4AF1-9BCF-D49211A3DBD4}" dt="2026-07-29T07:47:37.439" v="169" actId="14100"/>
          <ac:spMkLst>
            <pc:docMk/>
            <pc:sldMk cId="0" sldId="257"/>
            <ac:spMk id="4" creationId="{00000000-0000-0000-0000-000000000000}"/>
          </ac:spMkLst>
        </pc:spChg>
        <pc:spChg chg="mod">
          <ac:chgData name="Colin Hoang" userId="02aee87d5f5f4acf" providerId="LiveId" clId="{E4EDE063-AEAF-4AF1-9BCF-D49211A3DBD4}" dt="2026-07-29T07:49:02.227" v="261" actId="1037"/>
          <ac:spMkLst>
            <pc:docMk/>
            <pc:sldMk cId="0" sldId="257"/>
            <ac:spMk id="6" creationId="{00000000-0000-0000-0000-000000000000}"/>
          </ac:spMkLst>
        </pc:spChg>
        <pc:spChg chg="mod">
          <ac:chgData name="Colin Hoang" userId="02aee87d5f5f4acf" providerId="LiveId" clId="{E4EDE063-AEAF-4AF1-9BCF-D49211A3DBD4}" dt="2026-07-29T07:49:02.227" v="261" actId="1037"/>
          <ac:spMkLst>
            <pc:docMk/>
            <pc:sldMk cId="0" sldId="257"/>
            <ac:spMk id="7" creationId="{00000000-0000-0000-0000-000000000000}"/>
          </ac:spMkLst>
        </pc:spChg>
        <pc:spChg chg="mod">
          <ac:chgData name="Colin Hoang" userId="02aee87d5f5f4acf" providerId="LiveId" clId="{E4EDE063-AEAF-4AF1-9BCF-D49211A3DBD4}" dt="2026-07-29T07:49:02.227" v="261" actId="1037"/>
          <ac:spMkLst>
            <pc:docMk/>
            <pc:sldMk cId="0" sldId="257"/>
            <ac:spMk id="8" creationId="{00000000-0000-0000-0000-000000000000}"/>
          </ac:spMkLst>
        </pc:spChg>
        <pc:spChg chg="mod">
          <ac:chgData name="Colin Hoang" userId="02aee87d5f5f4acf" providerId="LiveId" clId="{E4EDE063-AEAF-4AF1-9BCF-D49211A3DBD4}" dt="2026-07-29T07:47:33.013" v="168" actId="1037"/>
          <ac:spMkLst>
            <pc:docMk/>
            <pc:sldMk cId="0" sldId="257"/>
            <ac:spMk id="9" creationId="{00000000-0000-0000-0000-000000000000}"/>
          </ac:spMkLst>
        </pc:spChg>
        <pc:spChg chg="mod">
          <ac:chgData name="Colin Hoang" userId="02aee87d5f5f4acf" providerId="LiveId" clId="{E4EDE063-AEAF-4AF1-9BCF-D49211A3DBD4}" dt="2026-07-29T07:47:40.659" v="170" actId="14100"/>
          <ac:spMkLst>
            <pc:docMk/>
            <pc:sldMk cId="0" sldId="257"/>
            <ac:spMk id="10" creationId="{00000000-0000-0000-0000-000000000000}"/>
          </ac:spMkLst>
        </pc:spChg>
        <pc:spChg chg="mod">
          <ac:chgData name="Colin Hoang" userId="02aee87d5f5f4acf" providerId="LiveId" clId="{E4EDE063-AEAF-4AF1-9BCF-D49211A3DBD4}" dt="2026-07-29T07:49:02.227" v="261" actId="1037"/>
          <ac:spMkLst>
            <pc:docMk/>
            <pc:sldMk cId="0" sldId="257"/>
            <ac:spMk id="11" creationId="{00000000-0000-0000-0000-000000000000}"/>
          </ac:spMkLst>
        </pc:spChg>
        <pc:spChg chg="mod">
          <ac:chgData name="Colin Hoang" userId="02aee87d5f5f4acf" providerId="LiveId" clId="{E4EDE063-AEAF-4AF1-9BCF-D49211A3DBD4}" dt="2026-07-29T07:46:16.762" v="102" actId="1035"/>
          <ac:spMkLst>
            <pc:docMk/>
            <pc:sldMk cId="0" sldId="257"/>
            <ac:spMk id="12" creationId="{00000000-0000-0000-0000-000000000000}"/>
          </ac:spMkLst>
        </pc:spChg>
        <pc:spChg chg="mod">
          <ac:chgData name="Colin Hoang" userId="02aee87d5f5f4acf" providerId="LiveId" clId="{E4EDE063-AEAF-4AF1-9BCF-D49211A3DBD4}" dt="2026-07-29T07:49:02.227" v="261" actId="1037"/>
          <ac:spMkLst>
            <pc:docMk/>
            <pc:sldMk cId="0" sldId="257"/>
            <ac:spMk id="13" creationId="{00000000-0000-0000-0000-000000000000}"/>
          </ac:spMkLst>
        </pc:spChg>
        <pc:spChg chg="mod">
          <ac:chgData name="Colin Hoang" userId="02aee87d5f5f4acf" providerId="LiveId" clId="{E4EDE063-AEAF-4AF1-9BCF-D49211A3DBD4}" dt="2026-07-29T07:49:02.227" v="261" actId="1037"/>
          <ac:spMkLst>
            <pc:docMk/>
            <pc:sldMk cId="0" sldId="257"/>
            <ac:spMk id="14" creationId="{00000000-0000-0000-0000-000000000000}"/>
          </ac:spMkLst>
        </pc:spChg>
        <pc:spChg chg="mod">
          <ac:chgData name="Colin Hoang" userId="02aee87d5f5f4acf" providerId="LiveId" clId="{E4EDE063-AEAF-4AF1-9BCF-D49211A3DBD4}" dt="2026-07-29T07:49:02.227" v="261" actId="1037"/>
          <ac:spMkLst>
            <pc:docMk/>
            <pc:sldMk cId="0" sldId="257"/>
            <ac:spMk id="15" creationId="{00000000-0000-0000-0000-000000000000}"/>
          </ac:spMkLst>
        </pc:spChg>
        <pc:spChg chg="mod">
          <ac:chgData name="Colin Hoang" userId="02aee87d5f5f4acf" providerId="LiveId" clId="{E4EDE063-AEAF-4AF1-9BCF-D49211A3DBD4}" dt="2026-07-29T07:49:02.227" v="261" actId="1037"/>
          <ac:spMkLst>
            <pc:docMk/>
            <pc:sldMk cId="0" sldId="257"/>
            <ac:spMk id="16" creationId="{00000000-0000-0000-0000-000000000000}"/>
          </ac:spMkLst>
        </pc:spChg>
        <pc:spChg chg="mod">
          <ac:chgData name="Colin Hoang" userId="02aee87d5f5f4acf" providerId="LiveId" clId="{E4EDE063-AEAF-4AF1-9BCF-D49211A3DBD4}" dt="2026-07-29T07:49:02.227" v="261" actId="1037"/>
          <ac:spMkLst>
            <pc:docMk/>
            <pc:sldMk cId="0" sldId="257"/>
            <ac:spMk id="17" creationId="{00000000-0000-0000-0000-000000000000}"/>
          </ac:spMkLst>
        </pc:spChg>
        <pc:spChg chg="mod">
          <ac:chgData name="Colin Hoang" userId="02aee87d5f5f4acf" providerId="LiveId" clId="{E4EDE063-AEAF-4AF1-9BCF-D49211A3DBD4}" dt="2026-07-29T07:49:02.227" v="261" actId="1037"/>
          <ac:spMkLst>
            <pc:docMk/>
            <pc:sldMk cId="0" sldId="257"/>
            <ac:spMk id="18" creationId="{00000000-0000-0000-0000-000000000000}"/>
          </ac:spMkLst>
        </pc:spChg>
        <pc:spChg chg="mod">
          <ac:chgData name="Colin Hoang" userId="02aee87d5f5f4acf" providerId="LiveId" clId="{E4EDE063-AEAF-4AF1-9BCF-D49211A3DBD4}" dt="2026-07-29T07:46:59.177" v="135" actId="1036"/>
          <ac:spMkLst>
            <pc:docMk/>
            <pc:sldMk cId="0" sldId="257"/>
            <ac:spMk id="19" creationId="{00000000-0000-0000-0000-000000000000}"/>
          </ac:spMkLst>
        </pc:spChg>
        <pc:spChg chg="mod">
          <ac:chgData name="Colin Hoang" userId="02aee87d5f5f4acf" providerId="LiveId" clId="{E4EDE063-AEAF-4AF1-9BCF-D49211A3DBD4}" dt="2026-07-29T07:47:33.013" v="168" actId="1037"/>
          <ac:spMkLst>
            <pc:docMk/>
            <pc:sldMk cId="0" sldId="257"/>
            <ac:spMk id="20" creationId="{00000000-0000-0000-0000-000000000000}"/>
          </ac:spMkLst>
        </pc:spChg>
        <pc:spChg chg="mod">
          <ac:chgData name="Colin Hoang" userId="02aee87d5f5f4acf" providerId="LiveId" clId="{E4EDE063-AEAF-4AF1-9BCF-D49211A3DBD4}" dt="2026-07-29T07:47:33.013" v="168" actId="1037"/>
          <ac:spMkLst>
            <pc:docMk/>
            <pc:sldMk cId="0" sldId="257"/>
            <ac:spMk id="21" creationId="{00000000-0000-0000-0000-000000000000}"/>
          </ac:spMkLst>
        </pc:spChg>
        <pc:spChg chg="mod">
          <ac:chgData name="Colin Hoang" userId="02aee87d5f5f4acf" providerId="LiveId" clId="{E4EDE063-AEAF-4AF1-9BCF-D49211A3DBD4}" dt="2026-07-29T07:50:24.739" v="307" actId="1076"/>
          <ac:spMkLst>
            <pc:docMk/>
            <pc:sldMk cId="0" sldId="257"/>
            <ac:spMk id="22" creationId="{00000000-0000-0000-0000-000000000000}"/>
          </ac:spMkLst>
        </pc:spChg>
        <pc:spChg chg="mod">
          <ac:chgData name="Colin Hoang" userId="02aee87d5f5f4acf" providerId="LiveId" clId="{E4EDE063-AEAF-4AF1-9BCF-D49211A3DBD4}" dt="2026-07-29T07:50:24.739" v="307" actId="1076"/>
          <ac:spMkLst>
            <pc:docMk/>
            <pc:sldMk cId="0" sldId="257"/>
            <ac:spMk id="23" creationId="{00000000-0000-0000-0000-000000000000}"/>
          </ac:spMkLst>
        </pc:spChg>
        <pc:spChg chg="mod">
          <ac:chgData name="Colin Hoang" userId="02aee87d5f5f4acf" providerId="LiveId" clId="{E4EDE063-AEAF-4AF1-9BCF-D49211A3DBD4}" dt="2026-07-29T07:50:24.739" v="307" actId="1076"/>
          <ac:spMkLst>
            <pc:docMk/>
            <pc:sldMk cId="0" sldId="257"/>
            <ac:spMk id="24" creationId="{00000000-0000-0000-0000-000000000000}"/>
          </ac:spMkLst>
        </pc:spChg>
        <pc:spChg chg="mod">
          <ac:chgData name="Colin Hoang" userId="02aee87d5f5f4acf" providerId="LiveId" clId="{E4EDE063-AEAF-4AF1-9BCF-D49211A3DBD4}" dt="2026-07-29T07:50:17.936" v="306" actId="1076"/>
          <ac:spMkLst>
            <pc:docMk/>
            <pc:sldMk cId="0" sldId="257"/>
            <ac:spMk id="25" creationId="{00000000-0000-0000-0000-000000000000}"/>
          </ac:spMkLst>
        </pc:spChg>
        <pc:spChg chg="mod">
          <ac:chgData name="Colin Hoang" userId="02aee87d5f5f4acf" providerId="LiveId" clId="{E4EDE063-AEAF-4AF1-9BCF-D49211A3DBD4}" dt="2026-07-29T07:50:42.920" v="339" actId="1038"/>
          <ac:spMkLst>
            <pc:docMk/>
            <pc:sldMk cId="0" sldId="257"/>
            <ac:spMk id="26" creationId="{00000000-0000-0000-0000-000000000000}"/>
          </ac:spMkLst>
        </pc:spChg>
        <pc:spChg chg="mod">
          <ac:chgData name="Colin Hoang" userId="02aee87d5f5f4acf" providerId="LiveId" clId="{E4EDE063-AEAF-4AF1-9BCF-D49211A3DBD4}" dt="2026-07-29T07:50:42.920" v="339" actId="1038"/>
          <ac:spMkLst>
            <pc:docMk/>
            <pc:sldMk cId="0" sldId="257"/>
            <ac:spMk id="27" creationId="{00000000-0000-0000-0000-000000000000}"/>
          </ac:spMkLst>
        </pc:spChg>
        <pc:spChg chg="mod">
          <ac:chgData name="Colin Hoang" userId="02aee87d5f5f4acf" providerId="LiveId" clId="{E4EDE063-AEAF-4AF1-9BCF-D49211A3DBD4}" dt="2026-07-29T07:50:24.739" v="307" actId="1076"/>
          <ac:spMkLst>
            <pc:docMk/>
            <pc:sldMk cId="0" sldId="257"/>
            <ac:spMk id="28" creationId="{00000000-0000-0000-0000-000000000000}"/>
          </ac:spMkLst>
        </pc:spChg>
        <pc:spChg chg="mod">
          <ac:chgData name="Colin Hoang" userId="02aee87d5f5f4acf" providerId="LiveId" clId="{E4EDE063-AEAF-4AF1-9BCF-D49211A3DBD4}" dt="2026-07-29T07:50:24.739" v="307" actId="1076"/>
          <ac:spMkLst>
            <pc:docMk/>
            <pc:sldMk cId="0" sldId="257"/>
            <ac:spMk id="29" creationId="{00000000-0000-0000-0000-000000000000}"/>
          </ac:spMkLst>
        </pc:spChg>
        <pc:spChg chg="mod">
          <ac:chgData name="Colin Hoang" userId="02aee87d5f5f4acf" providerId="LiveId" clId="{E4EDE063-AEAF-4AF1-9BCF-D49211A3DBD4}" dt="2026-07-29T07:50:24.739" v="307" actId="1076"/>
          <ac:spMkLst>
            <pc:docMk/>
            <pc:sldMk cId="0" sldId="257"/>
            <ac:spMk id="30" creationId="{00000000-0000-0000-0000-000000000000}"/>
          </ac:spMkLst>
        </pc:spChg>
        <pc:spChg chg="mod">
          <ac:chgData name="Colin Hoang" userId="02aee87d5f5f4acf" providerId="LiveId" clId="{E4EDE063-AEAF-4AF1-9BCF-D49211A3DBD4}" dt="2026-07-29T07:49:56.344" v="301" actId="1076"/>
          <ac:spMkLst>
            <pc:docMk/>
            <pc:sldMk cId="0" sldId="257"/>
            <ac:spMk id="31" creationId="{00000000-0000-0000-0000-000000000000}"/>
          </ac:spMkLst>
        </pc:spChg>
        <pc:spChg chg="mod">
          <ac:chgData name="Colin Hoang" userId="02aee87d5f5f4acf" providerId="LiveId" clId="{E4EDE063-AEAF-4AF1-9BCF-D49211A3DBD4}" dt="2026-07-29T07:50:42.920" v="339" actId="1038"/>
          <ac:spMkLst>
            <pc:docMk/>
            <pc:sldMk cId="0" sldId="257"/>
            <ac:spMk id="32" creationId="{00000000-0000-0000-0000-000000000000}"/>
          </ac:spMkLst>
        </pc:spChg>
        <pc:spChg chg="mod">
          <ac:chgData name="Colin Hoang" userId="02aee87d5f5f4acf" providerId="LiveId" clId="{E4EDE063-AEAF-4AF1-9BCF-D49211A3DBD4}" dt="2026-07-29T07:50:42.920" v="339" actId="1038"/>
          <ac:spMkLst>
            <pc:docMk/>
            <pc:sldMk cId="0" sldId="257"/>
            <ac:spMk id="33" creationId="{00000000-0000-0000-0000-000000000000}"/>
          </ac:spMkLst>
        </pc:spChg>
        <pc:spChg chg="add mod">
          <ac:chgData name="Colin Hoang" userId="02aee87d5f5f4acf" providerId="LiveId" clId="{E4EDE063-AEAF-4AF1-9BCF-D49211A3DBD4}" dt="2026-07-29T07:48:52.146" v="235" actId="1038"/>
          <ac:spMkLst>
            <pc:docMk/>
            <pc:sldMk cId="0" sldId="257"/>
            <ac:spMk id="35" creationId="{6373C1EC-C84E-9219-7432-1DFB24EA3A33}"/>
          </ac:spMkLst>
        </pc:spChg>
        <pc:spChg chg="add mod">
          <ac:chgData name="Colin Hoang" userId="02aee87d5f5f4acf" providerId="LiveId" clId="{E4EDE063-AEAF-4AF1-9BCF-D49211A3DBD4}" dt="2026-07-29T07:48:52.146" v="235" actId="1038"/>
          <ac:spMkLst>
            <pc:docMk/>
            <pc:sldMk cId="0" sldId="257"/>
            <ac:spMk id="37" creationId="{029C6984-008C-E239-ED7C-114B221A198A}"/>
          </ac:spMkLst>
        </pc:spChg>
        <pc:spChg chg="add mod">
          <ac:chgData name="Colin Hoang" userId="02aee87d5f5f4acf" providerId="LiveId" clId="{E4EDE063-AEAF-4AF1-9BCF-D49211A3DBD4}" dt="2026-07-29T07:50:28.322" v="317" actId="1036"/>
          <ac:spMkLst>
            <pc:docMk/>
            <pc:sldMk cId="0" sldId="257"/>
            <ac:spMk id="39" creationId="{A5A2939E-C9E0-F8BD-A933-2F92FDCB1A43}"/>
          </ac:spMkLst>
        </pc:spChg>
        <pc:spChg chg="add mod">
          <ac:chgData name="Colin Hoang" userId="02aee87d5f5f4acf" providerId="LiveId" clId="{E4EDE063-AEAF-4AF1-9BCF-D49211A3DBD4}" dt="2026-07-29T07:49:33.125" v="299" actId="20577"/>
          <ac:spMkLst>
            <pc:docMk/>
            <pc:sldMk cId="0" sldId="257"/>
            <ac:spMk id="41" creationId="{CEBD5DF6-95B6-DB49-3AC2-20C88BAD660E}"/>
          </ac:spMkLst>
        </pc:spChg>
      </pc:sldChg>
      <pc:sldChg chg="modSp mod">
        <pc:chgData name="Colin Hoang" userId="02aee87d5f5f4acf" providerId="LiveId" clId="{E4EDE063-AEAF-4AF1-9BCF-D49211A3DBD4}" dt="2026-07-13T03:08:45.379" v="47" actId="20577"/>
        <pc:sldMkLst>
          <pc:docMk/>
          <pc:sldMk cId="0" sldId="282"/>
        </pc:sldMkLst>
        <pc:spChg chg="mod">
          <ac:chgData name="Colin Hoang" userId="02aee87d5f5f4acf" providerId="LiveId" clId="{E4EDE063-AEAF-4AF1-9BCF-D49211A3DBD4}" dt="2026-07-13T03:08:45.379" v="47" actId="20577"/>
          <ac:spMkLst>
            <pc:docMk/>
            <pc:sldMk cId="0" sldId="282"/>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4815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mở đầu. Giới thiệu bản thân, mục tiêu buổi học: đi từ thu thập metrics -&gt; trực quan hóa -&gt; troubleshoot -&gt; quality gate với test. Buổi 8 giờ, 5 session, nhiều lab thực hành.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roadmap cả ngày. Session 1-3 tập trung Monitoring, Session 4 là troubleshooting (phần dính nhất), Session 5 là test integration. Mỗi session đều có lab. Nghỉ giải lao giữa các session và nghỉ trưa sau Session 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năng lực đầu ra. Nhấn mạnh: đây là buổi thiên về thực hành, 60% thời gian là lab. AI là công cụ xuyên suốt chứ không phải một phần riêng.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Gửi checklist này trước buổi học ít nhất 2-3 ngày. Môi trường 'một lệnh chạy' là chìa khóa để lab suôn sẻ.</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1 - 60 phút. Mục tiêu: hiểu tại sao cần monitoring và mỗi loại tool giải quyết vấn đề gì. Chưa code, tập trung khái niệm.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 Logs là trọng tâm buổi học. Traces chỉ giới thiệu. Điểm mấu chốt: metrics cho biết Ở ĐÂU/KHI NÀO có vấn đề, logs cho biết TẠI SAO — kết hợp cả hai khi troubleshoot (nối sang Session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thuộc hết. Mục tiêu là biết mỗi nhóm dùng để làm gì để chọn đúng tool khi cần. Hôm nay đi sâu Prometheus + Grafana + exporters (ô cam).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dùng mô hình PULL: nó chủ động gọi tới /metrics của target chứ không nhận đẩy. 4 Golden Signals + USE/RED giúp chọn đúng metric cần theo dõi thay vì thu thập tất cả.</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2 - 90 phút. Hai lab: tạo nguồn metrics bằng exporter, rồi cấu hình Prometheus thu thập.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PULL model gắn với scrape_configs. Nhấn: mỗi job trỏ tới các targets; scrape_interval cân bằng giữa độ chi tiết và tải. Demo mở /metrics thô để học viên thấy dữ liệu nguồn.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đầu tiên chỉ tạo NGUỒN metrics, chưa có Prometheus. Cho học viên nhìn dữ liệu thô để hiểu exporter thực chất trả về text theo format Prometheus.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Thử thách cuối (dừng container để target DOWN) là 'mồi' dẫn sang Session 4 troubleshooting. Nhắc học viên giữ lại môi trường này cho các session sau.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3 - 80 phút. Kết nối Grafana với Prometheus, học PromQL, trực quan hóa.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vs irate là câu hỏi kinh điển: rate = trung bình trên cả khoảng, irate = 2 điểm cuối (nhạy hơn, cho biến động nhanh). Đây là chỗ dùng AI để giải thích PromQL phức tạp.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tự build trước 4 panel, rồi import ID 1860 để so sánh và học cách người khác tổ chức dashboard. Nhấn: panel type phù hợp (Stat/Gauge/Time series).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nhóm ngắn: mỗi nhóm lấy 1 câu PromQL phức tạp, dùng AI giải thích, rồi trình bày lại bằng lời của mình. Nhấn: AI để HIỂU nhanh, nhưng luôn kiểm chứng trên dữ liệu thật.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4 - 90 phút. Phần 'dính' nhất. Quy trình chẩn đoán + đọc log + fix cơ bản với các case gieo sẵn.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nguyên tắc vàng: metrics cho biết Ở ĐÂU/KHI NÀO, logs cho biết TẠI SAO. Đừng nhảy vào fix ngay — luôn thu thập bằng chứng trước khi đưa giả thuyết.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tự tay chạy describe + logs trên môi trường lab. describe cho ta Events (lý do restart/không schedule). --previous xem log của lần chạy trước khi container restart.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Giảng viên gieo lỗi trước giờ nghỉ trưa. Học viên làm theo nhóm. Yêu cầu trình bày mạch chẩn đoán chứ không chỉ 'sửa được là xong'. Đây là kỹ năng cốt lõi mang về đi làm.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5 - 90 phút. Vì sao test trong CI/CD, thêm stage test vào pipeline, xử lý khi fail.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 tự tháp: nhiều unit test (nhanh, rẻ) ở đáy, ít E2E (chậm, đắt) ở đỉnh. Selenium = E2E cho UI, JUnit = unit Java, pytest = unit/integration Python.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junit trong post{always} là điểm hay quên — phải thu report kể cả khi test fail. Selenium chạy bằng container selenium/standalone-chrome. Screenshot khi fail giúp debug UI nhanh.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repo mẫu sẵn để học viên tập trung vào TÍCH HỢP, không viết test từ đầu. Cho họ trải nghiệm vòng: fail -&gt; nhận thông báo -&gt; fix -&gt; xanh.</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sinh khung test nhanh, nhưng phải review selector (dễ flaky) và assertion. Nhấn: AI tăng tốc, con người chịu trách nhiệm chất lượng test.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tự đánh giá. Ô cuối (cam) là hướng học tiếp sau buổi này. Chốt lại mạch 4 bước ở dòng trên.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buổi. Mở Q&amp;A. Nhắc học viên giữ lại môi trường lab để tự luyện thêm và khuyến khích thử phần 'học tiếp'.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3"/>
        </a:solidFill>
        <a:effectLst/>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0E8C82">
              <a:alpha val="18000"/>
            </a:srgbClr>
          </a:solidFill>
          <a:ln/>
        </p:spPr>
        <p:txBody>
          <a:bodyPr/>
          <a:lstStyle/>
          <a:p>
            <a:endParaRPr lang="en-US"/>
          </a:p>
        </p:txBody>
      </p:sp>
      <p:sp>
        <p:nvSpPr>
          <p:cNvPr id="3" name="Shape 1"/>
          <p:cNvSpPr/>
          <p:nvPr/>
        </p:nvSpPr>
        <p:spPr>
          <a:xfrm>
            <a:off x="10607040" y="4023360"/>
            <a:ext cx="2926080" cy="2926080"/>
          </a:xfrm>
          <a:prstGeom prst="ellipse">
            <a:avLst/>
          </a:prstGeom>
          <a:solidFill>
            <a:srgbClr val="F6A623">
              <a:alpha val="14000"/>
            </a:srgbClr>
          </a:solidFill>
          <a:ln/>
        </p:spPr>
        <p:txBody>
          <a:bodyPr/>
          <a:lstStyle/>
          <a:p>
            <a:endParaRPr lang="en-US"/>
          </a:p>
        </p:txBody>
      </p:sp>
      <p:sp>
        <p:nvSpPr>
          <p:cNvPr id="4" name="Text 2"/>
          <p:cNvSpPr/>
          <p:nvPr/>
        </p:nvSpPr>
        <p:spPr>
          <a:xfrm>
            <a:off x="640080" y="1371600"/>
            <a:ext cx="8229600" cy="365760"/>
          </a:xfrm>
          <a:prstGeom prst="rect">
            <a:avLst/>
          </a:prstGeom>
          <a:noFill/>
          <a:ln/>
        </p:spPr>
        <p:txBody>
          <a:bodyPr wrap="square" lIns="0" tIns="0" rIns="0" bIns="0" rtlCol="0" anchor="ctr"/>
          <a:lstStyle/>
          <a:p>
            <a:pPr marL="0" indent="0">
              <a:buNone/>
            </a:pPr>
            <a:r>
              <a:rPr lang="en-US" sz="1400" b="1" kern="0" spc="300" dirty="0">
                <a:solidFill>
                  <a:srgbClr val="1FBFB3"/>
                </a:solidFill>
                <a:latin typeface="Calibri" pitchFamily="34" charset="0"/>
                <a:ea typeface="Calibri" pitchFamily="34" charset="-122"/>
                <a:cs typeface="Calibri" pitchFamily="34" charset="-120"/>
              </a:rPr>
              <a:t>KHOÁ ĐÀO TẠO • 1 BUỔI / 8 GIỜ</a:t>
            </a:r>
            <a:endParaRPr lang="en-US" sz="1400" dirty="0"/>
          </a:p>
        </p:txBody>
      </p:sp>
      <p:sp>
        <p:nvSpPr>
          <p:cNvPr id="5" name="Text 3"/>
          <p:cNvSpPr/>
          <p:nvPr/>
        </p:nvSpPr>
        <p:spPr>
          <a:xfrm>
            <a:off x="603504" y="1783080"/>
            <a:ext cx="10424160" cy="1737360"/>
          </a:xfrm>
          <a:prstGeom prst="rect">
            <a:avLst/>
          </a:prstGeom>
          <a:noFill/>
          <a:ln/>
        </p:spPr>
        <p:txBody>
          <a:bodyPr wrap="square" lIns="0" tIns="0" rIns="0" bIns="0" rtlCol="0" anchor="ctr"/>
          <a:lstStyle/>
          <a:p>
            <a:pPr marL="0" indent="0">
              <a:lnSpc>
                <a:spcPct val="100000"/>
              </a:lnSpc>
              <a:buNone/>
            </a:pPr>
            <a:r>
              <a:rPr lang="en-US" sz="4600" b="1" dirty="0">
                <a:solidFill>
                  <a:srgbClr val="FFFFFF"/>
                </a:solidFill>
                <a:latin typeface="Calibri" pitchFamily="34" charset="0"/>
                <a:ea typeface="Calibri" pitchFamily="34" charset="-122"/>
                <a:cs typeface="Calibri" pitchFamily="34" charset="-120"/>
              </a:rPr>
              <a:t>Monitoring, Troubleshooting</a:t>
            </a:r>
            <a:endParaRPr lang="en-US" sz="4600" dirty="0"/>
          </a:p>
          <a:p>
            <a:pPr marL="0" indent="0">
              <a:lnSpc>
                <a:spcPct val="100000"/>
              </a:lnSpc>
              <a:buNone/>
            </a:pPr>
            <a:r>
              <a:rPr lang="en-US" sz="4600" b="1" dirty="0">
                <a:solidFill>
                  <a:srgbClr val="FFFFFF"/>
                </a:solidFill>
                <a:latin typeface="Calibri" pitchFamily="34" charset="0"/>
                <a:ea typeface="Calibri" pitchFamily="34" charset="-122"/>
                <a:cs typeface="Calibri" pitchFamily="34" charset="-120"/>
              </a:rPr>
              <a:t>&amp; Test Integration</a:t>
            </a:r>
            <a:endParaRPr lang="en-US" sz="4600" dirty="0"/>
          </a:p>
        </p:txBody>
      </p:sp>
      <p:sp>
        <p:nvSpPr>
          <p:cNvPr id="6" name="Text 4"/>
          <p:cNvSpPr/>
          <p:nvPr/>
        </p:nvSpPr>
        <p:spPr>
          <a:xfrm>
            <a:off x="640080" y="3703320"/>
            <a:ext cx="10058400" cy="548640"/>
          </a:xfrm>
          <a:prstGeom prst="rect">
            <a:avLst/>
          </a:prstGeom>
          <a:noFill/>
          <a:ln/>
        </p:spPr>
        <p:txBody>
          <a:bodyPr wrap="square" lIns="0" tIns="0" rIns="0" bIns="0" rtlCol="0" anchor="ctr"/>
          <a:lstStyle/>
          <a:p>
            <a:pPr marL="0" indent="0">
              <a:buNone/>
            </a:pPr>
            <a:r>
              <a:rPr lang="en-US" sz="1700" dirty="0">
                <a:solidFill>
                  <a:srgbClr val="AEC6D2"/>
                </a:solidFill>
                <a:latin typeface="Calibri" pitchFamily="34" charset="0"/>
                <a:ea typeface="Calibri" pitchFamily="34" charset="-122"/>
                <a:cs typeface="Calibri" pitchFamily="34" charset="-120"/>
              </a:rPr>
              <a:t>Giám sát hạ tầng k8s/Infra • Đọc log &amp; xử lý sự cố • Tích hợp test tự động vào CI/CD</a:t>
            </a:r>
            <a:endParaRPr lang="en-US" sz="1700" dirty="0"/>
          </a:p>
        </p:txBody>
      </p:sp>
      <p:sp>
        <p:nvSpPr>
          <p:cNvPr id="7" name="Shape 5"/>
          <p:cNvSpPr/>
          <p:nvPr/>
        </p:nvSpPr>
        <p:spPr>
          <a:xfrm>
            <a:off x="640080" y="4526280"/>
            <a:ext cx="1344168" cy="457200"/>
          </a:xfrm>
          <a:prstGeom prst="roundRect">
            <a:avLst>
              <a:gd name="adj" fmla="val 50000"/>
            </a:avLst>
          </a:prstGeom>
          <a:solidFill>
            <a:srgbClr val="FFFFFF">
              <a:alpha val="12000"/>
            </a:srgbClr>
          </a:solidFill>
          <a:ln w="12700">
            <a:solidFill>
              <a:srgbClr val="1FBFB3"/>
            </a:solidFill>
            <a:prstDash val="solid"/>
          </a:ln>
        </p:spPr>
        <p:txBody>
          <a:bodyPr/>
          <a:lstStyle/>
          <a:p>
            <a:endParaRPr lang="en-US"/>
          </a:p>
        </p:txBody>
      </p:sp>
      <p:sp>
        <p:nvSpPr>
          <p:cNvPr id="8" name="Text 6"/>
          <p:cNvSpPr/>
          <p:nvPr/>
        </p:nvSpPr>
        <p:spPr>
          <a:xfrm>
            <a:off x="640080" y="4526280"/>
            <a:ext cx="1344168" cy="457200"/>
          </a:xfrm>
          <a:prstGeom prst="rect">
            <a:avLst/>
          </a:prstGeom>
          <a:noFill/>
          <a:ln/>
        </p:spPr>
        <p:txBody>
          <a:bodyPr wrap="square" lIns="0" tIns="0" rIns="0" bIns="0" rtlCol="0" anchor="ctr"/>
          <a:lstStyle/>
          <a:p>
            <a:pPr marL="0" indent="0" algn="ctr">
              <a:buNone/>
            </a:pPr>
            <a:r>
              <a:rPr lang="en-US" sz="1250" b="1" dirty="0">
                <a:solidFill>
                  <a:srgbClr val="1FBFB3"/>
                </a:solidFill>
                <a:latin typeface="Calibri" pitchFamily="34" charset="0"/>
                <a:ea typeface="Calibri" pitchFamily="34" charset="-122"/>
                <a:cs typeface="Calibri" pitchFamily="34" charset="-120"/>
              </a:rPr>
              <a:t>Prometheus</a:t>
            </a:r>
            <a:endParaRPr lang="en-US" sz="1250" dirty="0"/>
          </a:p>
        </p:txBody>
      </p:sp>
      <p:sp>
        <p:nvSpPr>
          <p:cNvPr id="9" name="Shape 7"/>
          <p:cNvSpPr/>
          <p:nvPr/>
        </p:nvSpPr>
        <p:spPr>
          <a:xfrm>
            <a:off x="2185416" y="4526280"/>
            <a:ext cx="1028700" cy="457200"/>
          </a:xfrm>
          <a:prstGeom prst="roundRect">
            <a:avLst>
              <a:gd name="adj" fmla="val 50000"/>
            </a:avLst>
          </a:prstGeom>
          <a:solidFill>
            <a:srgbClr val="FFFFFF">
              <a:alpha val="12000"/>
            </a:srgbClr>
          </a:solidFill>
          <a:ln w="12700">
            <a:solidFill>
              <a:srgbClr val="1FBFB3"/>
            </a:solidFill>
            <a:prstDash val="solid"/>
          </a:ln>
        </p:spPr>
        <p:txBody>
          <a:bodyPr/>
          <a:lstStyle/>
          <a:p>
            <a:endParaRPr lang="en-US"/>
          </a:p>
        </p:txBody>
      </p:sp>
      <p:sp>
        <p:nvSpPr>
          <p:cNvPr id="10" name="Text 8"/>
          <p:cNvSpPr/>
          <p:nvPr/>
        </p:nvSpPr>
        <p:spPr>
          <a:xfrm>
            <a:off x="2185416" y="4526280"/>
            <a:ext cx="1028700" cy="457200"/>
          </a:xfrm>
          <a:prstGeom prst="rect">
            <a:avLst/>
          </a:prstGeom>
          <a:noFill/>
          <a:ln/>
        </p:spPr>
        <p:txBody>
          <a:bodyPr wrap="square" lIns="0" tIns="0" rIns="0" bIns="0" rtlCol="0" anchor="ctr"/>
          <a:lstStyle/>
          <a:p>
            <a:pPr marL="0" indent="0" algn="ctr">
              <a:buNone/>
            </a:pPr>
            <a:r>
              <a:rPr lang="en-US" sz="1250" b="1" dirty="0">
                <a:solidFill>
                  <a:srgbClr val="1FBFB3"/>
                </a:solidFill>
                <a:latin typeface="Calibri" pitchFamily="34" charset="0"/>
                <a:ea typeface="Calibri" pitchFamily="34" charset="-122"/>
                <a:cs typeface="Calibri" pitchFamily="34" charset="-120"/>
              </a:rPr>
              <a:t>Grafana</a:t>
            </a:r>
            <a:endParaRPr lang="en-US" sz="1250" dirty="0"/>
          </a:p>
        </p:txBody>
      </p:sp>
      <p:sp>
        <p:nvSpPr>
          <p:cNvPr id="11" name="Shape 9"/>
          <p:cNvSpPr/>
          <p:nvPr/>
        </p:nvSpPr>
        <p:spPr>
          <a:xfrm>
            <a:off x="3415284" y="4526280"/>
            <a:ext cx="923544" cy="457200"/>
          </a:xfrm>
          <a:prstGeom prst="roundRect">
            <a:avLst>
              <a:gd name="adj" fmla="val 50000"/>
            </a:avLst>
          </a:prstGeom>
          <a:solidFill>
            <a:srgbClr val="FFFFFF">
              <a:alpha val="12000"/>
            </a:srgbClr>
          </a:solidFill>
          <a:ln w="12700">
            <a:solidFill>
              <a:srgbClr val="1FBFB3"/>
            </a:solidFill>
            <a:prstDash val="solid"/>
          </a:ln>
        </p:spPr>
        <p:txBody>
          <a:bodyPr/>
          <a:lstStyle/>
          <a:p>
            <a:endParaRPr lang="en-US"/>
          </a:p>
        </p:txBody>
      </p:sp>
      <p:sp>
        <p:nvSpPr>
          <p:cNvPr id="12" name="Text 10"/>
          <p:cNvSpPr/>
          <p:nvPr/>
        </p:nvSpPr>
        <p:spPr>
          <a:xfrm>
            <a:off x="3415284" y="4526280"/>
            <a:ext cx="923544" cy="457200"/>
          </a:xfrm>
          <a:prstGeom prst="rect">
            <a:avLst/>
          </a:prstGeom>
          <a:noFill/>
          <a:ln/>
        </p:spPr>
        <p:txBody>
          <a:bodyPr wrap="square" lIns="0" tIns="0" rIns="0" bIns="0" rtlCol="0" anchor="ctr"/>
          <a:lstStyle/>
          <a:p>
            <a:pPr marL="0" indent="0" algn="ctr">
              <a:buNone/>
            </a:pPr>
            <a:r>
              <a:rPr lang="en-US" sz="1250" b="1" dirty="0">
                <a:solidFill>
                  <a:srgbClr val="1FBFB3"/>
                </a:solidFill>
                <a:latin typeface="Calibri" pitchFamily="34" charset="0"/>
                <a:ea typeface="Calibri" pitchFamily="34" charset="-122"/>
                <a:cs typeface="Calibri" pitchFamily="34" charset="-120"/>
              </a:rPr>
              <a:t>PromQL</a:t>
            </a:r>
            <a:endParaRPr lang="en-US" sz="1250" dirty="0"/>
          </a:p>
        </p:txBody>
      </p:sp>
      <p:sp>
        <p:nvSpPr>
          <p:cNvPr id="13" name="Shape 11"/>
          <p:cNvSpPr/>
          <p:nvPr/>
        </p:nvSpPr>
        <p:spPr>
          <a:xfrm>
            <a:off x="4539996" y="4526280"/>
            <a:ext cx="1344168" cy="457200"/>
          </a:xfrm>
          <a:prstGeom prst="roundRect">
            <a:avLst>
              <a:gd name="adj" fmla="val 50000"/>
            </a:avLst>
          </a:prstGeom>
          <a:solidFill>
            <a:srgbClr val="FFFFFF">
              <a:alpha val="12000"/>
            </a:srgbClr>
          </a:solidFill>
          <a:ln w="12700">
            <a:solidFill>
              <a:srgbClr val="1FBFB3"/>
            </a:solidFill>
            <a:prstDash val="solid"/>
          </a:ln>
        </p:spPr>
        <p:txBody>
          <a:bodyPr/>
          <a:lstStyle/>
          <a:p>
            <a:endParaRPr lang="en-US"/>
          </a:p>
        </p:txBody>
      </p:sp>
      <p:sp>
        <p:nvSpPr>
          <p:cNvPr id="14" name="Text 12"/>
          <p:cNvSpPr/>
          <p:nvPr/>
        </p:nvSpPr>
        <p:spPr>
          <a:xfrm>
            <a:off x="4539996" y="4526280"/>
            <a:ext cx="1344168" cy="457200"/>
          </a:xfrm>
          <a:prstGeom prst="rect">
            <a:avLst/>
          </a:prstGeom>
          <a:noFill/>
          <a:ln/>
        </p:spPr>
        <p:txBody>
          <a:bodyPr wrap="square" lIns="0" tIns="0" rIns="0" bIns="0" rtlCol="0" anchor="ctr"/>
          <a:lstStyle/>
          <a:p>
            <a:pPr marL="0" indent="0" algn="ctr">
              <a:buNone/>
            </a:pPr>
            <a:r>
              <a:rPr lang="en-US" sz="1250" b="1" dirty="0">
                <a:solidFill>
                  <a:srgbClr val="1FBFB3"/>
                </a:solidFill>
                <a:latin typeface="Calibri" pitchFamily="34" charset="0"/>
                <a:ea typeface="Calibri" pitchFamily="34" charset="-122"/>
                <a:cs typeface="Calibri" pitchFamily="34" charset="-120"/>
              </a:rPr>
              <a:t>Kubernetes</a:t>
            </a:r>
            <a:endParaRPr lang="en-US" sz="1250" dirty="0"/>
          </a:p>
        </p:txBody>
      </p:sp>
      <p:sp>
        <p:nvSpPr>
          <p:cNvPr id="15" name="Shape 13"/>
          <p:cNvSpPr/>
          <p:nvPr/>
        </p:nvSpPr>
        <p:spPr>
          <a:xfrm>
            <a:off x="6085332" y="4526280"/>
            <a:ext cx="1028700" cy="457200"/>
          </a:xfrm>
          <a:prstGeom prst="roundRect">
            <a:avLst>
              <a:gd name="adj" fmla="val 50000"/>
            </a:avLst>
          </a:prstGeom>
          <a:solidFill>
            <a:srgbClr val="FFFFFF">
              <a:alpha val="12000"/>
            </a:srgbClr>
          </a:solidFill>
          <a:ln w="12700">
            <a:solidFill>
              <a:srgbClr val="1FBFB3"/>
            </a:solidFill>
            <a:prstDash val="solid"/>
          </a:ln>
        </p:spPr>
        <p:txBody>
          <a:bodyPr/>
          <a:lstStyle/>
          <a:p>
            <a:endParaRPr lang="en-US"/>
          </a:p>
        </p:txBody>
      </p:sp>
      <p:sp>
        <p:nvSpPr>
          <p:cNvPr id="16" name="Text 14"/>
          <p:cNvSpPr/>
          <p:nvPr/>
        </p:nvSpPr>
        <p:spPr>
          <a:xfrm>
            <a:off x="6085332" y="4526280"/>
            <a:ext cx="1028700" cy="457200"/>
          </a:xfrm>
          <a:prstGeom prst="rect">
            <a:avLst/>
          </a:prstGeom>
          <a:noFill/>
          <a:ln/>
        </p:spPr>
        <p:txBody>
          <a:bodyPr wrap="square" lIns="0" tIns="0" rIns="0" bIns="0" rtlCol="0" anchor="ctr"/>
          <a:lstStyle/>
          <a:p>
            <a:pPr marL="0" indent="0" algn="ctr">
              <a:buNone/>
            </a:pPr>
            <a:r>
              <a:rPr lang="en-US" sz="1250" b="1" dirty="0">
                <a:solidFill>
                  <a:srgbClr val="1FBFB3"/>
                </a:solidFill>
                <a:latin typeface="Calibri" pitchFamily="34" charset="0"/>
                <a:ea typeface="Calibri" pitchFamily="34" charset="-122"/>
                <a:cs typeface="Calibri" pitchFamily="34" charset="-120"/>
              </a:rPr>
              <a:t>Jenkins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CHƯƠNG TRÌNH</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5 Session trong 8 giờ</a:t>
            </a:r>
            <a:endParaRPr lang="en-US" sz="3000" dirty="0"/>
          </a:p>
        </p:txBody>
      </p:sp>
      <p:sp>
        <p:nvSpPr>
          <p:cNvPr id="4" name="Shape 2"/>
          <p:cNvSpPr/>
          <p:nvPr/>
        </p:nvSpPr>
        <p:spPr>
          <a:xfrm>
            <a:off x="1384630" y="2157267"/>
            <a:ext cx="9930563" cy="530352"/>
          </a:xfrm>
          <a:prstGeom prst="roundRect">
            <a:avLst>
              <a:gd name="adj" fmla="val 9783"/>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Shape 3"/>
          <p:cNvSpPr/>
          <p:nvPr/>
        </p:nvSpPr>
        <p:spPr>
          <a:xfrm>
            <a:off x="1613230" y="2184699"/>
            <a:ext cx="530352" cy="530352"/>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6" name="Text 4"/>
          <p:cNvSpPr/>
          <p:nvPr/>
        </p:nvSpPr>
        <p:spPr>
          <a:xfrm>
            <a:off x="1613230" y="2184699"/>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2390470" y="2231851"/>
            <a:ext cx="8321040" cy="410048"/>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Tổng quan Observability &amp; bộ công cụ Monitoring</a:t>
            </a:r>
            <a:endParaRPr lang="en-US" sz="1700" dirty="0"/>
          </a:p>
        </p:txBody>
      </p:sp>
      <p:sp>
        <p:nvSpPr>
          <p:cNvPr id="8" name="Shape 6"/>
          <p:cNvSpPr/>
          <p:nvPr/>
        </p:nvSpPr>
        <p:spPr>
          <a:xfrm>
            <a:off x="9927993" y="2276139"/>
            <a:ext cx="1234440" cy="365760"/>
          </a:xfrm>
          <a:prstGeom prst="roundRect">
            <a:avLst>
              <a:gd name="adj" fmla="val 50000"/>
            </a:avLst>
          </a:prstGeom>
          <a:solidFill>
            <a:srgbClr val="1FBFB3">
              <a:alpha val="18000"/>
            </a:srgbClr>
          </a:solidFill>
          <a:ln/>
        </p:spPr>
        <p:txBody>
          <a:bodyPr/>
          <a:lstStyle/>
          <a:p>
            <a:endParaRPr lang="en-US"/>
          </a:p>
        </p:txBody>
      </p:sp>
      <p:sp>
        <p:nvSpPr>
          <p:cNvPr id="9" name="Text 7"/>
          <p:cNvSpPr/>
          <p:nvPr/>
        </p:nvSpPr>
        <p:spPr>
          <a:xfrm>
            <a:off x="9927993" y="2276139"/>
            <a:ext cx="1234440" cy="365760"/>
          </a:xfrm>
          <a:prstGeom prst="rect">
            <a:avLst/>
          </a:prstGeom>
          <a:noFill/>
          <a:ln/>
        </p:spPr>
        <p:txBody>
          <a:bodyPr wrap="square" lIns="0" tIns="0" rIns="0" bIns="0" rtlCol="0" anchor="ctr"/>
          <a:lstStyle/>
          <a:p>
            <a:pPr marL="0" indent="0" algn="ctr">
              <a:buNone/>
            </a:pPr>
            <a:r>
              <a:rPr lang="en-US" sz="1300" b="1" dirty="0">
                <a:solidFill>
                  <a:srgbClr val="0E8C82"/>
                </a:solidFill>
                <a:latin typeface="Calibri" pitchFamily="34" charset="0"/>
                <a:ea typeface="Calibri" pitchFamily="34" charset="-122"/>
                <a:cs typeface="Calibri" pitchFamily="34" charset="-120"/>
              </a:rPr>
              <a:t>60'</a:t>
            </a:r>
            <a:endParaRPr lang="en-US" sz="1300" dirty="0"/>
          </a:p>
        </p:txBody>
      </p:sp>
      <p:sp>
        <p:nvSpPr>
          <p:cNvPr id="10" name="Shape 8"/>
          <p:cNvSpPr/>
          <p:nvPr/>
        </p:nvSpPr>
        <p:spPr>
          <a:xfrm>
            <a:off x="1384630" y="2768119"/>
            <a:ext cx="9930563" cy="530352"/>
          </a:xfrm>
          <a:prstGeom prst="roundRect">
            <a:avLst>
              <a:gd name="adj" fmla="val 9783"/>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1" name="Shape 9"/>
          <p:cNvSpPr/>
          <p:nvPr/>
        </p:nvSpPr>
        <p:spPr>
          <a:xfrm>
            <a:off x="1613230" y="2768119"/>
            <a:ext cx="530352" cy="530352"/>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2" name="Text 10"/>
          <p:cNvSpPr/>
          <p:nvPr/>
        </p:nvSpPr>
        <p:spPr>
          <a:xfrm>
            <a:off x="1613230" y="2768119"/>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2372182" y="2843067"/>
            <a:ext cx="8321040" cy="405564"/>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Prometheus + Exporters: cài đặt &amp; scrape metrics</a:t>
            </a:r>
            <a:endParaRPr lang="en-US" sz="1700" dirty="0"/>
          </a:p>
        </p:txBody>
      </p:sp>
      <p:sp>
        <p:nvSpPr>
          <p:cNvPr id="14" name="Shape 12"/>
          <p:cNvSpPr/>
          <p:nvPr/>
        </p:nvSpPr>
        <p:spPr>
          <a:xfrm>
            <a:off x="9927993" y="2859559"/>
            <a:ext cx="1234440" cy="365760"/>
          </a:xfrm>
          <a:prstGeom prst="roundRect">
            <a:avLst>
              <a:gd name="adj" fmla="val 50000"/>
            </a:avLst>
          </a:prstGeom>
          <a:solidFill>
            <a:srgbClr val="1FBFB3">
              <a:alpha val="18000"/>
            </a:srgbClr>
          </a:solidFill>
          <a:ln/>
        </p:spPr>
        <p:txBody>
          <a:bodyPr/>
          <a:lstStyle/>
          <a:p>
            <a:endParaRPr lang="en-US"/>
          </a:p>
        </p:txBody>
      </p:sp>
      <p:sp>
        <p:nvSpPr>
          <p:cNvPr id="15" name="Text 13"/>
          <p:cNvSpPr/>
          <p:nvPr/>
        </p:nvSpPr>
        <p:spPr>
          <a:xfrm>
            <a:off x="9927993" y="2859559"/>
            <a:ext cx="1234440" cy="365760"/>
          </a:xfrm>
          <a:prstGeom prst="rect">
            <a:avLst/>
          </a:prstGeom>
          <a:noFill/>
          <a:ln/>
        </p:spPr>
        <p:txBody>
          <a:bodyPr wrap="square" lIns="0" tIns="0" rIns="0" bIns="0" rtlCol="0" anchor="ctr"/>
          <a:lstStyle/>
          <a:p>
            <a:pPr marL="0" indent="0" algn="ctr">
              <a:buNone/>
            </a:pPr>
            <a:r>
              <a:rPr lang="en-US" sz="1300" b="1" dirty="0">
                <a:solidFill>
                  <a:srgbClr val="0E8C82"/>
                </a:solidFill>
                <a:latin typeface="Calibri" pitchFamily="34" charset="0"/>
                <a:ea typeface="Calibri" pitchFamily="34" charset="-122"/>
                <a:cs typeface="Calibri" pitchFamily="34" charset="-120"/>
              </a:rPr>
              <a:t>90'</a:t>
            </a:r>
            <a:endParaRPr lang="en-US" sz="1300" dirty="0"/>
          </a:p>
        </p:txBody>
      </p:sp>
      <p:sp>
        <p:nvSpPr>
          <p:cNvPr id="16" name="Shape 14"/>
          <p:cNvSpPr/>
          <p:nvPr/>
        </p:nvSpPr>
        <p:spPr>
          <a:xfrm>
            <a:off x="1384630" y="3396368"/>
            <a:ext cx="9930563" cy="530352"/>
          </a:xfrm>
          <a:prstGeom prst="roundRect">
            <a:avLst>
              <a:gd name="adj" fmla="val 9783"/>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7" name="Shape 15"/>
          <p:cNvSpPr/>
          <p:nvPr/>
        </p:nvSpPr>
        <p:spPr>
          <a:xfrm>
            <a:off x="1613230" y="3396368"/>
            <a:ext cx="530352" cy="530352"/>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8" name="Text 16"/>
          <p:cNvSpPr/>
          <p:nvPr/>
        </p:nvSpPr>
        <p:spPr>
          <a:xfrm>
            <a:off x="1613230" y="3396368"/>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2390470" y="3487808"/>
            <a:ext cx="8321040" cy="365760"/>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Grafana + PromQL: query &amp; build dashboard</a:t>
            </a:r>
            <a:endParaRPr lang="en-US" sz="1700" dirty="0"/>
          </a:p>
        </p:txBody>
      </p:sp>
      <p:sp>
        <p:nvSpPr>
          <p:cNvPr id="20" name="Shape 18"/>
          <p:cNvSpPr/>
          <p:nvPr/>
        </p:nvSpPr>
        <p:spPr>
          <a:xfrm>
            <a:off x="9927993" y="3487808"/>
            <a:ext cx="1234440" cy="365760"/>
          </a:xfrm>
          <a:prstGeom prst="roundRect">
            <a:avLst>
              <a:gd name="adj" fmla="val 50000"/>
            </a:avLst>
          </a:prstGeom>
          <a:solidFill>
            <a:srgbClr val="1FBFB3">
              <a:alpha val="18000"/>
            </a:srgbClr>
          </a:solidFill>
          <a:ln/>
        </p:spPr>
        <p:txBody>
          <a:bodyPr/>
          <a:lstStyle/>
          <a:p>
            <a:endParaRPr lang="en-US"/>
          </a:p>
        </p:txBody>
      </p:sp>
      <p:sp>
        <p:nvSpPr>
          <p:cNvPr id="21" name="Text 19"/>
          <p:cNvSpPr/>
          <p:nvPr/>
        </p:nvSpPr>
        <p:spPr>
          <a:xfrm>
            <a:off x="9927993" y="3487808"/>
            <a:ext cx="1234440" cy="365760"/>
          </a:xfrm>
          <a:prstGeom prst="rect">
            <a:avLst/>
          </a:prstGeom>
          <a:noFill/>
          <a:ln/>
        </p:spPr>
        <p:txBody>
          <a:bodyPr wrap="square" lIns="0" tIns="0" rIns="0" bIns="0" rtlCol="0" anchor="ctr"/>
          <a:lstStyle/>
          <a:p>
            <a:pPr marL="0" indent="0" algn="ctr">
              <a:buNone/>
            </a:pPr>
            <a:r>
              <a:rPr lang="en-US" sz="1300" b="1" dirty="0">
                <a:solidFill>
                  <a:srgbClr val="0E8C82"/>
                </a:solidFill>
                <a:latin typeface="Calibri" pitchFamily="34" charset="0"/>
                <a:ea typeface="Calibri" pitchFamily="34" charset="-122"/>
                <a:cs typeface="Calibri" pitchFamily="34" charset="-120"/>
              </a:rPr>
              <a:t>80'</a:t>
            </a:r>
            <a:endParaRPr lang="en-US" sz="1300" dirty="0"/>
          </a:p>
        </p:txBody>
      </p:sp>
      <p:sp>
        <p:nvSpPr>
          <p:cNvPr id="22" name="Shape 20"/>
          <p:cNvSpPr/>
          <p:nvPr/>
        </p:nvSpPr>
        <p:spPr>
          <a:xfrm>
            <a:off x="1344866" y="5043003"/>
            <a:ext cx="9970327" cy="566928"/>
          </a:xfrm>
          <a:prstGeom prst="roundRect">
            <a:avLst>
              <a:gd name="adj" fmla="val 9783"/>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3" name="Shape 21"/>
          <p:cNvSpPr/>
          <p:nvPr/>
        </p:nvSpPr>
        <p:spPr>
          <a:xfrm>
            <a:off x="1573466" y="5043003"/>
            <a:ext cx="530352" cy="530352"/>
          </a:xfrm>
          <a:prstGeom prst="ellipse">
            <a:avLst/>
          </a:prstGeom>
          <a:solidFill>
            <a:srgbClr val="F6A623"/>
          </a:solidFill>
          <a:ln/>
          <a:effectLst>
            <a:outerShdw blurRad="76200" dist="25400" dir="5400000" algn="bl" rotWithShape="0">
              <a:srgbClr val="0A1A28">
                <a:alpha val="25000"/>
              </a:srgbClr>
            </a:outerShdw>
          </a:effectLst>
        </p:spPr>
        <p:txBody>
          <a:bodyPr/>
          <a:lstStyle/>
          <a:p>
            <a:endParaRPr lang="en-US"/>
          </a:p>
        </p:txBody>
      </p:sp>
      <p:sp>
        <p:nvSpPr>
          <p:cNvPr id="24" name="Text 22"/>
          <p:cNvSpPr/>
          <p:nvPr/>
        </p:nvSpPr>
        <p:spPr>
          <a:xfrm>
            <a:off x="1573466" y="5043003"/>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2404893" y="5136592"/>
            <a:ext cx="7508240" cy="406103"/>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Troubleshooting, đọc logs &amp; fix cơ bản (k8s/infra)</a:t>
            </a:r>
            <a:endParaRPr lang="en-US" sz="1700" dirty="0"/>
          </a:p>
        </p:txBody>
      </p:sp>
      <p:sp>
        <p:nvSpPr>
          <p:cNvPr id="26" name="Shape 24"/>
          <p:cNvSpPr/>
          <p:nvPr/>
        </p:nvSpPr>
        <p:spPr>
          <a:xfrm>
            <a:off x="9894163" y="5139820"/>
            <a:ext cx="1234440" cy="365760"/>
          </a:xfrm>
          <a:prstGeom prst="roundRect">
            <a:avLst>
              <a:gd name="adj" fmla="val 50000"/>
            </a:avLst>
          </a:prstGeom>
          <a:solidFill>
            <a:srgbClr val="F6A623">
              <a:alpha val="18000"/>
            </a:srgbClr>
          </a:solidFill>
          <a:ln/>
        </p:spPr>
        <p:txBody>
          <a:bodyPr/>
          <a:lstStyle/>
          <a:p>
            <a:endParaRPr lang="en-US"/>
          </a:p>
        </p:txBody>
      </p:sp>
      <p:sp>
        <p:nvSpPr>
          <p:cNvPr id="27" name="Text 25"/>
          <p:cNvSpPr/>
          <p:nvPr/>
        </p:nvSpPr>
        <p:spPr>
          <a:xfrm>
            <a:off x="9894163" y="5139820"/>
            <a:ext cx="1234440" cy="365760"/>
          </a:xfrm>
          <a:prstGeom prst="rect">
            <a:avLst/>
          </a:prstGeom>
          <a:noFill/>
          <a:ln/>
        </p:spPr>
        <p:txBody>
          <a:bodyPr wrap="square" lIns="0" tIns="0" rIns="0" bIns="0" rtlCol="0" anchor="ctr"/>
          <a:lstStyle/>
          <a:p>
            <a:pPr marL="0" indent="0" algn="ctr">
              <a:buNone/>
            </a:pPr>
            <a:r>
              <a:rPr lang="en-US" sz="1300" b="1" dirty="0">
                <a:solidFill>
                  <a:srgbClr val="C67F0E"/>
                </a:solidFill>
                <a:latin typeface="Calibri" pitchFamily="34" charset="0"/>
                <a:ea typeface="Calibri" pitchFamily="34" charset="-122"/>
                <a:cs typeface="Calibri" pitchFamily="34" charset="-120"/>
              </a:rPr>
              <a:t>90'</a:t>
            </a:r>
            <a:endParaRPr lang="en-US" sz="1300" dirty="0"/>
          </a:p>
        </p:txBody>
      </p:sp>
      <p:sp>
        <p:nvSpPr>
          <p:cNvPr id="28" name="Shape 26"/>
          <p:cNvSpPr/>
          <p:nvPr/>
        </p:nvSpPr>
        <p:spPr>
          <a:xfrm>
            <a:off x="1344866" y="5698143"/>
            <a:ext cx="9970327" cy="566928"/>
          </a:xfrm>
          <a:prstGeom prst="roundRect">
            <a:avLst>
              <a:gd name="adj" fmla="val 9783"/>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9" name="Shape 27"/>
          <p:cNvSpPr/>
          <p:nvPr/>
        </p:nvSpPr>
        <p:spPr>
          <a:xfrm>
            <a:off x="1573466" y="5698143"/>
            <a:ext cx="530352" cy="530352"/>
          </a:xfrm>
          <a:prstGeom prst="ellipse">
            <a:avLst/>
          </a:prstGeom>
          <a:solidFill>
            <a:srgbClr val="F6A623"/>
          </a:solidFill>
          <a:ln/>
          <a:effectLst>
            <a:outerShdw blurRad="76200" dist="25400" dir="5400000" algn="bl" rotWithShape="0">
              <a:srgbClr val="0A1A28">
                <a:alpha val="25000"/>
              </a:srgbClr>
            </a:outerShdw>
          </a:effectLst>
        </p:spPr>
        <p:txBody>
          <a:bodyPr/>
          <a:lstStyle/>
          <a:p>
            <a:endParaRPr lang="en-US"/>
          </a:p>
        </p:txBody>
      </p:sp>
      <p:sp>
        <p:nvSpPr>
          <p:cNvPr id="30" name="Text 28"/>
          <p:cNvSpPr/>
          <p:nvPr/>
        </p:nvSpPr>
        <p:spPr>
          <a:xfrm>
            <a:off x="1573466" y="5698143"/>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2197946" y="5522976"/>
            <a:ext cx="8321040" cy="841248"/>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Tích hợp Test tự động vào Jenkins</a:t>
            </a:r>
            <a:endParaRPr lang="en-US" sz="1700" dirty="0"/>
          </a:p>
        </p:txBody>
      </p:sp>
      <p:sp>
        <p:nvSpPr>
          <p:cNvPr id="32" name="Shape 30"/>
          <p:cNvSpPr/>
          <p:nvPr/>
        </p:nvSpPr>
        <p:spPr>
          <a:xfrm>
            <a:off x="9894163" y="5794960"/>
            <a:ext cx="1234440" cy="365760"/>
          </a:xfrm>
          <a:prstGeom prst="roundRect">
            <a:avLst>
              <a:gd name="adj" fmla="val 50000"/>
            </a:avLst>
          </a:prstGeom>
          <a:solidFill>
            <a:srgbClr val="F6A623">
              <a:alpha val="18000"/>
            </a:srgbClr>
          </a:solidFill>
          <a:ln/>
        </p:spPr>
        <p:txBody>
          <a:bodyPr/>
          <a:lstStyle/>
          <a:p>
            <a:endParaRPr lang="en-US"/>
          </a:p>
        </p:txBody>
      </p:sp>
      <p:sp>
        <p:nvSpPr>
          <p:cNvPr id="33" name="Text 31"/>
          <p:cNvSpPr/>
          <p:nvPr/>
        </p:nvSpPr>
        <p:spPr>
          <a:xfrm>
            <a:off x="9894163" y="5794960"/>
            <a:ext cx="1234440" cy="365760"/>
          </a:xfrm>
          <a:prstGeom prst="rect">
            <a:avLst/>
          </a:prstGeom>
          <a:noFill/>
          <a:ln/>
        </p:spPr>
        <p:txBody>
          <a:bodyPr wrap="square" lIns="0" tIns="0" rIns="0" bIns="0" rtlCol="0" anchor="ctr"/>
          <a:lstStyle/>
          <a:p>
            <a:pPr marL="0" indent="0" algn="ctr">
              <a:buNone/>
            </a:pPr>
            <a:r>
              <a:rPr lang="en-US" sz="1300" b="1" dirty="0">
                <a:solidFill>
                  <a:srgbClr val="C67F0E"/>
                </a:solidFill>
                <a:latin typeface="Calibri" pitchFamily="34" charset="0"/>
                <a:ea typeface="Calibri" pitchFamily="34" charset="-122"/>
                <a:cs typeface="Calibri" pitchFamily="34" charset="-120"/>
              </a:rPr>
              <a:t>90'</a:t>
            </a:r>
            <a:endParaRPr lang="en-US" sz="1300" dirty="0"/>
          </a:p>
        </p:txBody>
      </p:sp>
      <p:sp>
        <p:nvSpPr>
          <p:cNvPr id="35" name="Shape 2">
            <a:extLst>
              <a:ext uri="{FF2B5EF4-FFF2-40B4-BE49-F238E27FC236}">
                <a16:creationId xmlns:a16="http://schemas.microsoft.com/office/drawing/2014/main" id="{6373C1EC-C84E-9219-7432-1DFB24EA3A33}"/>
              </a:ext>
            </a:extLst>
          </p:cNvPr>
          <p:cNvSpPr/>
          <p:nvPr/>
        </p:nvSpPr>
        <p:spPr>
          <a:xfrm>
            <a:off x="833118" y="1252011"/>
            <a:ext cx="10487989" cy="786384"/>
          </a:xfrm>
          <a:prstGeom prst="roundRect">
            <a:avLst>
              <a:gd name="adj" fmla="val 10465"/>
            </a:avLst>
          </a:prstGeom>
          <a:solidFill>
            <a:srgbClr val="EEF4FA"/>
          </a:solidFill>
          <a:ln w="12700">
            <a:solidFill>
              <a:srgbClr val="EEF4FA"/>
            </a:solidFill>
            <a:prstDash val="solid"/>
          </a:ln>
          <a:effectLst>
            <a:outerShdw blurRad="88900" dist="25400" dir="5400000" algn="bl" rotWithShape="0">
              <a:srgbClr val="16305A">
                <a:alpha val="16000"/>
              </a:srgbClr>
            </a:outerShdw>
          </a:effectLst>
        </p:spPr>
        <p:txBody>
          <a:bodyPr/>
          <a:lstStyle/>
          <a:p>
            <a:endParaRPr lang="en-US"/>
          </a:p>
        </p:txBody>
      </p:sp>
      <p:sp>
        <p:nvSpPr>
          <p:cNvPr id="37" name="Text 4">
            <a:extLst>
              <a:ext uri="{FF2B5EF4-FFF2-40B4-BE49-F238E27FC236}">
                <a16:creationId xmlns:a16="http://schemas.microsoft.com/office/drawing/2014/main" id="{029C6984-008C-E239-ED7C-114B221A198A}"/>
              </a:ext>
            </a:extLst>
          </p:cNvPr>
          <p:cNvSpPr/>
          <p:nvPr/>
        </p:nvSpPr>
        <p:spPr>
          <a:xfrm>
            <a:off x="967570" y="1386714"/>
            <a:ext cx="7227145" cy="479386"/>
          </a:xfrm>
          <a:prstGeom prst="rect">
            <a:avLst/>
          </a:prstGeom>
          <a:noFill/>
          <a:ln/>
        </p:spPr>
        <p:txBody>
          <a:bodyPr wrap="square" lIns="0" tIns="0" rIns="0" bIns="0" rtlCol="0" anchor="ctr"/>
          <a:lstStyle/>
          <a:p>
            <a:pPr marL="0" indent="0">
              <a:buNone/>
            </a:pPr>
            <a:r>
              <a:rPr lang="en-US" sz="2400" b="1" dirty="0">
                <a:solidFill>
                  <a:srgbClr val="1F2937"/>
                </a:solidFill>
                <a:latin typeface="Calibri" pitchFamily="34" charset="0"/>
                <a:ea typeface="Calibri" pitchFamily="34" charset="-122"/>
                <a:cs typeface="Calibri" pitchFamily="34" charset="-120"/>
              </a:rPr>
              <a:t>MODULE 9 – Trace and track using GRAFANA</a:t>
            </a:r>
            <a:endParaRPr lang="en-US" sz="2400" b="1" dirty="0"/>
          </a:p>
        </p:txBody>
      </p:sp>
      <p:sp>
        <p:nvSpPr>
          <p:cNvPr id="39" name="Shape 2">
            <a:extLst>
              <a:ext uri="{FF2B5EF4-FFF2-40B4-BE49-F238E27FC236}">
                <a16:creationId xmlns:a16="http://schemas.microsoft.com/office/drawing/2014/main" id="{A5A2939E-C9E0-F8BD-A933-2F92FDCB1A43}"/>
              </a:ext>
            </a:extLst>
          </p:cNvPr>
          <p:cNvSpPr/>
          <p:nvPr/>
        </p:nvSpPr>
        <p:spPr>
          <a:xfrm>
            <a:off x="852005" y="4133306"/>
            <a:ext cx="10487989" cy="786384"/>
          </a:xfrm>
          <a:prstGeom prst="roundRect">
            <a:avLst>
              <a:gd name="adj" fmla="val 10465"/>
            </a:avLst>
          </a:prstGeom>
          <a:solidFill>
            <a:srgbClr val="EEF4FA"/>
          </a:solidFill>
          <a:ln w="12700">
            <a:solidFill>
              <a:srgbClr val="EEF4FA"/>
            </a:solidFill>
            <a:prstDash val="solid"/>
          </a:ln>
          <a:effectLst>
            <a:outerShdw blurRad="88900" dist="25400" dir="5400000" algn="bl" rotWithShape="0">
              <a:srgbClr val="16305A">
                <a:alpha val="16000"/>
              </a:srgbClr>
            </a:outerShdw>
          </a:effectLst>
        </p:spPr>
        <p:txBody>
          <a:bodyPr/>
          <a:lstStyle/>
          <a:p>
            <a:endParaRPr lang="en-US"/>
          </a:p>
        </p:txBody>
      </p:sp>
      <p:sp>
        <p:nvSpPr>
          <p:cNvPr id="41" name="Text 4">
            <a:extLst>
              <a:ext uri="{FF2B5EF4-FFF2-40B4-BE49-F238E27FC236}">
                <a16:creationId xmlns:a16="http://schemas.microsoft.com/office/drawing/2014/main" id="{CEBD5DF6-95B6-DB49-3AC2-20C88BAD660E}"/>
              </a:ext>
            </a:extLst>
          </p:cNvPr>
          <p:cNvSpPr/>
          <p:nvPr/>
        </p:nvSpPr>
        <p:spPr>
          <a:xfrm>
            <a:off x="986457" y="4152863"/>
            <a:ext cx="7227145" cy="479386"/>
          </a:xfrm>
          <a:prstGeom prst="rect">
            <a:avLst/>
          </a:prstGeom>
          <a:noFill/>
          <a:ln/>
        </p:spPr>
        <p:txBody>
          <a:bodyPr wrap="square" lIns="0" tIns="0" rIns="0" bIns="0" rtlCol="0" anchor="ctr"/>
          <a:lstStyle/>
          <a:p>
            <a:pPr marL="0" indent="0">
              <a:buNone/>
            </a:pPr>
            <a:r>
              <a:rPr lang="en-US" sz="2400" b="1" dirty="0">
                <a:solidFill>
                  <a:srgbClr val="1F2937"/>
                </a:solidFill>
                <a:latin typeface="Calibri" pitchFamily="34" charset="0"/>
                <a:ea typeface="Calibri" pitchFamily="34" charset="-122"/>
                <a:cs typeface="Calibri" pitchFamily="34" charset="-120"/>
              </a:rPr>
              <a:t>MODULE 10 – Trouble shooting</a:t>
            </a:r>
            <a:endParaRPr lang="en-US"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MỤC TIÊU</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Sau buổi học bạn sẽ làm được</a:t>
            </a:r>
            <a:endParaRPr lang="en-US" sz="3000" dirty="0"/>
          </a:p>
        </p:txBody>
      </p:sp>
      <p:sp>
        <p:nvSpPr>
          <p:cNvPr id="4" name="Shape 2"/>
          <p:cNvSpPr/>
          <p:nvPr/>
        </p:nvSpPr>
        <p:spPr>
          <a:xfrm>
            <a:off x="548640" y="1572768"/>
            <a:ext cx="3529584" cy="1700784"/>
          </a:xfrm>
          <a:prstGeom prst="roundRect">
            <a:avLst>
              <a:gd name="adj" fmla="val 4839"/>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Shape 3"/>
          <p:cNvSpPr/>
          <p:nvPr/>
        </p:nvSpPr>
        <p:spPr>
          <a:xfrm>
            <a:off x="768096" y="1792224"/>
            <a:ext cx="548640" cy="54864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6" name="Text 4"/>
          <p:cNvSpPr/>
          <p:nvPr/>
        </p:nvSpPr>
        <p:spPr>
          <a:xfrm>
            <a:off x="768096" y="1792224"/>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7" name="Text 5"/>
          <p:cNvSpPr/>
          <p:nvPr/>
        </p:nvSpPr>
        <p:spPr>
          <a:xfrm>
            <a:off x="1463040" y="1810512"/>
            <a:ext cx="2478024" cy="457200"/>
          </a:xfrm>
          <a:prstGeom prst="rect">
            <a:avLst/>
          </a:prstGeom>
          <a:noFill/>
          <a:ln/>
        </p:spPr>
        <p:txBody>
          <a:bodyPr wrap="square" lIns="0" tIns="0" rIns="0" bIns="0" rtlCol="0" anchor="ctr"/>
          <a:lstStyle/>
          <a:p>
            <a:pPr marL="0" indent="0">
              <a:buNone/>
            </a:pPr>
            <a:r>
              <a:rPr lang="en-US" sz="1600" b="1" dirty="0">
                <a:solidFill>
                  <a:srgbClr val="1A2B36"/>
                </a:solidFill>
                <a:latin typeface="Calibri" pitchFamily="34" charset="0"/>
                <a:ea typeface="Calibri" pitchFamily="34" charset="-122"/>
                <a:cs typeface="Calibri" pitchFamily="34" charset="-120"/>
              </a:rPr>
              <a:t>Hiểu Observability</a:t>
            </a:r>
            <a:endParaRPr lang="en-US" sz="1600" dirty="0"/>
          </a:p>
        </p:txBody>
      </p:sp>
      <p:sp>
        <p:nvSpPr>
          <p:cNvPr id="8" name="Text 6"/>
          <p:cNvSpPr/>
          <p:nvPr/>
        </p:nvSpPr>
        <p:spPr>
          <a:xfrm>
            <a:off x="804672" y="2414016"/>
            <a:ext cx="3072384" cy="749808"/>
          </a:xfrm>
          <a:prstGeom prst="rect">
            <a:avLst/>
          </a:prstGeom>
          <a:noFill/>
          <a:ln/>
        </p:spPr>
        <p:txBody>
          <a:bodyPr wrap="square" lIns="0" tIns="0" rIns="0" bIns="0" rtlCol="0" anchor="t"/>
          <a:lstStyle/>
          <a:p>
            <a:pPr marL="0" indent="0">
              <a:lnSpc>
                <a:spcPct val="102000"/>
              </a:lnSpc>
              <a:buNone/>
            </a:pPr>
            <a:r>
              <a:rPr lang="en-US" sz="1250" dirty="0">
                <a:solidFill>
                  <a:srgbClr val="5D6E78"/>
                </a:solidFill>
                <a:latin typeface="Calibri" pitchFamily="34" charset="0"/>
                <a:ea typeface="Calibri" pitchFamily="34" charset="-122"/>
                <a:cs typeface="Calibri" pitchFamily="34" charset="-120"/>
              </a:rPr>
              <a:t>Phân biệt Metrics – Logs – Traces và vai trò từng nhóm tool.</a:t>
            </a:r>
            <a:endParaRPr lang="en-US" sz="1250" dirty="0"/>
          </a:p>
        </p:txBody>
      </p:sp>
      <p:sp>
        <p:nvSpPr>
          <p:cNvPr id="9" name="Shape 7"/>
          <p:cNvSpPr/>
          <p:nvPr/>
        </p:nvSpPr>
        <p:spPr>
          <a:xfrm>
            <a:off x="4334256" y="1572768"/>
            <a:ext cx="3529584" cy="1700784"/>
          </a:xfrm>
          <a:prstGeom prst="roundRect">
            <a:avLst>
              <a:gd name="adj" fmla="val 4839"/>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0" name="Shape 8"/>
          <p:cNvSpPr/>
          <p:nvPr/>
        </p:nvSpPr>
        <p:spPr>
          <a:xfrm>
            <a:off x="4553712" y="1792224"/>
            <a:ext cx="548640" cy="54864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1" name="Text 9"/>
          <p:cNvSpPr/>
          <p:nvPr/>
        </p:nvSpPr>
        <p:spPr>
          <a:xfrm>
            <a:off x="4553712" y="1792224"/>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5248656" y="1810512"/>
            <a:ext cx="2478024" cy="457200"/>
          </a:xfrm>
          <a:prstGeom prst="rect">
            <a:avLst/>
          </a:prstGeom>
          <a:noFill/>
          <a:ln/>
        </p:spPr>
        <p:txBody>
          <a:bodyPr wrap="square" lIns="0" tIns="0" rIns="0" bIns="0" rtlCol="0" anchor="ctr"/>
          <a:lstStyle/>
          <a:p>
            <a:pPr marL="0" indent="0">
              <a:buNone/>
            </a:pPr>
            <a:r>
              <a:rPr lang="en-US" sz="1600" b="1" dirty="0">
                <a:solidFill>
                  <a:srgbClr val="1A2B36"/>
                </a:solidFill>
                <a:latin typeface="Calibri" pitchFamily="34" charset="0"/>
                <a:ea typeface="Calibri" pitchFamily="34" charset="-122"/>
                <a:cs typeface="Calibri" pitchFamily="34" charset="-120"/>
              </a:rPr>
              <a:t>Dựng Prometheus</a:t>
            </a:r>
            <a:endParaRPr lang="en-US" sz="1600" dirty="0"/>
          </a:p>
        </p:txBody>
      </p:sp>
      <p:sp>
        <p:nvSpPr>
          <p:cNvPr id="13" name="Text 11"/>
          <p:cNvSpPr/>
          <p:nvPr/>
        </p:nvSpPr>
        <p:spPr>
          <a:xfrm>
            <a:off x="4590288" y="2414016"/>
            <a:ext cx="3072384" cy="749808"/>
          </a:xfrm>
          <a:prstGeom prst="rect">
            <a:avLst/>
          </a:prstGeom>
          <a:noFill/>
          <a:ln/>
        </p:spPr>
        <p:txBody>
          <a:bodyPr wrap="square" lIns="0" tIns="0" rIns="0" bIns="0" rtlCol="0" anchor="t"/>
          <a:lstStyle/>
          <a:p>
            <a:pPr marL="0" indent="0">
              <a:lnSpc>
                <a:spcPct val="102000"/>
              </a:lnSpc>
              <a:buNone/>
            </a:pPr>
            <a:r>
              <a:rPr lang="en-US" sz="1250" dirty="0">
                <a:solidFill>
                  <a:srgbClr val="5D6E78"/>
                </a:solidFill>
                <a:latin typeface="Calibri" pitchFamily="34" charset="0"/>
                <a:ea typeface="Calibri" pitchFamily="34" charset="-122"/>
                <a:cs typeface="Calibri" pitchFamily="34" charset="-120"/>
              </a:rPr>
              <a:t>Cài Prometheus + Node/DB Exporter, cấu hình scrape metrics.</a:t>
            </a:r>
            <a:endParaRPr lang="en-US" sz="1250" dirty="0"/>
          </a:p>
        </p:txBody>
      </p:sp>
      <p:sp>
        <p:nvSpPr>
          <p:cNvPr id="14" name="Shape 12"/>
          <p:cNvSpPr/>
          <p:nvPr/>
        </p:nvSpPr>
        <p:spPr>
          <a:xfrm>
            <a:off x="8119872" y="1572768"/>
            <a:ext cx="3529584" cy="1700784"/>
          </a:xfrm>
          <a:prstGeom prst="roundRect">
            <a:avLst>
              <a:gd name="adj" fmla="val 4839"/>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5" name="Shape 13"/>
          <p:cNvSpPr/>
          <p:nvPr/>
        </p:nvSpPr>
        <p:spPr>
          <a:xfrm>
            <a:off x="8339328" y="1792224"/>
            <a:ext cx="548640" cy="54864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6" name="Text 14"/>
          <p:cNvSpPr/>
          <p:nvPr/>
        </p:nvSpPr>
        <p:spPr>
          <a:xfrm>
            <a:off x="8339328" y="1792224"/>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9034272" y="1810512"/>
            <a:ext cx="2478024" cy="457200"/>
          </a:xfrm>
          <a:prstGeom prst="rect">
            <a:avLst/>
          </a:prstGeom>
          <a:noFill/>
          <a:ln/>
        </p:spPr>
        <p:txBody>
          <a:bodyPr wrap="square" lIns="0" tIns="0" rIns="0" bIns="0" rtlCol="0" anchor="ctr"/>
          <a:lstStyle/>
          <a:p>
            <a:pPr marL="0" indent="0">
              <a:buNone/>
            </a:pPr>
            <a:r>
              <a:rPr lang="en-US" sz="1600" b="1" dirty="0">
                <a:solidFill>
                  <a:srgbClr val="1A2B36"/>
                </a:solidFill>
                <a:latin typeface="Calibri" pitchFamily="34" charset="0"/>
                <a:ea typeface="Calibri" pitchFamily="34" charset="-122"/>
                <a:cs typeface="Calibri" pitchFamily="34" charset="-120"/>
              </a:rPr>
              <a:t>PromQL &amp; Grafana</a:t>
            </a:r>
            <a:endParaRPr lang="en-US" sz="1600" dirty="0"/>
          </a:p>
        </p:txBody>
      </p:sp>
      <p:sp>
        <p:nvSpPr>
          <p:cNvPr id="18" name="Text 16"/>
          <p:cNvSpPr/>
          <p:nvPr/>
        </p:nvSpPr>
        <p:spPr>
          <a:xfrm>
            <a:off x="8375904" y="2414016"/>
            <a:ext cx="3072384" cy="749808"/>
          </a:xfrm>
          <a:prstGeom prst="rect">
            <a:avLst/>
          </a:prstGeom>
          <a:noFill/>
          <a:ln/>
        </p:spPr>
        <p:txBody>
          <a:bodyPr wrap="square" lIns="0" tIns="0" rIns="0" bIns="0" rtlCol="0" anchor="t"/>
          <a:lstStyle/>
          <a:p>
            <a:pPr marL="0" indent="0">
              <a:lnSpc>
                <a:spcPct val="102000"/>
              </a:lnSpc>
              <a:buNone/>
            </a:pPr>
            <a:r>
              <a:rPr lang="en-US" sz="1250" dirty="0">
                <a:solidFill>
                  <a:srgbClr val="5D6E78"/>
                </a:solidFill>
                <a:latin typeface="Calibri" pitchFamily="34" charset="0"/>
                <a:ea typeface="Calibri" pitchFamily="34" charset="-122"/>
                <a:cs typeface="Calibri" pitchFamily="34" charset="-120"/>
              </a:rPr>
              <a:t>Viết truy vấn PromQL và build dashboard trực quan.</a:t>
            </a:r>
            <a:endParaRPr lang="en-US" sz="1250" dirty="0"/>
          </a:p>
        </p:txBody>
      </p:sp>
      <p:sp>
        <p:nvSpPr>
          <p:cNvPr id="19" name="Shape 17"/>
          <p:cNvSpPr/>
          <p:nvPr/>
        </p:nvSpPr>
        <p:spPr>
          <a:xfrm>
            <a:off x="548640" y="3547872"/>
            <a:ext cx="3529584" cy="1700784"/>
          </a:xfrm>
          <a:prstGeom prst="roundRect">
            <a:avLst>
              <a:gd name="adj" fmla="val 4839"/>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0" name="Shape 18"/>
          <p:cNvSpPr/>
          <p:nvPr/>
        </p:nvSpPr>
        <p:spPr>
          <a:xfrm>
            <a:off x="768096" y="3767328"/>
            <a:ext cx="548640" cy="548640"/>
          </a:xfrm>
          <a:prstGeom prst="ellipse">
            <a:avLst/>
          </a:prstGeom>
          <a:solidFill>
            <a:srgbClr val="F6A623"/>
          </a:solidFill>
          <a:ln/>
          <a:effectLst>
            <a:outerShdw blurRad="76200" dist="25400" dir="5400000" algn="bl" rotWithShape="0">
              <a:srgbClr val="0A1A28">
                <a:alpha val="25000"/>
              </a:srgbClr>
            </a:outerShdw>
          </a:effectLst>
        </p:spPr>
        <p:txBody>
          <a:bodyPr/>
          <a:lstStyle/>
          <a:p>
            <a:endParaRPr lang="en-US"/>
          </a:p>
        </p:txBody>
      </p:sp>
      <p:sp>
        <p:nvSpPr>
          <p:cNvPr id="21" name="Text 19"/>
          <p:cNvSpPr/>
          <p:nvPr/>
        </p:nvSpPr>
        <p:spPr>
          <a:xfrm>
            <a:off x="768096" y="3767328"/>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1463040" y="3785616"/>
            <a:ext cx="2478024" cy="457200"/>
          </a:xfrm>
          <a:prstGeom prst="rect">
            <a:avLst/>
          </a:prstGeom>
          <a:noFill/>
          <a:ln/>
        </p:spPr>
        <p:txBody>
          <a:bodyPr wrap="square" lIns="0" tIns="0" rIns="0" bIns="0" rtlCol="0" anchor="ctr"/>
          <a:lstStyle/>
          <a:p>
            <a:pPr marL="0" indent="0">
              <a:buNone/>
            </a:pPr>
            <a:r>
              <a:rPr lang="en-US" sz="1600" b="1" dirty="0">
                <a:solidFill>
                  <a:srgbClr val="1A2B36"/>
                </a:solidFill>
                <a:latin typeface="Calibri" pitchFamily="34" charset="0"/>
                <a:ea typeface="Calibri" pitchFamily="34" charset="-122"/>
                <a:cs typeface="Calibri" pitchFamily="34" charset="-120"/>
              </a:rPr>
              <a:t>Troubleshoot</a:t>
            </a:r>
            <a:endParaRPr lang="en-US" sz="1600" dirty="0"/>
          </a:p>
        </p:txBody>
      </p:sp>
      <p:sp>
        <p:nvSpPr>
          <p:cNvPr id="23" name="Text 21"/>
          <p:cNvSpPr/>
          <p:nvPr/>
        </p:nvSpPr>
        <p:spPr>
          <a:xfrm>
            <a:off x="804672" y="4389120"/>
            <a:ext cx="3072384" cy="749808"/>
          </a:xfrm>
          <a:prstGeom prst="rect">
            <a:avLst/>
          </a:prstGeom>
          <a:noFill/>
          <a:ln/>
        </p:spPr>
        <p:txBody>
          <a:bodyPr wrap="square" lIns="0" tIns="0" rIns="0" bIns="0" rtlCol="0" anchor="t"/>
          <a:lstStyle/>
          <a:p>
            <a:pPr marL="0" indent="0">
              <a:lnSpc>
                <a:spcPct val="102000"/>
              </a:lnSpc>
              <a:buNone/>
            </a:pPr>
            <a:r>
              <a:rPr lang="en-US" sz="1250" dirty="0">
                <a:solidFill>
                  <a:srgbClr val="5D6E78"/>
                </a:solidFill>
                <a:latin typeface="Calibri" pitchFamily="34" charset="0"/>
                <a:ea typeface="Calibri" pitchFamily="34" charset="-122"/>
                <a:cs typeface="Calibri" pitchFamily="34" charset="-120"/>
              </a:rPr>
              <a:t>Đọc log, khoanh vùng lỗi, áp dụng quy trình &amp; fix cơ bản.</a:t>
            </a:r>
            <a:endParaRPr lang="en-US" sz="1250" dirty="0"/>
          </a:p>
        </p:txBody>
      </p:sp>
      <p:sp>
        <p:nvSpPr>
          <p:cNvPr id="24" name="Shape 22"/>
          <p:cNvSpPr/>
          <p:nvPr/>
        </p:nvSpPr>
        <p:spPr>
          <a:xfrm>
            <a:off x="4334256" y="3547872"/>
            <a:ext cx="3529584" cy="1700784"/>
          </a:xfrm>
          <a:prstGeom prst="roundRect">
            <a:avLst>
              <a:gd name="adj" fmla="val 4839"/>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5" name="Shape 23"/>
          <p:cNvSpPr/>
          <p:nvPr/>
        </p:nvSpPr>
        <p:spPr>
          <a:xfrm>
            <a:off x="4553712" y="3767328"/>
            <a:ext cx="548640" cy="548640"/>
          </a:xfrm>
          <a:prstGeom prst="ellipse">
            <a:avLst/>
          </a:prstGeom>
          <a:solidFill>
            <a:srgbClr val="F6A623"/>
          </a:solidFill>
          <a:ln/>
          <a:effectLst>
            <a:outerShdw blurRad="76200" dist="25400" dir="5400000" algn="bl" rotWithShape="0">
              <a:srgbClr val="0A1A28">
                <a:alpha val="25000"/>
              </a:srgbClr>
            </a:outerShdw>
          </a:effectLst>
        </p:spPr>
        <p:txBody>
          <a:bodyPr/>
          <a:lstStyle/>
          <a:p>
            <a:endParaRPr lang="en-US"/>
          </a:p>
        </p:txBody>
      </p:sp>
      <p:sp>
        <p:nvSpPr>
          <p:cNvPr id="26" name="Text 24"/>
          <p:cNvSpPr/>
          <p:nvPr/>
        </p:nvSpPr>
        <p:spPr>
          <a:xfrm>
            <a:off x="4553712" y="3767328"/>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27" name="Text 25"/>
          <p:cNvSpPr/>
          <p:nvPr/>
        </p:nvSpPr>
        <p:spPr>
          <a:xfrm>
            <a:off x="5248656" y="3785616"/>
            <a:ext cx="2478024" cy="457200"/>
          </a:xfrm>
          <a:prstGeom prst="rect">
            <a:avLst/>
          </a:prstGeom>
          <a:noFill/>
          <a:ln/>
        </p:spPr>
        <p:txBody>
          <a:bodyPr wrap="square" lIns="0" tIns="0" rIns="0" bIns="0" rtlCol="0" anchor="ctr"/>
          <a:lstStyle/>
          <a:p>
            <a:pPr marL="0" indent="0">
              <a:buNone/>
            </a:pPr>
            <a:r>
              <a:rPr lang="en-US" sz="1600" b="1" dirty="0">
                <a:solidFill>
                  <a:srgbClr val="1A2B36"/>
                </a:solidFill>
                <a:latin typeface="Calibri" pitchFamily="34" charset="0"/>
                <a:ea typeface="Calibri" pitchFamily="34" charset="-122"/>
                <a:cs typeface="Calibri" pitchFamily="34" charset="-120"/>
              </a:rPr>
              <a:t>Test trong CI/CD</a:t>
            </a:r>
            <a:endParaRPr lang="en-US" sz="1600" dirty="0"/>
          </a:p>
        </p:txBody>
      </p:sp>
      <p:sp>
        <p:nvSpPr>
          <p:cNvPr id="28" name="Text 26"/>
          <p:cNvSpPr/>
          <p:nvPr/>
        </p:nvSpPr>
        <p:spPr>
          <a:xfrm>
            <a:off x="4590288" y="4389120"/>
            <a:ext cx="3072384" cy="749808"/>
          </a:xfrm>
          <a:prstGeom prst="rect">
            <a:avLst/>
          </a:prstGeom>
          <a:noFill/>
          <a:ln/>
        </p:spPr>
        <p:txBody>
          <a:bodyPr wrap="square" lIns="0" tIns="0" rIns="0" bIns="0" rtlCol="0" anchor="t"/>
          <a:lstStyle/>
          <a:p>
            <a:pPr marL="0" indent="0">
              <a:lnSpc>
                <a:spcPct val="102000"/>
              </a:lnSpc>
              <a:buNone/>
            </a:pPr>
            <a:r>
              <a:rPr lang="en-US" sz="1250" dirty="0">
                <a:solidFill>
                  <a:srgbClr val="5D6E78"/>
                </a:solidFill>
                <a:latin typeface="Calibri" pitchFamily="34" charset="0"/>
                <a:ea typeface="Calibri" pitchFamily="34" charset="-122"/>
                <a:cs typeface="Calibri" pitchFamily="34" charset="-120"/>
              </a:rPr>
              <a:t>Tích hợp Selenium / JUnit / pytest vào pipeline Jenkins.</a:t>
            </a:r>
            <a:endParaRPr lang="en-US" sz="1250" dirty="0"/>
          </a:p>
        </p:txBody>
      </p:sp>
      <p:sp>
        <p:nvSpPr>
          <p:cNvPr id="29" name="Shape 27"/>
          <p:cNvSpPr/>
          <p:nvPr/>
        </p:nvSpPr>
        <p:spPr>
          <a:xfrm>
            <a:off x="8119872" y="3547872"/>
            <a:ext cx="3529584" cy="1700784"/>
          </a:xfrm>
          <a:prstGeom prst="roundRect">
            <a:avLst>
              <a:gd name="adj" fmla="val 4839"/>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30" name="Shape 28"/>
          <p:cNvSpPr/>
          <p:nvPr/>
        </p:nvSpPr>
        <p:spPr>
          <a:xfrm>
            <a:off x="8339328" y="3767328"/>
            <a:ext cx="548640" cy="548640"/>
          </a:xfrm>
          <a:prstGeom prst="ellipse">
            <a:avLst/>
          </a:prstGeom>
          <a:solidFill>
            <a:srgbClr val="F6A623"/>
          </a:solidFill>
          <a:ln/>
          <a:effectLst>
            <a:outerShdw blurRad="76200" dist="25400" dir="5400000" algn="bl" rotWithShape="0">
              <a:srgbClr val="0A1A28">
                <a:alpha val="25000"/>
              </a:srgbClr>
            </a:outerShdw>
          </a:effectLst>
        </p:spPr>
        <p:txBody>
          <a:bodyPr/>
          <a:lstStyle/>
          <a:p>
            <a:endParaRPr lang="en-US"/>
          </a:p>
        </p:txBody>
      </p:sp>
      <p:sp>
        <p:nvSpPr>
          <p:cNvPr id="31" name="Text 29"/>
          <p:cNvSpPr/>
          <p:nvPr/>
        </p:nvSpPr>
        <p:spPr>
          <a:xfrm>
            <a:off x="8339328" y="3767328"/>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t>
            </a:r>
            <a:endParaRPr lang="en-US" sz="1400" dirty="0"/>
          </a:p>
        </p:txBody>
      </p:sp>
      <p:sp>
        <p:nvSpPr>
          <p:cNvPr id="32" name="Text 30"/>
          <p:cNvSpPr/>
          <p:nvPr/>
        </p:nvSpPr>
        <p:spPr>
          <a:xfrm>
            <a:off x="9034272" y="3785616"/>
            <a:ext cx="2478024" cy="457200"/>
          </a:xfrm>
          <a:prstGeom prst="rect">
            <a:avLst/>
          </a:prstGeom>
          <a:noFill/>
          <a:ln/>
        </p:spPr>
        <p:txBody>
          <a:bodyPr wrap="square" lIns="0" tIns="0" rIns="0" bIns="0" rtlCol="0" anchor="ctr"/>
          <a:lstStyle/>
          <a:p>
            <a:pPr marL="0" indent="0">
              <a:buNone/>
            </a:pPr>
            <a:r>
              <a:rPr lang="en-US" sz="1600" b="1" dirty="0">
                <a:solidFill>
                  <a:srgbClr val="1A2B36"/>
                </a:solidFill>
                <a:latin typeface="Calibri" pitchFamily="34" charset="0"/>
                <a:ea typeface="Calibri" pitchFamily="34" charset="-122"/>
                <a:cs typeface="Calibri" pitchFamily="34" charset="-120"/>
              </a:rPr>
              <a:t>Dùng AI hỗ trợ</a:t>
            </a:r>
            <a:endParaRPr lang="en-US" sz="1600" dirty="0"/>
          </a:p>
        </p:txBody>
      </p:sp>
      <p:sp>
        <p:nvSpPr>
          <p:cNvPr id="33" name="Text 31"/>
          <p:cNvSpPr/>
          <p:nvPr/>
        </p:nvSpPr>
        <p:spPr>
          <a:xfrm>
            <a:off x="8375904" y="4389120"/>
            <a:ext cx="3072384" cy="749808"/>
          </a:xfrm>
          <a:prstGeom prst="rect">
            <a:avLst/>
          </a:prstGeom>
          <a:noFill/>
          <a:ln/>
        </p:spPr>
        <p:txBody>
          <a:bodyPr wrap="square" lIns="0" tIns="0" rIns="0" bIns="0" rtlCol="0" anchor="t"/>
          <a:lstStyle/>
          <a:p>
            <a:pPr marL="0" indent="0">
              <a:lnSpc>
                <a:spcPct val="102000"/>
              </a:lnSpc>
              <a:buNone/>
            </a:pPr>
            <a:r>
              <a:rPr lang="en-US" sz="1250" dirty="0">
                <a:solidFill>
                  <a:srgbClr val="5D6E78"/>
                </a:solidFill>
                <a:latin typeface="Calibri" pitchFamily="34" charset="0"/>
                <a:ea typeface="Calibri" pitchFamily="34" charset="-122"/>
                <a:cs typeface="Calibri" pitchFamily="34" charset="-120"/>
              </a:rPr>
              <a:t>Giải thích PromQL, sinh test case, tăng tốc chẩn đoán.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CHUẨN BỊ</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Yêu cầu trước buổi học</a:t>
            </a:r>
            <a:endParaRPr lang="en-US" sz="3000" dirty="0"/>
          </a:p>
        </p:txBody>
      </p:sp>
      <p:sp>
        <p:nvSpPr>
          <p:cNvPr id="4" name="Shape 2"/>
          <p:cNvSpPr/>
          <p:nvPr/>
        </p:nvSpPr>
        <p:spPr>
          <a:xfrm>
            <a:off x="548640" y="1600200"/>
            <a:ext cx="6766560"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Text 3"/>
          <p:cNvSpPr/>
          <p:nvPr/>
        </p:nvSpPr>
        <p:spPr>
          <a:xfrm>
            <a:off x="777240" y="1600200"/>
            <a:ext cx="2148840" cy="749808"/>
          </a:xfrm>
          <a:prstGeom prst="rect">
            <a:avLst/>
          </a:prstGeom>
          <a:noFill/>
          <a:ln/>
        </p:spPr>
        <p:txBody>
          <a:bodyPr wrap="square" lIns="0" tIns="0" rIns="0" bIns="0" rtlCol="0" anchor="ctr"/>
          <a:lstStyle/>
          <a:p>
            <a:pPr marL="0" indent="0">
              <a:buNone/>
            </a:pPr>
            <a:r>
              <a:rPr lang="en-US" sz="1450" b="1" dirty="0">
                <a:solidFill>
                  <a:srgbClr val="0E8C82"/>
                </a:solidFill>
                <a:latin typeface="Calibri" pitchFamily="34" charset="0"/>
                <a:ea typeface="Calibri" pitchFamily="34" charset="-122"/>
                <a:cs typeface="Calibri" pitchFamily="34" charset="-120"/>
              </a:rPr>
              <a:t>Máy</a:t>
            </a:r>
            <a:endParaRPr lang="en-US" sz="1450" dirty="0"/>
          </a:p>
        </p:txBody>
      </p:sp>
      <p:sp>
        <p:nvSpPr>
          <p:cNvPr id="6" name="Text 4"/>
          <p:cNvSpPr/>
          <p:nvPr/>
        </p:nvSpPr>
        <p:spPr>
          <a:xfrm>
            <a:off x="2926080" y="1600200"/>
            <a:ext cx="4206240" cy="749808"/>
          </a:xfrm>
          <a:prstGeom prst="rect">
            <a:avLst/>
          </a:prstGeom>
          <a:noFill/>
          <a:ln/>
        </p:spPr>
        <p:txBody>
          <a:bodyPr wrap="square" lIns="0" tIns="0" rIns="0" bIns="0" rtlCol="0" anchor="ctr"/>
          <a:lstStyle/>
          <a:p>
            <a:pPr marL="0" indent="0">
              <a:buNone/>
            </a:pPr>
            <a:r>
              <a:rPr lang="en-US" sz="1350" dirty="0">
                <a:solidFill>
                  <a:srgbClr val="1A2B36"/>
                </a:solidFill>
                <a:latin typeface="Calibri" pitchFamily="34" charset="0"/>
                <a:ea typeface="Calibri" pitchFamily="34" charset="-122"/>
                <a:cs typeface="Calibri" pitchFamily="34" charset="-120"/>
              </a:rPr>
              <a:t>RAM ≥ 8GB, trống ≥ 15GB disk</a:t>
            </a:r>
            <a:endParaRPr lang="en-US" sz="1350" dirty="0"/>
          </a:p>
        </p:txBody>
      </p:sp>
      <p:sp>
        <p:nvSpPr>
          <p:cNvPr id="7" name="Shape 5"/>
          <p:cNvSpPr/>
          <p:nvPr/>
        </p:nvSpPr>
        <p:spPr>
          <a:xfrm>
            <a:off x="548640" y="2459736"/>
            <a:ext cx="6766560"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8" name="Text 6"/>
          <p:cNvSpPr/>
          <p:nvPr/>
        </p:nvSpPr>
        <p:spPr>
          <a:xfrm>
            <a:off x="777240" y="2459736"/>
            <a:ext cx="2148840" cy="749808"/>
          </a:xfrm>
          <a:prstGeom prst="rect">
            <a:avLst/>
          </a:prstGeom>
          <a:noFill/>
          <a:ln/>
        </p:spPr>
        <p:txBody>
          <a:bodyPr wrap="square" lIns="0" tIns="0" rIns="0" bIns="0" rtlCol="0" anchor="ctr"/>
          <a:lstStyle/>
          <a:p>
            <a:pPr marL="0" indent="0">
              <a:buNone/>
            </a:pPr>
            <a:r>
              <a:rPr lang="en-US" sz="1450" b="1" dirty="0">
                <a:solidFill>
                  <a:srgbClr val="0E8C82"/>
                </a:solidFill>
                <a:latin typeface="Calibri" pitchFamily="34" charset="0"/>
                <a:ea typeface="Calibri" pitchFamily="34" charset="-122"/>
                <a:cs typeface="Calibri" pitchFamily="34" charset="-120"/>
              </a:rPr>
              <a:t>Phần mềm</a:t>
            </a:r>
            <a:endParaRPr lang="en-US" sz="1450" dirty="0"/>
          </a:p>
        </p:txBody>
      </p:sp>
      <p:sp>
        <p:nvSpPr>
          <p:cNvPr id="9" name="Text 7"/>
          <p:cNvSpPr/>
          <p:nvPr/>
        </p:nvSpPr>
        <p:spPr>
          <a:xfrm>
            <a:off x="2926080" y="2459736"/>
            <a:ext cx="4206240" cy="749808"/>
          </a:xfrm>
          <a:prstGeom prst="rect">
            <a:avLst/>
          </a:prstGeom>
          <a:noFill/>
          <a:ln/>
        </p:spPr>
        <p:txBody>
          <a:bodyPr wrap="square" lIns="0" tIns="0" rIns="0" bIns="0" rtlCol="0" anchor="ctr"/>
          <a:lstStyle/>
          <a:p>
            <a:pPr marL="0" indent="0">
              <a:buNone/>
            </a:pPr>
            <a:r>
              <a:rPr lang="en-US" sz="1350" dirty="0">
                <a:solidFill>
                  <a:srgbClr val="1A2B36"/>
                </a:solidFill>
                <a:latin typeface="Calibri" pitchFamily="34" charset="0"/>
                <a:ea typeface="Calibri" pitchFamily="34" charset="-122"/>
                <a:cs typeface="Calibri" pitchFamily="34" charset="-120"/>
              </a:rPr>
              <a:t>Docker + Docker Compose, kubectl, Git, VS Code</a:t>
            </a:r>
            <a:endParaRPr lang="en-US" sz="1350" dirty="0"/>
          </a:p>
        </p:txBody>
      </p:sp>
      <p:sp>
        <p:nvSpPr>
          <p:cNvPr id="10" name="Shape 8"/>
          <p:cNvSpPr/>
          <p:nvPr/>
        </p:nvSpPr>
        <p:spPr>
          <a:xfrm>
            <a:off x="548640" y="3319272"/>
            <a:ext cx="6766560"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1" name="Text 9"/>
          <p:cNvSpPr/>
          <p:nvPr/>
        </p:nvSpPr>
        <p:spPr>
          <a:xfrm>
            <a:off x="777240" y="3319272"/>
            <a:ext cx="2148840" cy="749808"/>
          </a:xfrm>
          <a:prstGeom prst="rect">
            <a:avLst/>
          </a:prstGeom>
          <a:noFill/>
          <a:ln/>
        </p:spPr>
        <p:txBody>
          <a:bodyPr wrap="square" lIns="0" tIns="0" rIns="0" bIns="0" rtlCol="0" anchor="ctr"/>
          <a:lstStyle/>
          <a:p>
            <a:pPr marL="0" indent="0">
              <a:buNone/>
            </a:pPr>
            <a:r>
              <a:rPr lang="en-US" sz="1450" b="1" dirty="0">
                <a:solidFill>
                  <a:srgbClr val="0E8C82"/>
                </a:solidFill>
                <a:latin typeface="Calibri" pitchFamily="34" charset="0"/>
                <a:ea typeface="Calibri" pitchFamily="34" charset="-122"/>
                <a:cs typeface="Calibri" pitchFamily="34" charset="-120"/>
              </a:rPr>
              <a:t>Cluster (tuỳ chọn)</a:t>
            </a:r>
            <a:endParaRPr lang="en-US" sz="1450" dirty="0"/>
          </a:p>
        </p:txBody>
      </p:sp>
      <p:sp>
        <p:nvSpPr>
          <p:cNvPr id="12" name="Text 10"/>
          <p:cNvSpPr/>
          <p:nvPr/>
        </p:nvSpPr>
        <p:spPr>
          <a:xfrm>
            <a:off x="2926080" y="3319272"/>
            <a:ext cx="4206240" cy="749808"/>
          </a:xfrm>
          <a:prstGeom prst="rect">
            <a:avLst/>
          </a:prstGeom>
          <a:noFill/>
          <a:ln/>
        </p:spPr>
        <p:txBody>
          <a:bodyPr wrap="square" lIns="0" tIns="0" rIns="0" bIns="0" rtlCol="0" anchor="ctr"/>
          <a:lstStyle/>
          <a:p>
            <a:pPr marL="0" indent="0">
              <a:buNone/>
            </a:pPr>
            <a:r>
              <a:rPr lang="en-US" sz="1350" dirty="0">
                <a:solidFill>
                  <a:srgbClr val="1A2B36"/>
                </a:solidFill>
                <a:latin typeface="Calibri" pitchFamily="34" charset="0"/>
                <a:ea typeface="Calibri" pitchFamily="34" charset="-122"/>
                <a:cs typeface="Calibri" pitchFamily="34" charset="-120"/>
              </a:rPr>
              <a:t>kind / minikube / Docker Desktop K8s</a:t>
            </a:r>
            <a:endParaRPr lang="en-US" sz="1350" dirty="0"/>
          </a:p>
        </p:txBody>
      </p:sp>
      <p:sp>
        <p:nvSpPr>
          <p:cNvPr id="13" name="Shape 11"/>
          <p:cNvSpPr/>
          <p:nvPr/>
        </p:nvSpPr>
        <p:spPr>
          <a:xfrm>
            <a:off x="548640" y="4178808"/>
            <a:ext cx="6766560"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4" name="Text 12"/>
          <p:cNvSpPr/>
          <p:nvPr/>
        </p:nvSpPr>
        <p:spPr>
          <a:xfrm>
            <a:off x="777240" y="4178808"/>
            <a:ext cx="2148840" cy="749808"/>
          </a:xfrm>
          <a:prstGeom prst="rect">
            <a:avLst/>
          </a:prstGeom>
          <a:noFill/>
          <a:ln/>
        </p:spPr>
        <p:txBody>
          <a:bodyPr wrap="square" lIns="0" tIns="0" rIns="0" bIns="0" rtlCol="0" anchor="ctr"/>
          <a:lstStyle/>
          <a:p>
            <a:pPr marL="0" indent="0">
              <a:buNone/>
            </a:pPr>
            <a:r>
              <a:rPr lang="en-US" sz="1450" b="1" dirty="0">
                <a:solidFill>
                  <a:srgbClr val="0E8C82"/>
                </a:solidFill>
                <a:latin typeface="Calibri" pitchFamily="34" charset="0"/>
                <a:ea typeface="Calibri" pitchFamily="34" charset="-122"/>
                <a:cs typeface="Calibri" pitchFamily="34" charset="-120"/>
              </a:rPr>
              <a:t>Tài khoản</a:t>
            </a:r>
            <a:endParaRPr lang="en-US" sz="1450" dirty="0"/>
          </a:p>
        </p:txBody>
      </p:sp>
      <p:sp>
        <p:nvSpPr>
          <p:cNvPr id="15" name="Text 13"/>
          <p:cNvSpPr/>
          <p:nvPr/>
        </p:nvSpPr>
        <p:spPr>
          <a:xfrm>
            <a:off x="2926080" y="4178808"/>
            <a:ext cx="4206240" cy="749808"/>
          </a:xfrm>
          <a:prstGeom prst="rect">
            <a:avLst/>
          </a:prstGeom>
          <a:noFill/>
          <a:ln/>
        </p:spPr>
        <p:txBody>
          <a:bodyPr wrap="square" lIns="0" tIns="0" rIns="0" bIns="0" rtlCol="0" anchor="ctr"/>
          <a:lstStyle/>
          <a:p>
            <a:pPr marL="0" indent="0">
              <a:buNone/>
            </a:pPr>
            <a:r>
              <a:rPr lang="en-US" sz="1350" dirty="0">
                <a:solidFill>
                  <a:srgbClr val="1A2B36"/>
                </a:solidFill>
                <a:latin typeface="Calibri" pitchFamily="34" charset="0"/>
                <a:ea typeface="Calibri" pitchFamily="34" charset="-122"/>
                <a:cs typeface="Calibri" pitchFamily="34" charset="-120"/>
              </a:rPr>
              <a:t>Truy cập Jenkins (dùng chung hoặc container)</a:t>
            </a:r>
            <a:endParaRPr lang="en-US" sz="1350" dirty="0"/>
          </a:p>
        </p:txBody>
      </p:sp>
      <p:sp>
        <p:nvSpPr>
          <p:cNvPr id="16" name="Shape 14"/>
          <p:cNvSpPr/>
          <p:nvPr/>
        </p:nvSpPr>
        <p:spPr>
          <a:xfrm>
            <a:off x="548640" y="5038344"/>
            <a:ext cx="6766560"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7" name="Text 15"/>
          <p:cNvSpPr/>
          <p:nvPr/>
        </p:nvSpPr>
        <p:spPr>
          <a:xfrm>
            <a:off x="777240" y="5038344"/>
            <a:ext cx="2148840" cy="749808"/>
          </a:xfrm>
          <a:prstGeom prst="rect">
            <a:avLst/>
          </a:prstGeom>
          <a:noFill/>
          <a:ln/>
        </p:spPr>
        <p:txBody>
          <a:bodyPr wrap="square" lIns="0" tIns="0" rIns="0" bIns="0" rtlCol="0" anchor="ctr"/>
          <a:lstStyle/>
          <a:p>
            <a:pPr marL="0" indent="0">
              <a:buNone/>
            </a:pPr>
            <a:r>
              <a:rPr lang="en-US" sz="1450" b="1" dirty="0">
                <a:solidFill>
                  <a:srgbClr val="0E8C82"/>
                </a:solidFill>
                <a:latin typeface="Calibri" pitchFamily="34" charset="0"/>
                <a:ea typeface="Calibri" pitchFamily="34" charset="-122"/>
                <a:cs typeface="Calibri" pitchFamily="34" charset="-120"/>
              </a:rPr>
              <a:t>Kiến thức nền</a:t>
            </a:r>
            <a:endParaRPr lang="en-US" sz="1450" dirty="0"/>
          </a:p>
        </p:txBody>
      </p:sp>
      <p:sp>
        <p:nvSpPr>
          <p:cNvPr id="18" name="Text 16"/>
          <p:cNvSpPr/>
          <p:nvPr/>
        </p:nvSpPr>
        <p:spPr>
          <a:xfrm>
            <a:off x="2926080" y="5038344"/>
            <a:ext cx="4206240" cy="749808"/>
          </a:xfrm>
          <a:prstGeom prst="rect">
            <a:avLst/>
          </a:prstGeom>
          <a:noFill/>
          <a:ln/>
        </p:spPr>
        <p:txBody>
          <a:bodyPr wrap="square" lIns="0" tIns="0" rIns="0" bIns="0" rtlCol="0" anchor="ctr"/>
          <a:lstStyle/>
          <a:p>
            <a:pPr marL="0" indent="0">
              <a:buNone/>
            </a:pPr>
            <a:r>
              <a:rPr lang="en-US" sz="1350" dirty="0">
                <a:solidFill>
                  <a:srgbClr val="1A2B36"/>
                </a:solidFill>
                <a:latin typeface="Calibri" pitchFamily="34" charset="0"/>
                <a:ea typeface="Calibri" pitchFamily="34" charset="-122"/>
                <a:cs typeface="Calibri" pitchFamily="34" charset="-120"/>
              </a:rPr>
              <a:t>CLI cơ bản, khái niệm container, HTTP/port</a:t>
            </a:r>
            <a:endParaRPr lang="en-US" sz="1350" dirty="0"/>
          </a:p>
        </p:txBody>
      </p:sp>
      <p:sp>
        <p:nvSpPr>
          <p:cNvPr id="19" name="Shape 17"/>
          <p:cNvSpPr/>
          <p:nvPr/>
        </p:nvSpPr>
        <p:spPr>
          <a:xfrm>
            <a:off x="7589520" y="1600200"/>
            <a:ext cx="4050792" cy="4059936"/>
          </a:xfrm>
          <a:prstGeom prst="roundRect">
            <a:avLst>
              <a:gd name="adj" fmla="val 2032"/>
            </a:avLst>
          </a:prstGeom>
          <a:solidFill>
            <a:srgbClr val="0E2233"/>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0" name="Text 18"/>
          <p:cNvSpPr/>
          <p:nvPr/>
        </p:nvSpPr>
        <p:spPr>
          <a:xfrm>
            <a:off x="7863840" y="1828800"/>
            <a:ext cx="3566160" cy="411480"/>
          </a:xfrm>
          <a:prstGeom prst="rect">
            <a:avLst/>
          </a:prstGeom>
          <a:noFill/>
          <a:ln/>
        </p:spPr>
        <p:txBody>
          <a:bodyPr wrap="square" lIns="0" tIns="0" rIns="0" bIns="0" rtlCol="0" anchor="ctr"/>
          <a:lstStyle/>
          <a:p>
            <a:pPr marL="0" indent="0">
              <a:buNone/>
            </a:pPr>
            <a:r>
              <a:rPr lang="en-US" sz="1600" b="1" dirty="0">
                <a:solidFill>
                  <a:srgbClr val="F6A623"/>
                </a:solidFill>
                <a:latin typeface="Calibri" pitchFamily="34" charset="0"/>
                <a:ea typeface="Calibri" pitchFamily="34" charset="-122"/>
                <a:cs typeface="Calibri" pitchFamily="34" charset="-120"/>
              </a:rPr>
              <a:t>Gợi ý cho giảng viên</a:t>
            </a:r>
            <a:endParaRPr lang="en-US" sz="1600" dirty="0"/>
          </a:p>
        </p:txBody>
      </p:sp>
      <p:sp>
        <p:nvSpPr>
          <p:cNvPr id="21" name="Text 19"/>
          <p:cNvSpPr/>
          <p:nvPr/>
        </p:nvSpPr>
        <p:spPr>
          <a:xfrm>
            <a:off x="7863840" y="2286000"/>
            <a:ext cx="3520440" cy="3200400"/>
          </a:xfrm>
          <a:prstGeom prst="rect">
            <a:avLst/>
          </a:prstGeom>
          <a:noFill/>
          <a:ln/>
        </p:spPr>
        <p:txBody>
          <a:bodyPr wrap="square" lIns="0" tIns="0" rIns="0" bIns="0" rtlCol="0" anchor="t"/>
          <a:lstStyle/>
          <a:p>
            <a:pPr marL="0" indent="0">
              <a:spcAft>
                <a:spcPts val="800"/>
              </a:spcAft>
              <a:buNone/>
            </a:pPr>
            <a:r>
              <a:rPr lang="en-US" sz="1350" dirty="0">
                <a:solidFill>
                  <a:srgbClr val="D6E4EA"/>
                </a:solidFill>
              </a:rPr>
              <a:t>Chuẩn bị sẵn một repo docker-compose gồm:</a:t>
            </a:r>
            <a:endParaRPr lang="en-US" sz="1350" dirty="0"/>
          </a:p>
          <a:p>
            <a:pPr marL="342900" indent="-342900">
              <a:buSzPct val="100000"/>
              <a:buChar char="•"/>
            </a:pPr>
            <a:r>
              <a:rPr lang="en-US" sz="1300" dirty="0">
                <a:solidFill>
                  <a:srgbClr val="FFFFFF"/>
                </a:solidFill>
              </a:rPr>
              <a:t>Prometheus + Grafana</a:t>
            </a:r>
            <a:endParaRPr lang="en-US" sz="1350" dirty="0"/>
          </a:p>
          <a:p>
            <a:pPr marL="342900" indent="-342900">
              <a:buSzPct val="100000"/>
              <a:buChar char="•"/>
            </a:pPr>
            <a:r>
              <a:rPr lang="en-US" sz="1300" dirty="0">
                <a:solidFill>
                  <a:srgbClr val="FFFFFF"/>
                </a:solidFill>
              </a:rPr>
              <a:t>Node Exporter + DB Exporter</a:t>
            </a:r>
            <a:endParaRPr lang="en-US" sz="1350" dirty="0"/>
          </a:p>
          <a:p>
            <a:pPr marL="342900" indent="-342900">
              <a:buSzPct val="100000"/>
              <a:buChar char="•"/>
            </a:pPr>
            <a:r>
              <a:rPr lang="en-US" sz="1300" dirty="0">
                <a:solidFill>
                  <a:srgbClr val="FFFFFF"/>
                </a:solidFill>
              </a:rPr>
              <a:t>1 service demo có /metrics</a:t>
            </a:r>
            <a:endParaRPr lang="en-US" sz="1350" dirty="0"/>
          </a:p>
          <a:p>
            <a:pPr marL="342900" indent="-342900">
              <a:spcAft>
                <a:spcPts val="800"/>
              </a:spcAft>
              <a:buSzPct val="100000"/>
              <a:buChar char="•"/>
            </a:pPr>
            <a:r>
              <a:rPr lang="en-US" sz="1300" dirty="0">
                <a:solidFill>
                  <a:srgbClr val="FFFFFF"/>
                </a:solidFill>
              </a:rPr>
              <a:t>Jenkins container + repo test mẫu</a:t>
            </a:r>
            <a:endParaRPr lang="en-US" sz="1350" dirty="0"/>
          </a:p>
          <a:p>
            <a:pPr marL="0" indent="0">
              <a:buNone/>
            </a:pPr>
            <a:r>
              <a:rPr lang="en-US" sz="1300" i="1" dirty="0">
                <a:solidFill>
                  <a:srgbClr val="AEC6D2"/>
                </a:solidFill>
              </a:rPr>
              <a:t>Học viên chỉ cần clone &amp; up — không đốt thời gian cài đặt tại lớp.</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A28"/>
        </a:solidFill>
        <a:effectLst/>
      </p:bgPr>
    </p:bg>
    <p:spTree>
      <p:nvGrpSpPr>
        <p:cNvPr id="1" name=""/>
        <p:cNvGrpSpPr/>
        <p:nvPr/>
      </p:nvGrpSpPr>
      <p:grpSpPr>
        <a:xfrm>
          <a:off x="0" y="0"/>
          <a:ext cx="0" cy="0"/>
          <a:chOff x="0" y="0"/>
          <a:chExt cx="0" cy="0"/>
        </a:xfrm>
      </p:grpSpPr>
      <p:sp>
        <p:nvSpPr>
          <p:cNvPr id="2" name="Shape 0"/>
          <p:cNvSpPr/>
          <p:nvPr/>
        </p:nvSpPr>
        <p:spPr>
          <a:xfrm>
            <a:off x="8961120" y="-1097280"/>
            <a:ext cx="4937760" cy="4937760"/>
          </a:xfrm>
          <a:prstGeom prst="ellipse">
            <a:avLst/>
          </a:prstGeom>
          <a:solidFill>
            <a:srgbClr val="1FBFB3">
              <a:alpha val="16000"/>
            </a:srgbClr>
          </a:solidFill>
          <a:ln/>
        </p:spPr>
        <p:txBody>
          <a:bodyPr/>
          <a:lstStyle/>
          <a:p>
            <a:endParaRPr lang="en-US"/>
          </a:p>
        </p:txBody>
      </p:sp>
      <p:sp>
        <p:nvSpPr>
          <p:cNvPr id="3" name="Text 1"/>
          <p:cNvSpPr/>
          <p:nvPr/>
        </p:nvSpPr>
        <p:spPr>
          <a:xfrm>
            <a:off x="731520" y="2148840"/>
            <a:ext cx="3657600" cy="365760"/>
          </a:xfrm>
          <a:prstGeom prst="rect">
            <a:avLst/>
          </a:prstGeom>
          <a:noFill/>
          <a:ln/>
        </p:spPr>
        <p:txBody>
          <a:bodyPr wrap="square" lIns="0" tIns="0" rIns="0" bIns="0" rtlCol="0" anchor="ctr"/>
          <a:lstStyle/>
          <a:p>
            <a:pPr marL="0" indent="0">
              <a:buNone/>
            </a:pPr>
            <a:r>
              <a:rPr lang="en-US" sz="1600" b="1" kern="0" spc="400" dirty="0">
                <a:solidFill>
                  <a:srgbClr val="1FBFB3"/>
                </a:solidFill>
                <a:latin typeface="Calibri" pitchFamily="34" charset="0"/>
                <a:ea typeface="Calibri" pitchFamily="34" charset="-122"/>
                <a:cs typeface="Calibri" pitchFamily="34" charset="-120"/>
              </a:rPr>
              <a:t>SESSION</a:t>
            </a:r>
            <a:endParaRPr lang="en-US" sz="1600" dirty="0"/>
          </a:p>
        </p:txBody>
      </p:sp>
      <p:sp>
        <p:nvSpPr>
          <p:cNvPr id="4" name="Text 2"/>
          <p:cNvSpPr/>
          <p:nvPr/>
        </p:nvSpPr>
        <p:spPr>
          <a:xfrm>
            <a:off x="640080" y="2331720"/>
            <a:ext cx="3108960" cy="2194560"/>
          </a:xfrm>
          <a:prstGeom prst="rect">
            <a:avLst/>
          </a:prstGeom>
          <a:noFill/>
          <a:ln/>
        </p:spPr>
        <p:txBody>
          <a:bodyPr wrap="square" lIns="0" tIns="0" rIns="0" bIns="0" rtlCol="0" anchor="ctr"/>
          <a:lstStyle/>
          <a:p>
            <a:pPr marL="0" indent="0">
              <a:buNone/>
            </a:pPr>
            <a:r>
              <a:rPr lang="en-US" sz="15000" b="1" dirty="0">
                <a:solidFill>
                  <a:srgbClr val="FFFFFF"/>
                </a:solidFill>
                <a:latin typeface="Calibri" pitchFamily="34" charset="0"/>
                <a:ea typeface="Calibri" pitchFamily="34" charset="-122"/>
                <a:cs typeface="Calibri" pitchFamily="34" charset="-120"/>
              </a:rPr>
              <a:t>1</a:t>
            </a:r>
            <a:endParaRPr lang="en-US" sz="15000" dirty="0"/>
          </a:p>
        </p:txBody>
      </p:sp>
      <p:sp>
        <p:nvSpPr>
          <p:cNvPr id="5" name="Text 3"/>
          <p:cNvSpPr/>
          <p:nvPr/>
        </p:nvSpPr>
        <p:spPr>
          <a:xfrm>
            <a:off x="3246120" y="2788920"/>
            <a:ext cx="8138160" cy="10058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Tổng quan Monitoring</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&amp; Observability</a:t>
            </a:r>
            <a:endParaRPr lang="en-US" sz="3400" dirty="0"/>
          </a:p>
        </p:txBody>
      </p:sp>
      <p:sp>
        <p:nvSpPr>
          <p:cNvPr id="6" name="Text 4"/>
          <p:cNvSpPr/>
          <p:nvPr/>
        </p:nvSpPr>
        <p:spPr>
          <a:xfrm>
            <a:off x="3291840" y="3794760"/>
            <a:ext cx="8046720" cy="731520"/>
          </a:xfrm>
          <a:prstGeom prst="rect">
            <a:avLst/>
          </a:prstGeom>
          <a:noFill/>
          <a:ln/>
        </p:spPr>
        <p:txBody>
          <a:bodyPr wrap="square" lIns="0" tIns="0" rIns="0" bIns="0" rtlCol="0" anchor="ctr"/>
          <a:lstStyle/>
          <a:p>
            <a:pPr marL="0" indent="0">
              <a:buNone/>
            </a:pPr>
            <a:r>
              <a:rPr lang="en-US" sz="1600" dirty="0">
                <a:solidFill>
                  <a:srgbClr val="AEC6D2"/>
                </a:solidFill>
                <a:latin typeface="Calibri" pitchFamily="34" charset="0"/>
                <a:ea typeface="Calibri" pitchFamily="34" charset="-122"/>
                <a:cs typeface="Calibri" pitchFamily="34" charset="-120"/>
              </a:rPr>
              <a:t>Bức tranh tổng thể • Bản đồ công cụ • Kiến trúc Prometheus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SESSION 1</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Ba trụ cột của Observability</a:t>
            </a:r>
            <a:endParaRPr lang="en-US" sz="3000" dirty="0"/>
          </a:p>
        </p:txBody>
      </p:sp>
      <p:sp>
        <p:nvSpPr>
          <p:cNvPr id="4" name="Shape 2"/>
          <p:cNvSpPr/>
          <p:nvPr/>
        </p:nvSpPr>
        <p:spPr>
          <a:xfrm>
            <a:off x="548640" y="1645920"/>
            <a:ext cx="3566160" cy="4023360"/>
          </a:xfrm>
          <a:prstGeom prst="roundRect">
            <a:avLst>
              <a:gd name="adj" fmla="val 2308"/>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Shape 3"/>
          <p:cNvSpPr/>
          <p:nvPr/>
        </p:nvSpPr>
        <p:spPr>
          <a:xfrm>
            <a:off x="548640" y="1645920"/>
            <a:ext cx="3566160" cy="822960"/>
          </a:xfrm>
          <a:prstGeom prst="roundRect">
            <a:avLst>
              <a:gd name="adj" fmla="val 10000"/>
            </a:avLst>
          </a:prstGeom>
          <a:solidFill>
            <a:srgbClr val="1FBFB3"/>
          </a:solidFill>
          <a:ln/>
        </p:spPr>
        <p:txBody>
          <a:bodyPr/>
          <a:lstStyle/>
          <a:p>
            <a:endParaRPr lang="en-US"/>
          </a:p>
        </p:txBody>
      </p:sp>
      <p:sp>
        <p:nvSpPr>
          <p:cNvPr id="6" name="Text 4"/>
          <p:cNvSpPr/>
          <p:nvPr/>
        </p:nvSpPr>
        <p:spPr>
          <a:xfrm>
            <a:off x="548640" y="1645920"/>
            <a:ext cx="35661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Metrics</a:t>
            </a:r>
            <a:endParaRPr lang="en-US" sz="2200" dirty="0"/>
          </a:p>
        </p:txBody>
      </p:sp>
      <p:sp>
        <p:nvSpPr>
          <p:cNvPr id="7" name="Text 5"/>
          <p:cNvSpPr/>
          <p:nvPr/>
        </p:nvSpPr>
        <p:spPr>
          <a:xfrm>
            <a:off x="822960" y="2697480"/>
            <a:ext cx="3017520" cy="1097280"/>
          </a:xfrm>
          <a:prstGeom prst="rect">
            <a:avLst/>
          </a:prstGeom>
          <a:noFill/>
          <a:ln/>
        </p:spPr>
        <p:txBody>
          <a:bodyPr wrap="square" lIns="0" tIns="0" rIns="0" bIns="0" rtlCol="0" anchor="ctr"/>
          <a:lstStyle/>
          <a:p>
            <a:pPr marL="0" indent="0">
              <a:lnSpc>
                <a:spcPct val="105000"/>
              </a:lnSpc>
              <a:buNone/>
            </a:pPr>
            <a:r>
              <a:rPr lang="en-US" sz="1450" dirty="0">
                <a:solidFill>
                  <a:srgbClr val="1A2B36"/>
                </a:solidFill>
                <a:latin typeface="Calibri" pitchFamily="34" charset="0"/>
                <a:ea typeface="Calibri" pitchFamily="34" charset="-122"/>
                <a:cs typeface="Calibri" pitchFamily="34" charset="-120"/>
              </a:rPr>
              <a:t>Số liệu theo thời gian: CPU, RAM, request/s, latency.</a:t>
            </a:r>
            <a:endParaRPr lang="en-US" sz="1450" dirty="0"/>
          </a:p>
        </p:txBody>
      </p:sp>
      <p:sp>
        <p:nvSpPr>
          <p:cNvPr id="8" name="Text 6"/>
          <p:cNvSpPr/>
          <p:nvPr/>
        </p:nvSpPr>
        <p:spPr>
          <a:xfrm>
            <a:off x="822960" y="3931920"/>
            <a:ext cx="3017520" cy="274320"/>
          </a:xfrm>
          <a:prstGeom prst="rect">
            <a:avLst/>
          </a:prstGeom>
          <a:noFill/>
          <a:ln/>
        </p:spPr>
        <p:txBody>
          <a:bodyPr wrap="square" lIns="0" tIns="0" rIns="0" bIns="0" rtlCol="0" anchor="ctr"/>
          <a:lstStyle/>
          <a:p>
            <a:pPr marL="0" indent="0">
              <a:buNone/>
            </a:pPr>
            <a:r>
              <a:rPr lang="en-US" sz="1100" b="1" dirty="0">
                <a:solidFill>
                  <a:srgbClr val="5D6E78"/>
                </a:solidFill>
                <a:latin typeface="Calibri" pitchFamily="34" charset="0"/>
                <a:ea typeface="Calibri" pitchFamily="34" charset="-122"/>
                <a:cs typeface="Calibri" pitchFamily="34" charset="-120"/>
              </a:rPr>
              <a:t>Công cụ:</a:t>
            </a:r>
            <a:endParaRPr lang="en-US" sz="1100" dirty="0"/>
          </a:p>
        </p:txBody>
      </p:sp>
      <p:sp>
        <p:nvSpPr>
          <p:cNvPr id="9" name="Text 7"/>
          <p:cNvSpPr/>
          <p:nvPr/>
        </p:nvSpPr>
        <p:spPr>
          <a:xfrm>
            <a:off x="822960" y="4187952"/>
            <a:ext cx="3017520" cy="548640"/>
          </a:xfrm>
          <a:prstGeom prst="rect">
            <a:avLst/>
          </a:prstGeom>
          <a:noFill/>
          <a:ln/>
        </p:spPr>
        <p:txBody>
          <a:bodyPr wrap="square" lIns="0" tIns="0" rIns="0" bIns="0" rtlCol="0" anchor="ctr"/>
          <a:lstStyle/>
          <a:p>
            <a:pPr marL="0" indent="0">
              <a:buNone/>
            </a:pPr>
            <a:r>
              <a:rPr lang="en-US" sz="1400" b="1" dirty="0">
                <a:solidFill>
                  <a:srgbClr val="0E8C82"/>
                </a:solidFill>
                <a:latin typeface="Calibri" pitchFamily="34" charset="0"/>
                <a:ea typeface="Calibri" pitchFamily="34" charset="-122"/>
                <a:cs typeface="Calibri" pitchFamily="34" charset="-120"/>
              </a:rPr>
              <a:t>Prometheus, VictoriaMetrics</a:t>
            </a:r>
            <a:endParaRPr lang="en-US" sz="1400" dirty="0"/>
          </a:p>
        </p:txBody>
      </p:sp>
      <p:sp>
        <p:nvSpPr>
          <p:cNvPr id="10" name="Shape 8"/>
          <p:cNvSpPr/>
          <p:nvPr/>
        </p:nvSpPr>
        <p:spPr>
          <a:xfrm>
            <a:off x="822960" y="4892040"/>
            <a:ext cx="3017520" cy="502920"/>
          </a:xfrm>
          <a:prstGeom prst="roundRect">
            <a:avLst>
              <a:gd name="adj" fmla="val 49091"/>
            </a:avLst>
          </a:prstGeom>
          <a:solidFill>
            <a:srgbClr val="1FBFB3">
              <a:alpha val="14000"/>
            </a:srgbClr>
          </a:solidFill>
          <a:ln/>
        </p:spPr>
        <p:txBody>
          <a:bodyPr/>
          <a:lstStyle/>
          <a:p>
            <a:endParaRPr lang="en-US"/>
          </a:p>
        </p:txBody>
      </p:sp>
      <p:sp>
        <p:nvSpPr>
          <p:cNvPr id="11" name="Text 9"/>
          <p:cNvSpPr/>
          <p:nvPr/>
        </p:nvSpPr>
        <p:spPr>
          <a:xfrm>
            <a:off x="822960" y="4892040"/>
            <a:ext cx="3017520" cy="502920"/>
          </a:xfrm>
          <a:prstGeom prst="rect">
            <a:avLst/>
          </a:prstGeom>
          <a:noFill/>
          <a:ln/>
        </p:spPr>
        <p:txBody>
          <a:bodyPr wrap="square" lIns="0" tIns="0" rIns="0" bIns="0" rtlCol="0" anchor="ctr"/>
          <a:lstStyle/>
          <a:p>
            <a:pPr marL="0" indent="0" algn="ctr">
              <a:buNone/>
            </a:pPr>
            <a:r>
              <a:rPr lang="en-US" sz="1300" b="1" i="1" dirty="0">
                <a:solidFill>
                  <a:srgbClr val="0E8C82"/>
                </a:solidFill>
                <a:latin typeface="Calibri" pitchFamily="34" charset="0"/>
                <a:ea typeface="Calibri" pitchFamily="34" charset="-122"/>
                <a:cs typeface="Calibri" pitchFamily="34" charset="-120"/>
              </a:rPr>
              <a:t>Cái gì / khi nào?</a:t>
            </a:r>
            <a:endParaRPr lang="en-US" sz="1300" dirty="0"/>
          </a:p>
        </p:txBody>
      </p:sp>
      <p:sp>
        <p:nvSpPr>
          <p:cNvPr id="12" name="Shape 10"/>
          <p:cNvSpPr/>
          <p:nvPr/>
        </p:nvSpPr>
        <p:spPr>
          <a:xfrm>
            <a:off x="4334256" y="1645920"/>
            <a:ext cx="3566160" cy="4023360"/>
          </a:xfrm>
          <a:prstGeom prst="roundRect">
            <a:avLst>
              <a:gd name="adj" fmla="val 2308"/>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3" name="Shape 11"/>
          <p:cNvSpPr/>
          <p:nvPr/>
        </p:nvSpPr>
        <p:spPr>
          <a:xfrm>
            <a:off x="4334256" y="1645920"/>
            <a:ext cx="3566160" cy="822960"/>
          </a:xfrm>
          <a:prstGeom prst="roundRect">
            <a:avLst>
              <a:gd name="adj" fmla="val 10000"/>
            </a:avLst>
          </a:prstGeom>
          <a:solidFill>
            <a:srgbClr val="0E8C82"/>
          </a:solidFill>
          <a:ln/>
        </p:spPr>
        <p:txBody>
          <a:bodyPr/>
          <a:lstStyle/>
          <a:p>
            <a:endParaRPr lang="en-US"/>
          </a:p>
        </p:txBody>
      </p:sp>
      <p:sp>
        <p:nvSpPr>
          <p:cNvPr id="14" name="Text 12"/>
          <p:cNvSpPr/>
          <p:nvPr/>
        </p:nvSpPr>
        <p:spPr>
          <a:xfrm>
            <a:off x="4334256" y="1645920"/>
            <a:ext cx="35661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Logs</a:t>
            </a:r>
            <a:endParaRPr lang="en-US" sz="2200" dirty="0"/>
          </a:p>
        </p:txBody>
      </p:sp>
      <p:sp>
        <p:nvSpPr>
          <p:cNvPr id="15" name="Text 13"/>
          <p:cNvSpPr/>
          <p:nvPr/>
        </p:nvSpPr>
        <p:spPr>
          <a:xfrm>
            <a:off x="4608576" y="2697480"/>
            <a:ext cx="3017520" cy="1097280"/>
          </a:xfrm>
          <a:prstGeom prst="rect">
            <a:avLst/>
          </a:prstGeom>
          <a:noFill/>
          <a:ln/>
        </p:spPr>
        <p:txBody>
          <a:bodyPr wrap="square" lIns="0" tIns="0" rIns="0" bIns="0" rtlCol="0" anchor="ctr"/>
          <a:lstStyle/>
          <a:p>
            <a:pPr marL="0" indent="0">
              <a:lnSpc>
                <a:spcPct val="105000"/>
              </a:lnSpc>
              <a:buNone/>
            </a:pPr>
            <a:r>
              <a:rPr lang="en-US" sz="1450" dirty="0">
                <a:solidFill>
                  <a:srgbClr val="1A2B36"/>
                </a:solidFill>
                <a:latin typeface="Calibri" pitchFamily="34" charset="0"/>
                <a:ea typeface="Calibri" pitchFamily="34" charset="-122"/>
                <a:cs typeface="Calibri" pitchFamily="34" charset="-120"/>
              </a:rPr>
              <a:t>Bản ghi sự kiện chi tiết — biết vì sao lỗi xảy ra.</a:t>
            </a:r>
            <a:endParaRPr lang="en-US" sz="1450" dirty="0"/>
          </a:p>
        </p:txBody>
      </p:sp>
      <p:sp>
        <p:nvSpPr>
          <p:cNvPr id="16" name="Text 14"/>
          <p:cNvSpPr/>
          <p:nvPr/>
        </p:nvSpPr>
        <p:spPr>
          <a:xfrm>
            <a:off x="4608576" y="3931920"/>
            <a:ext cx="3017520" cy="274320"/>
          </a:xfrm>
          <a:prstGeom prst="rect">
            <a:avLst/>
          </a:prstGeom>
          <a:noFill/>
          <a:ln/>
        </p:spPr>
        <p:txBody>
          <a:bodyPr wrap="square" lIns="0" tIns="0" rIns="0" bIns="0" rtlCol="0" anchor="ctr"/>
          <a:lstStyle/>
          <a:p>
            <a:pPr marL="0" indent="0">
              <a:buNone/>
            </a:pPr>
            <a:r>
              <a:rPr lang="en-US" sz="1100" b="1" dirty="0">
                <a:solidFill>
                  <a:srgbClr val="5D6E78"/>
                </a:solidFill>
                <a:latin typeface="Calibri" pitchFamily="34" charset="0"/>
                <a:ea typeface="Calibri" pitchFamily="34" charset="-122"/>
                <a:cs typeface="Calibri" pitchFamily="34" charset="-120"/>
              </a:rPr>
              <a:t>Công cụ:</a:t>
            </a:r>
            <a:endParaRPr lang="en-US" sz="1100" dirty="0"/>
          </a:p>
        </p:txBody>
      </p:sp>
      <p:sp>
        <p:nvSpPr>
          <p:cNvPr id="17" name="Text 15"/>
          <p:cNvSpPr/>
          <p:nvPr/>
        </p:nvSpPr>
        <p:spPr>
          <a:xfrm>
            <a:off x="4608576" y="4187952"/>
            <a:ext cx="3017520" cy="548640"/>
          </a:xfrm>
          <a:prstGeom prst="rect">
            <a:avLst/>
          </a:prstGeom>
          <a:noFill/>
          <a:ln/>
        </p:spPr>
        <p:txBody>
          <a:bodyPr wrap="square" lIns="0" tIns="0" rIns="0" bIns="0" rtlCol="0" anchor="ctr"/>
          <a:lstStyle/>
          <a:p>
            <a:pPr marL="0" indent="0">
              <a:buNone/>
            </a:pPr>
            <a:r>
              <a:rPr lang="en-US" sz="1400" b="1" dirty="0">
                <a:solidFill>
                  <a:srgbClr val="0E8C82"/>
                </a:solidFill>
                <a:latin typeface="Calibri" pitchFamily="34" charset="0"/>
                <a:ea typeface="Calibri" pitchFamily="34" charset="-122"/>
                <a:cs typeface="Calibri" pitchFamily="34" charset="-120"/>
              </a:rPr>
              <a:t>Loki, ELK / EFK</a:t>
            </a:r>
            <a:endParaRPr lang="en-US" sz="1400" dirty="0"/>
          </a:p>
        </p:txBody>
      </p:sp>
      <p:sp>
        <p:nvSpPr>
          <p:cNvPr id="18" name="Shape 16"/>
          <p:cNvSpPr/>
          <p:nvPr/>
        </p:nvSpPr>
        <p:spPr>
          <a:xfrm>
            <a:off x="4608576" y="4892040"/>
            <a:ext cx="3017520" cy="502920"/>
          </a:xfrm>
          <a:prstGeom prst="roundRect">
            <a:avLst>
              <a:gd name="adj" fmla="val 49091"/>
            </a:avLst>
          </a:prstGeom>
          <a:solidFill>
            <a:srgbClr val="0E8C82">
              <a:alpha val="14000"/>
            </a:srgbClr>
          </a:solidFill>
          <a:ln/>
        </p:spPr>
        <p:txBody>
          <a:bodyPr/>
          <a:lstStyle/>
          <a:p>
            <a:endParaRPr lang="en-US"/>
          </a:p>
        </p:txBody>
      </p:sp>
      <p:sp>
        <p:nvSpPr>
          <p:cNvPr id="19" name="Text 17"/>
          <p:cNvSpPr/>
          <p:nvPr/>
        </p:nvSpPr>
        <p:spPr>
          <a:xfrm>
            <a:off x="4608576" y="4892040"/>
            <a:ext cx="3017520" cy="502920"/>
          </a:xfrm>
          <a:prstGeom prst="rect">
            <a:avLst/>
          </a:prstGeom>
          <a:noFill/>
          <a:ln/>
        </p:spPr>
        <p:txBody>
          <a:bodyPr wrap="square" lIns="0" tIns="0" rIns="0" bIns="0" rtlCol="0" anchor="ctr"/>
          <a:lstStyle/>
          <a:p>
            <a:pPr marL="0" indent="0" algn="ctr">
              <a:buNone/>
            </a:pPr>
            <a:r>
              <a:rPr lang="en-US" sz="1300" b="1" i="1" dirty="0">
                <a:solidFill>
                  <a:srgbClr val="0E8C82"/>
                </a:solidFill>
                <a:latin typeface="Calibri" pitchFamily="34" charset="0"/>
                <a:ea typeface="Calibri" pitchFamily="34" charset="-122"/>
                <a:cs typeface="Calibri" pitchFamily="34" charset="-120"/>
              </a:rPr>
              <a:t>Tại sao?</a:t>
            </a:r>
            <a:endParaRPr lang="en-US" sz="1300" dirty="0"/>
          </a:p>
        </p:txBody>
      </p:sp>
      <p:sp>
        <p:nvSpPr>
          <p:cNvPr id="20" name="Shape 18"/>
          <p:cNvSpPr/>
          <p:nvPr/>
        </p:nvSpPr>
        <p:spPr>
          <a:xfrm>
            <a:off x="8119872" y="1645920"/>
            <a:ext cx="3566160" cy="4023360"/>
          </a:xfrm>
          <a:prstGeom prst="roundRect">
            <a:avLst>
              <a:gd name="adj" fmla="val 2308"/>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1" name="Shape 19"/>
          <p:cNvSpPr/>
          <p:nvPr/>
        </p:nvSpPr>
        <p:spPr>
          <a:xfrm>
            <a:off x="8119872" y="1645920"/>
            <a:ext cx="3566160" cy="822960"/>
          </a:xfrm>
          <a:prstGeom prst="roundRect">
            <a:avLst>
              <a:gd name="adj" fmla="val 10000"/>
            </a:avLst>
          </a:prstGeom>
          <a:solidFill>
            <a:srgbClr val="F6A623"/>
          </a:solidFill>
          <a:ln/>
        </p:spPr>
        <p:txBody>
          <a:bodyPr/>
          <a:lstStyle/>
          <a:p>
            <a:endParaRPr lang="en-US"/>
          </a:p>
        </p:txBody>
      </p:sp>
      <p:sp>
        <p:nvSpPr>
          <p:cNvPr id="22" name="Text 20"/>
          <p:cNvSpPr/>
          <p:nvPr/>
        </p:nvSpPr>
        <p:spPr>
          <a:xfrm>
            <a:off x="8119872" y="1645920"/>
            <a:ext cx="35661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Traces</a:t>
            </a:r>
            <a:endParaRPr lang="en-US" sz="2200" dirty="0"/>
          </a:p>
        </p:txBody>
      </p:sp>
      <p:sp>
        <p:nvSpPr>
          <p:cNvPr id="23" name="Text 21"/>
          <p:cNvSpPr/>
          <p:nvPr/>
        </p:nvSpPr>
        <p:spPr>
          <a:xfrm>
            <a:off x="8394192" y="2697480"/>
            <a:ext cx="3017520" cy="1097280"/>
          </a:xfrm>
          <a:prstGeom prst="rect">
            <a:avLst/>
          </a:prstGeom>
          <a:noFill/>
          <a:ln/>
        </p:spPr>
        <p:txBody>
          <a:bodyPr wrap="square" lIns="0" tIns="0" rIns="0" bIns="0" rtlCol="0" anchor="ctr"/>
          <a:lstStyle/>
          <a:p>
            <a:pPr marL="0" indent="0">
              <a:lnSpc>
                <a:spcPct val="105000"/>
              </a:lnSpc>
              <a:buNone/>
            </a:pPr>
            <a:r>
              <a:rPr lang="en-US" sz="1450" dirty="0">
                <a:solidFill>
                  <a:srgbClr val="1A2B36"/>
                </a:solidFill>
                <a:latin typeface="Calibri" pitchFamily="34" charset="0"/>
                <a:ea typeface="Calibri" pitchFamily="34" charset="-122"/>
                <a:cs typeface="Calibri" pitchFamily="34" charset="-120"/>
              </a:rPr>
              <a:t>Hành trình 1 request qua nhiều service.</a:t>
            </a:r>
            <a:endParaRPr lang="en-US" sz="1450" dirty="0"/>
          </a:p>
        </p:txBody>
      </p:sp>
      <p:sp>
        <p:nvSpPr>
          <p:cNvPr id="24" name="Text 22"/>
          <p:cNvSpPr/>
          <p:nvPr/>
        </p:nvSpPr>
        <p:spPr>
          <a:xfrm>
            <a:off x="8394192" y="3931920"/>
            <a:ext cx="3017520" cy="274320"/>
          </a:xfrm>
          <a:prstGeom prst="rect">
            <a:avLst/>
          </a:prstGeom>
          <a:noFill/>
          <a:ln/>
        </p:spPr>
        <p:txBody>
          <a:bodyPr wrap="square" lIns="0" tIns="0" rIns="0" bIns="0" rtlCol="0" anchor="ctr"/>
          <a:lstStyle/>
          <a:p>
            <a:pPr marL="0" indent="0">
              <a:buNone/>
            </a:pPr>
            <a:r>
              <a:rPr lang="en-US" sz="1100" b="1" dirty="0">
                <a:solidFill>
                  <a:srgbClr val="5D6E78"/>
                </a:solidFill>
                <a:latin typeface="Calibri" pitchFamily="34" charset="0"/>
                <a:ea typeface="Calibri" pitchFamily="34" charset="-122"/>
                <a:cs typeface="Calibri" pitchFamily="34" charset="-120"/>
              </a:rPr>
              <a:t>Công cụ:</a:t>
            </a:r>
            <a:endParaRPr lang="en-US" sz="1100" dirty="0"/>
          </a:p>
        </p:txBody>
      </p:sp>
      <p:sp>
        <p:nvSpPr>
          <p:cNvPr id="25" name="Text 23"/>
          <p:cNvSpPr/>
          <p:nvPr/>
        </p:nvSpPr>
        <p:spPr>
          <a:xfrm>
            <a:off x="8394192" y="4187952"/>
            <a:ext cx="3017520" cy="548640"/>
          </a:xfrm>
          <a:prstGeom prst="rect">
            <a:avLst/>
          </a:prstGeom>
          <a:noFill/>
          <a:ln/>
        </p:spPr>
        <p:txBody>
          <a:bodyPr wrap="square" lIns="0" tIns="0" rIns="0" bIns="0" rtlCol="0" anchor="ctr"/>
          <a:lstStyle/>
          <a:p>
            <a:pPr marL="0" indent="0">
              <a:buNone/>
            </a:pPr>
            <a:r>
              <a:rPr lang="en-US" sz="1400" b="1" dirty="0">
                <a:solidFill>
                  <a:srgbClr val="C67F0E"/>
                </a:solidFill>
                <a:latin typeface="Calibri" pitchFamily="34" charset="0"/>
                <a:ea typeface="Calibri" pitchFamily="34" charset="-122"/>
                <a:cs typeface="Calibri" pitchFamily="34" charset="-120"/>
              </a:rPr>
              <a:t>Jaeger, Tempo, OTel</a:t>
            </a:r>
            <a:endParaRPr lang="en-US" sz="1400" dirty="0"/>
          </a:p>
        </p:txBody>
      </p:sp>
      <p:sp>
        <p:nvSpPr>
          <p:cNvPr id="26" name="Shape 24"/>
          <p:cNvSpPr/>
          <p:nvPr/>
        </p:nvSpPr>
        <p:spPr>
          <a:xfrm>
            <a:off x="8394192" y="4892040"/>
            <a:ext cx="3017520" cy="502920"/>
          </a:xfrm>
          <a:prstGeom prst="roundRect">
            <a:avLst>
              <a:gd name="adj" fmla="val 49091"/>
            </a:avLst>
          </a:prstGeom>
          <a:solidFill>
            <a:srgbClr val="F6A623">
              <a:alpha val="14000"/>
            </a:srgbClr>
          </a:solidFill>
          <a:ln/>
        </p:spPr>
        <p:txBody>
          <a:bodyPr/>
          <a:lstStyle/>
          <a:p>
            <a:endParaRPr lang="en-US"/>
          </a:p>
        </p:txBody>
      </p:sp>
      <p:sp>
        <p:nvSpPr>
          <p:cNvPr id="27" name="Text 25"/>
          <p:cNvSpPr/>
          <p:nvPr/>
        </p:nvSpPr>
        <p:spPr>
          <a:xfrm>
            <a:off x="8394192" y="4892040"/>
            <a:ext cx="3017520" cy="502920"/>
          </a:xfrm>
          <a:prstGeom prst="rect">
            <a:avLst/>
          </a:prstGeom>
          <a:noFill/>
          <a:ln/>
        </p:spPr>
        <p:txBody>
          <a:bodyPr wrap="square" lIns="0" tIns="0" rIns="0" bIns="0" rtlCol="0" anchor="ctr"/>
          <a:lstStyle/>
          <a:p>
            <a:pPr marL="0" indent="0" algn="ctr">
              <a:buNone/>
            </a:pPr>
            <a:r>
              <a:rPr lang="en-US" sz="1300" b="1" i="1" dirty="0">
                <a:solidFill>
                  <a:srgbClr val="C67F0E"/>
                </a:solidFill>
                <a:latin typeface="Calibri" pitchFamily="34" charset="0"/>
                <a:ea typeface="Calibri" pitchFamily="34" charset="-122"/>
                <a:cs typeface="Calibri" pitchFamily="34" charset="-120"/>
              </a:rPr>
              <a:t>Ở đâu chậm?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SESSION 1</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Bản đồ công cụ Monitoring k8s/Infra</a:t>
            </a:r>
            <a:endParaRPr lang="en-US" sz="3000" dirty="0"/>
          </a:p>
        </p:txBody>
      </p:sp>
      <p:sp>
        <p:nvSpPr>
          <p:cNvPr id="4" name="Shape 2"/>
          <p:cNvSpPr/>
          <p:nvPr/>
        </p:nvSpPr>
        <p:spPr>
          <a:xfrm>
            <a:off x="548640" y="1600200"/>
            <a:ext cx="3529584" cy="1371600"/>
          </a:xfrm>
          <a:prstGeom prst="roundRect">
            <a:avLst>
              <a:gd name="adj" fmla="val 6000"/>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Text 3"/>
          <p:cNvSpPr/>
          <p:nvPr/>
        </p:nvSpPr>
        <p:spPr>
          <a:xfrm>
            <a:off x="804672" y="1783080"/>
            <a:ext cx="3072384" cy="36576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Metrics</a:t>
            </a:r>
            <a:endParaRPr lang="en-US" sz="1500" dirty="0"/>
          </a:p>
        </p:txBody>
      </p:sp>
      <p:sp>
        <p:nvSpPr>
          <p:cNvPr id="6" name="Text 4"/>
          <p:cNvSpPr/>
          <p:nvPr/>
        </p:nvSpPr>
        <p:spPr>
          <a:xfrm>
            <a:off x="804672" y="2176272"/>
            <a:ext cx="3072384" cy="685800"/>
          </a:xfrm>
          <a:prstGeom prst="rect">
            <a:avLst/>
          </a:prstGeom>
          <a:noFill/>
          <a:ln/>
        </p:spPr>
        <p:txBody>
          <a:bodyPr wrap="square" lIns="0" tIns="0" rIns="0" bIns="0" rtlCol="0" anchor="ctr"/>
          <a:lstStyle/>
          <a:p>
            <a:pPr marL="0" indent="0">
              <a:lnSpc>
                <a:spcPct val="103000"/>
              </a:lnSpc>
              <a:buNone/>
            </a:pPr>
            <a:r>
              <a:rPr lang="en-US" sz="1250" dirty="0">
                <a:solidFill>
                  <a:srgbClr val="1A2B36"/>
                </a:solidFill>
                <a:latin typeface="Calibri" pitchFamily="34" charset="0"/>
                <a:ea typeface="Calibri" pitchFamily="34" charset="-122"/>
                <a:cs typeface="Calibri" pitchFamily="34" charset="-120"/>
              </a:rPr>
              <a:t>Prometheus · Grafana · VictoriaMetrics · Thanos</a:t>
            </a:r>
            <a:endParaRPr lang="en-US" sz="1250" dirty="0"/>
          </a:p>
        </p:txBody>
      </p:sp>
      <p:sp>
        <p:nvSpPr>
          <p:cNvPr id="7" name="Shape 5"/>
          <p:cNvSpPr/>
          <p:nvPr/>
        </p:nvSpPr>
        <p:spPr>
          <a:xfrm>
            <a:off x="4334256" y="1600200"/>
            <a:ext cx="3529584" cy="1371600"/>
          </a:xfrm>
          <a:prstGeom prst="roundRect">
            <a:avLst>
              <a:gd name="adj" fmla="val 6000"/>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8" name="Text 6"/>
          <p:cNvSpPr/>
          <p:nvPr/>
        </p:nvSpPr>
        <p:spPr>
          <a:xfrm>
            <a:off x="4590288" y="1783080"/>
            <a:ext cx="3072384" cy="36576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Logs</a:t>
            </a:r>
            <a:endParaRPr lang="en-US" sz="1500" dirty="0"/>
          </a:p>
        </p:txBody>
      </p:sp>
      <p:sp>
        <p:nvSpPr>
          <p:cNvPr id="9" name="Text 7"/>
          <p:cNvSpPr/>
          <p:nvPr/>
        </p:nvSpPr>
        <p:spPr>
          <a:xfrm>
            <a:off x="4590288" y="2176272"/>
            <a:ext cx="3072384" cy="685800"/>
          </a:xfrm>
          <a:prstGeom prst="rect">
            <a:avLst/>
          </a:prstGeom>
          <a:noFill/>
          <a:ln/>
        </p:spPr>
        <p:txBody>
          <a:bodyPr wrap="square" lIns="0" tIns="0" rIns="0" bIns="0" rtlCol="0" anchor="ctr"/>
          <a:lstStyle/>
          <a:p>
            <a:pPr marL="0" indent="0">
              <a:lnSpc>
                <a:spcPct val="103000"/>
              </a:lnSpc>
              <a:buNone/>
            </a:pPr>
            <a:r>
              <a:rPr lang="en-US" sz="1250" dirty="0">
                <a:solidFill>
                  <a:srgbClr val="1A2B36"/>
                </a:solidFill>
                <a:latin typeface="Calibri" pitchFamily="34" charset="0"/>
                <a:ea typeface="Calibri" pitchFamily="34" charset="-122"/>
                <a:cs typeface="Calibri" pitchFamily="34" charset="-120"/>
              </a:rPr>
              <a:t>Loki · Elasticsearch · Fluentd/Filebeat · Kibana</a:t>
            </a:r>
            <a:endParaRPr lang="en-US" sz="1250" dirty="0"/>
          </a:p>
        </p:txBody>
      </p:sp>
      <p:sp>
        <p:nvSpPr>
          <p:cNvPr id="10" name="Shape 8"/>
          <p:cNvSpPr/>
          <p:nvPr/>
        </p:nvSpPr>
        <p:spPr>
          <a:xfrm>
            <a:off x="8119872" y="1600200"/>
            <a:ext cx="3529584" cy="1371600"/>
          </a:xfrm>
          <a:prstGeom prst="roundRect">
            <a:avLst>
              <a:gd name="adj" fmla="val 6000"/>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1" name="Text 9"/>
          <p:cNvSpPr/>
          <p:nvPr/>
        </p:nvSpPr>
        <p:spPr>
          <a:xfrm>
            <a:off x="8375904" y="1783080"/>
            <a:ext cx="3072384" cy="36576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Traces</a:t>
            </a:r>
            <a:endParaRPr lang="en-US" sz="1500" dirty="0"/>
          </a:p>
        </p:txBody>
      </p:sp>
      <p:sp>
        <p:nvSpPr>
          <p:cNvPr id="12" name="Text 10"/>
          <p:cNvSpPr/>
          <p:nvPr/>
        </p:nvSpPr>
        <p:spPr>
          <a:xfrm>
            <a:off x="8375904" y="2176272"/>
            <a:ext cx="3072384" cy="685800"/>
          </a:xfrm>
          <a:prstGeom prst="rect">
            <a:avLst/>
          </a:prstGeom>
          <a:noFill/>
          <a:ln/>
        </p:spPr>
        <p:txBody>
          <a:bodyPr wrap="square" lIns="0" tIns="0" rIns="0" bIns="0" rtlCol="0" anchor="ctr"/>
          <a:lstStyle/>
          <a:p>
            <a:pPr marL="0" indent="0">
              <a:lnSpc>
                <a:spcPct val="103000"/>
              </a:lnSpc>
              <a:buNone/>
            </a:pPr>
            <a:r>
              <a:rPr lang="en-US" sz="1250" dirty="0">
                <a:solidFill>
                  <a:srgbClr val="1A2B36"/>
                </a:solidFill>
                <a:latin typeface="Calibri" pitchFamily="34" charset="0"/>
                <a:ea typeface="Calibri" pitchFamily="34" charset="-122"/>
                <a:cs typeface="Calibri" pitchFamily="34" charset="-120"/>
              </a:rPr>
              <a:t>Jaeger · Tempo · OpenTelemetry</a:t>
            </a:r>
            <a:endParaRPr lang="en-US" sz="1250" dirty="0"/>
          </a:p>
        </p:txBody>
      </p:sp>
      <p:sp>
        <p:nvSpPr>
          <p:cNvPr id="13" name="Shape 11"/>
          <p:cNvSpPr/>
          <p:nvPr/>
        </p:nvSpPr>
        <p:spPr>
          <a:xfrm>
            <a:off x="548640" y="3227832"/>
            <a:ext cx="3529584" cy="1371600"/>
          </a:xfrm>
          <a:prstGeom prst="roundRect">
            <a:avLst>
              <a:gd name="adj" fmla="val 6000"/>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4" name="Text 12"/>
          <p:cNvSpPr/>
          <p:nvPr/>
        </p:nvSpPr>
        <p:spPr>
          <a:xfrm>
            <a:off x="804672" y="3410712"/>
            <a:ext cx="3072384" cy="36576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Alerting</a:t>
            </a:r>
            <a:endParaRPr lang="en-US" sz="1500" dirty="0"/>
          </a:p>
        </p:txBody>
      </p:sp>
      <p:sp>
        <p:nvSpPr>
          <p:cNvPr id="15" name="Text 13"/>
          <p:cNvSpPr/>
          <p:nvPr/>
        </p:nvSpPr>
        <p:spPr>
          <a:xfrm>
            <a:off x="804672" y="3803904"/>
            <a:ext cx="3072384" cy="685800"/>
          </a:xfrm>
          <a:prstGeom prst="rect">
            <a:avLst/>
          </a:prstGeom>
          <a:noFill/>
          <a:ln/>
        </p:spPr>
        <p:txBody>
          <a:bodyPr wrap="square" lIns="0" tIns="0" rIns="0" bIns="0" rtlCol="0" anchor="ctr"/>
          <a:lstStyle/>
          <a:p>
            <a:pPr marL="0" indent="0">
              <a:lnSpc>
                <a:spcPct val="103000"/>
              </a:lnSpc>
              <a:buNone/>
            </a:pPr>
            <a:r>
              <a:rPr lang="en-US" sz="1250" dirty="0">
                <a:solidFill>
                  <a:srgbClr val="1A2B36"/>
                </a:solidFill>
                <a:latin typeface="Calibri" pitchFamily="34" charset="0"/>
                <a:ea typeface="Calibri" pitchFamily="34" charset="-122"/>
                <a:cs typeface="Calibri" pitchFamily="34" charset="-120"/>
              </a:rPr>
              <a:t>Alertmanager · Grafana Alerting · PagerDuty</a:t>
            </a:r>
            <a:endParaRPr lang="en-US" sz="1250" dirty="0"/>
          </a:p>
        </p:txBody>
      </p:sp>
      <p:sp>
        <p:nvSpPr>
          <p:cNvPr id="16" name="Shape 14"/>
          <p:cNvSpPr/>
          <p:nvPr/>
        </p:nvSpPr>
        <p:spPr>
          <a:xfrm>
            <a:off x="4334256" y="3227832"/>
            <a:ext cx="3529584" cy="1371600"/>
          </a:xfrm>
          <a:prstGeom prst="roundRect">
            <a:avLst>
              <a:gd name="adj" fmla="val 6000"/>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7" name="Text 15"/>
          <p:cNvSpPr/>
          <p:nvPr/>
        </p:nvSpPr>
        <p:spPr>
          <a:xfrm>
            <a:off x="4590288" y="3410712"/>
            <a:ext cx="3072384" cy="36576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K8s-native</a:t>
            </a:r>
            <a:endParaRPr lang="en-US" sz="1500" dirty="0"/>
          </a:p>
        </p:txBody>
      </p:sp>
      <p:sp>
        <p:nvSpPr>
          <p:cNvPr id="18" name="Text 16"/>
          <p:cNvSpPr/>
          <p:nvPr/>
        </p:nvSpPr>
        <p:spPr>
          <a:xfrm>
            <a:off x="4590288" y="3803904"/>
            <a:ext cx="3072384" cy="685800"/>
          </a:xfrm>
          <a:prstGeom prst="rect">
            <a:avLst/>
          </a:prstGeom>
          <a:noFill/>
          <a:ln/>
        </p:spPr>
        <p:txBody>
          <a:bodyPr wrap="square" lIns="0" tIns="0" rIns="0" bIns="0" rtlCol="0" anchor="ctr"/>
          <a:lstStyle/>
          <a:p>
            <a:pPr marL="0" indent="0">
              <a:lnSpc>
                <a:spcPct val="103000"/>
              </a:lnSpc>
              <a:buNone/>
            </a:pPr>
            <a:r>
              <a:rPr lang="en-US" sz="1250" dirty="0">
                <a:solidFill>
                  <a:srgbClr val="1A2B36"/>
                </a:solidFill>
                <a:latin typeface="Calibri" pitchFamily="34" charset="0"/>
                <a:ea typeface="Calibri" pitchFamily="34" charset="-122"/>
                <a:cs typeface="Calibri" pitchFamily="34" charset="-120"/>
              </a:rPr>
              <a:t>kubectl top · Metrics Server · kube-state-metrics · cAdvisor</a:t>
            </a:r>
            <a:endParaRPr lang="en-US" sz="1250" dirty="0"/>
          </a:p>
        </p:txBody>
      </p:sp>
      <p:sp>
        <p:nvSpPr>
          <p:cNvPr id="19" name="Shape 17"/>
          <p:cNvSpPr/>
          <p:nvPr/>
        </p:nvSpPr>
        <p:spPr>
          <a:xfrm>
            <a:off x="8119872" y="3227832"/>
            <a:ext cx="3529584" cy="1371600"/>
          </a:xfrm>
          <a:prstGeom prst="roundRect">
            <a:avLst>
              <a:gd name="adj" fmla="val 6000"/>
            </a:avLst>
          </a:prstGeom>
          <a:solidFill>
            <a:srgbClr val="F6A623"/>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0" name="Text 18"/>
          <p:cNvSpPr/>
          <p:nvPr/>
        </p:nvSpPr>
        <p:spPr>
          <a:xfrm>
            <a:off x="8375904" y="3410712"/>
            <a:ext cx="3072384"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Trọng tâm hôm nay</a:t>
            </a:r>
            <a:endParaRPr lang="en-US" sz="1500" dirty="0"/>
          </a:p>
        </p:txBody>
      </p:sp>
      <p:sp>
        <p:nvSpPr>
          <p:cNvPr id="21" name="Text 19"/>
          <p:cNvSpPr/>
          <p:nvPr/>
        </p:nvSpPr>
        <p:spPr>
          <a:xfrm>
            <a:off x="8375904" y="3803904"/>
            <a:ext cx="3072384" cy="685800"/>
          </a:xfrm>
          <a:prstGeom prst="rect">
            <a:avLst/>
          </a:prstGeom>
          <a:noFill/>
          <a:ln/>
        </p:spPr>
        <p:txBody>
          <a:bodyPr wrap="square" lIns="0" tIns="0" rIns="0" bIns="0" rtlCol="0" anchor="ctr"/>
          <a:lstStyle/>
          <a:p>
            <a:pPr marL="0" indent="0">
              <a:lnSpc>
                <a:spcPct val="103000"/>
              </a:lnSpc>
              <a:buNone/>
            </a:pPr>
            <a:r>
              <a:rPr lang="en-US" sz="1250" dirty="0">
                <a:solidFill>
                  <a:srgbClr val="FFF4DE"/>
                </a:solidFill>
                <a:latin typeface="Calibri" pitchFamily="34" charset="0"/>
                <a:ea typeface="Calibri" pitchFamily="34" charset="-122"/>
                <a:cs typeface="Calibri" pitchFamily="34" charset="-120"/>
              </a:rPr>
              <a:t>Prometheus + Grafana + Exporters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SESSION 1</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Kiến trúc Prometheus &amp; tín hiệu vàng</a:t>
            </a:r>
            <a:endParaRPr lang="en-US" sz="3000" dirty="0"/>
          </a:p>
        </p:txBody>
      </p:sp>
      <p:sp>
        <p:nvSpPr>
          <p:cNvPr id="4" name="Shape 2"/>
          <p:cNvSpPr/>
          <p:nvPr/>
        </p:nvSpPr>
        <p:spPr>
          <a:xfrm>
            <a:off x="548640" y="1600200"/>
            <a:ext cx="6309360" cy="4069080"/>
          </a:xfrm>
          <a:prstGeom prst="roundRect">
            <a:avLst>
              <a:gd name="adj" fmla="val 2022"/>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Text 3"/>
          <p:cNvSpPr/>
          <p:nvPr/>
        </p:nvSpPr>
        <p:spPr>
          <a:xfrm>
            <a:off x="777240" y="1783080"/>
            <a:ext cx="5760720" cy="365760"/>
          </a:xfrm>
          <a:prstGeom prst="rect">
            <a:avLst/>
          </a:prstGeom>
          <a:noFill/>
          <a:ln/>
        </p:spPr>
        <p:txBody>
          <a:bodyPr wrap="square" lIns="0" tIns="0" rIns="0" bIns="0" rtlCol="0" anchor="ctr"/>
          <a:lstStyle/>
          <a:p>
            <a:pPr marL="0" indent="0">
              <a:buNone/>
            </a:pPr>
            <a:r>
              <a:rPr lang="en-US" sz="1600" b="1" dirty="0">
                <a:solidFill>
                  <a:srgbClr val="0E8C82"/>
                </a:solidFill>
                <a:latin typeface="Calibri" pitchFamily="34" charset="0"/>
                <a:ea typeface="Calibri" pitchFamily="34" charset="-122"/>
                <a:cs typeface="Calibri" pitchFamily="34" charset="-120"/>
              </a:rPr>
              <a:t>Mô hình PULL</a:t>
            </a:r>
            <a:endParaRPr lang="en-US" sz="1600" dirty="0"/>
          </a:p>
        </p:txBody>
      </p:sp>
      <p:sp>
        <p:nvSpPr>
          <p:cNvPr id="6" name="Shape 4"/>
          <p:cNvSpPr/>
          <p:nvPr/>
        </p:nvSpPr>
        <p:spPr>
          <a:xfrm>
            <a:off x="822960" y="2240280"/>
            <a:ext cx="457200" cy="45720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7" name="Text 5"/>
          <p:cNvSpPr/>
          <p:nvPr/>
        </p:nvSpPr>
        <p:spPr>
          <a:xfrm>
            <a:off x="822960" y="2240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463040" y="2185416"/>
            <a:ext cx="5120640" cy="320040"/>
          </a:xfrm>
          <a:prstGeom prst="rect">
            <a:avLst/>
          </a:prstGeom>
          <a:noFill/>
          <a:ln/>
        </p:spPr>
        <p:txBody>
          <a:bodyPr wrap="square" lIns="0" tIns="0" rIns="0" bIns="0" rtlCol="0" anchor="ctr"/>
          <a:lstStyle/>
          <a:p>
            <a:pPr marL="0" indent="0">
              <a:buNone/>
            </a:pPr>
            <a:r>
              <a:rPr lang="en-US" sz="1450" b="1" dirty="0">
                <a:solidFill>
                  <a:srgbClr val="1A2B36"/>
                </a:solidFill>
                <a:latin typeface="Calibri" pitchFamily="34" charset="0"/>
                <a:ea typeface="Calibri" pitchFamily="34" charset="-122"/>
                <a:cs typeface="Calibri" pitchFamily="34" charset="-120"/>
              </a:rPr>
              <a:t>Targets / Exporters</a:t>
            </a:r>
            <a:endParaRPr lang="en-US" sz="1450" dirty="0"/>
          </a:p>
        </p:txBody>
      </p:sp>
      <p:sp>
        <p:nvSpPr>
          <p:cNvPr id="9" name="Text 7"/>
          <p:cNvSpPr/>
          <p:nvPr/>
        </p:nvSpPr>
        <p:spPr>
          <a:xfrm>
            <a:off x="1463040" y="2496312"/>
            <a:ext cx="5120640" cy="320040"/>
          </a:xfrm>
          <a:prstGeom prst="rect">
            <a:avLst/>
          </a:prstGeom>
          <a:noFill/>
          <a:ln/>
        </p:spPr>
        <p:txBody>
          <a:bodyPr wrap="square" lIns="0" tIns="0" rIns="0" bIns="0" rtlCol="0" anchor="ctr"/>
          <a:lstStyle/>
          <a:p>
            <a:pPr marL="0" indent="0">
              <a:buNone/>
            </a:pPr>
            <a:r>
              <a:rPr lang="en-US" sz="1200" dirty="0">
                <a:solidFill>
                  <a:srgbClr val="5D6E78"/>
                </a:solidFill>
                <a:latin typeface="Calibri" pitchFamily="34" charset="0"/>
                <a:ea typeface="Calibri" pitchFamily="34" charset="-122"/>
                <a:cs typeface="Calibri" pitchFamily="34" charset="-120"/>
              </a:rPr>
              <a:t>expose /metrics (HTTP)</a:t>
            </a:r>
            <a:endParaRPr lang="en-US" sz="1200" dirty="0"/>
          </a:p>
        </p:txBody>
      </p:sp>
      <p:sp>
        <p:nvSpPr>
          <p:cNvPr id="10" name="Text 8"/>
          <p:cNvSpPr/>
          <p:nvPr/>
        </p:nvSpPr>
        <p:spPr>
          <a:xfrm>
            <a:off x="960120" y="2697480"/>
            <a:ext cx="365760" cy="320040"/>
          </a:xfrm>
          <a:prstGeom prst="rect">
            <a:avLst/>
          </a:prstGeom>
          <a:noFill/>
          <a:ln/>
        </p:spPr>
        <p:txBody>
          <a:bodyPr wrap="square" lIns="0" tIns="0" rIns="0" bIns="0" rtlCol="0" anchor="ctr"/>
          <a:lstStyle/>
          <a:p>
            <a:pPr marL="0" indent="0" algn="ctr">
              <a:buNone/>
            </a:pPr>
            <a:r>
              <a:rPr lang="en-US" sz="1500" b="1" dirty="0">
                <a:solidFill>
                  <a:srgbClr val="1FBFB3"/>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822960" y="3081528"/>
            <a:ext cx="457200" cy="45720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2" name="Text 10"/>
          <p:cNvSpPr/>
          <p:nvPr/>
        </p:nvSpPr>
        <p:spPr>
          <a:xfrm>
            <a:off x="822960" y="30815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463040" y="3026664"/>
            <a:ext cx="5120640" cy="320040"/>
          </a:xfrm>
          <a:prstGeom prst="rect">
            <a:avLst/>
          </a:prstGeom>
          <a:noFill/>
          <a:ln/>
        </p:spPr>
        <p:txBody>
          <a:bodyPr wrap="square" lIns="0" tIns="0" rIns="0" bIns="0" rtlCol="0" anchor="ctr"/>
          <a:lstStyle/>
          <a:p>
            <a:pPr marL="0" indent="0">
              <a:buNone/>
            </a:pPr>
            <a:r>
              <a:rPr lang="en-US" sz="1450" b="1" dirty="0">
                <a:solidFill>
                  <a:srgbClr val="1A2B36"/>
                </a:solidFill>
                <a:latin typeface="Calibri" pitchFamily="34" charset="0"/>
                <a:ea typeface="Calibri" pitchFamily="34" charset="-122"/>
                <a:cs typeface="Calibri" pitchFamily="34" charset="-120"/>
              </a:rPr>
              <a:t>Prometheus</a:t>
            </a:r>
            <a:endParaRPr lang="en-US" sz="1450" dirty="0"/>
          </a:p>
        </p:txBody>
      </p:sp>
      <p:sp>
        <p:nvSpPr>
          <p:cNvPr id="14" name="Text 12"/>
          <p:cNvSpPr/>
          <p:nvPr/>
        </p:nvSpPr>
        <p:spPr>
          <a:xfrm>
            <a:off x="1463040" y="3337560"/>
            <a:ext cx="5120640" cy="320040"/>
          </a:xfrm>
          <a:prstGeom prst="rect">
            <a:avLst/>
          </a:prstGeom>
          <a:noFill/>
          <a:ln/>
        </p:spPr>
        <p:txBody>
          <a:bodyPr wrap="square" lIns="0" tIns="0" rIns="0" bIns="0" rtlCol="0" anchor="ctr"/>
          <a:lstStyle/>
          <a:p>
            <a:pPr marL="0" indent="0">
              <a:buNone/>
            </a:pPr>
            <a:r>
              <a:rPr lang="en-US" sz="1200" dirty="0">
                <a:solidFill>
                  <a:srgbClr val="5D6E78"/>
                </a:solidFill>
                <a:latin typeface="Calibri" pitchFamily="34" charset="0"/>
                <a:ea typeface="Calibri" pitchFamily="34" charset="-122"/>
                <a:cs typeface="Calibri" pitchFamily="34" charset="-120"/>
              </a:rPr>
              <a:t>scrape định kỳ → lưu vào TSDB</a:t>
            </a:r>
            <a:endParaRPr lang="en-US" sz="1200" dirty="0"/>
          </a:p>
        </p:txBody>
      </p:sp>
      <p:sp>
        <p:nvSpPr>
          <p:cNvPr id="15" name="Text 13"/>
          <p:cNvSpPr/>
          <p:nvPr/>
        </p:nvSpPr>
        <p:spPr>
          <a:xfrm>
            <a:off x="960120" y="3538728"/>
            <a:ext cx="365760" cy="320040"/>
          </a:xfrm>
          <a:prstGeom prst="rect">
            <a:avLst/>
          </a:prstGeom>
          <a:noFill/>
          <a:ln/>
        </p:spPr>
        <p:txBody>
          <a:bodyPr wrap="square" lIns="0" tIns="0" rIns="0" bIns="0" rtlCol="0" anchor="ctr"/>
          <a:lstStyle/>
          <a:p>
            <a:pPr marL="0" indent="0" algn="ctr">
              <a:buNone/>
            </a:pPr>
            <a:r>
              <a:rPr lang="en-US" sz="1500" b="1" dirty="0">
                <a:solidFill>
                  <a:srgbClr val="1FBFB3"/>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22960" y="3922776"/>
            <a:ext cx="457200" cy="45720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7" name="Text 15"/>
          <p:cNvSpPr/>
          <p:nvPr/>
        </p:nvSpPr>
        <p:spPr>
          <a:xfrm>
            <a:off x="822960" y="392277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463040" y="3867912"/>
            <a:ext cx="5120640" cy="320040"/>
          </a:xfrm>
          <a:prstGeom prst="rect">
            <a:avLst/>
          </a:prstGeom>
          <a:noFill/>
          <a:ln/>
        </p:spPr>
        <p:txBody>
          <a:bodyPr wrap="square" lIns="0" tIns="0" rIns="0" bIns="0" rtlCol="0" anchor="ctr"/>
          <a:lstStyle/>
          <a:p>
            <a:pPr marL="0" indent="0">
              <a:buNone/>
            </a:pPr>
            <a:r>
              <a:rPr lang="en-US" sz="1450" b="1" dirty="0">
                <a:solidFill>
                  <a:srgbClr val="1A2B36"/>
                </a:solidFill>
                <a:latin typeface="Calibri" pitchFamily="34" charset="0"/>
                <a:ea typeface="Calibri" pitchFamily="34" charset="-122"/>
                <a:cs typeface="Calibri" pitchFamily="34" charset="-120"/>
              </a:rPr>
              <a:t>PromQL</a:t>
            </a:r>
            <a:endParaRPr lang="en-US" sz="1450" dirty="0"/>
          </a:p>
        </p:txBody>
      </p:sp>
      <p:sp>
        <p:nvSpPr>
          <p:cNvPr id="19" name="Text 17"/>
          <p:cNvSpPr/>
          <p:nvPr/>
        </p:nvSpPr>
        <p:spPr>
          <a:xfrm>
            <a:off x="1463040" y="4178808"/>
            <a:ext cx="5120640" cy="320040"/>
          </a:xfrm>
          <a:prstGeom prst="rect">
            <a:avLst/>
          </a:prstGeom>
          <a:noFill/>
          <a:ln/>
        </p:spPr>
        <p:txBody>
          <a:bodyPr wrap="square" lIns="0" tIns="0" rIns="0" bIns="0" rtlCol="0" anchor="ctr"/>
          <a:lstStyle/>
          <a:p>
            <a:pPr marL="0" indent="0">
              <a:buNone/>
            </a:pPr>
            <a:r>
              <a:rPr lang="en-US" sz="1200" dirty="0">
                <a:solidFill>
                  <a:srgbClr val="5D6E78"/>
                </a:solidFill>
                <a:latin typeface="Calibri" pitchFamily="34" charset="0"/>
                <a:ea typeface="Calibri" pitchFamily="34" charset="-122"/>
                <a:cs typeface="Calibri" pitchFamily="34" charset="-120"/>
              </a:rPr>
              <a:t>truy vấn dữ liệu chuỗi thời gian</a:t>
            </a:r>
            <a:endParaRPr lang="en-US" sz="1200" dirty="0"/>
          </a:p>
        </p:txBody>
      </p:sp>
      <p:sp>
        <p:nvSpPr>
          <p:cNvPr id="20" name="Text 18"/>
          <p:cNvSpPr/>
          <p:nvPr/>
        </p:nvSpPr>
        <p:spPr>
          <a:xfrm>
            <a:off x="960120" y="4379976"/>
            <a:ext cx="365760" cy="320040"/>
          </a:xfrm>
          <a:prstGeom prst="rect">
            <a:avLst/>
          </a:prstGeom>
          <a:noFill/>
          <a:ln/>
        </p:spPr>
        <p:txBody>
          <a:bodyPr wrap="square" lIns="0" tIns="0" rIns="0" bIns="0" rtlCol="0" anchor="ctr"/>
          <a:lstStyle/>
          <a:p>
            <a:pPr marL="0" indent="0" algn="ctr">
              <a:buNone/>
            </a:pPr>
            <a:r>
              <a:rPr lang="en-US" sz="1500" b="1" dirty="0">
                <a:solidFill>
                  <a:srgbClr val="1FBFB3"/>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822960" y="4764024"/>
            <a:ext cx="457200" cy="45720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22" name="Text 20"/>
          <p:cNvSpPr/>
          <p:nvPr/>
        </p:nvSpPr>
        <p:spPr>
          <a:xfrm>
            <a:off x="822960" y="47640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463040" y="4709160"/>
            <a:ext cx="5120640" cy="320040"/>
          </a:xfrm>
          <a:prstGeom prst="rect">
            <a:avLst/>
          </a:prstGeom>
          <a:noFill/>
          <a:ln/>
        </p:spPr>
        <p:txBody>
          <a:bodyPr wrap="square" lIns="0" tIns="0" rIns="0" bIns="0" rtlCol="0" anchor="ctr"/>
          <a:lstStyle/>
          <a:p>
            <a:pPr marL="0" indent="0">
              <a:buNone/>
            </a:pPr>
            <a:r>
              <a:rPr lang="en-US" sz="1450" b="1" dirty="0">
                <a:solidFill>
                  <a:srgbClr val="1A2B36"/>
                </a:solidFill>
                <a:latin typeface="Calibri" pitchFamily="34" charset="0"/>
                <a:ea typeface="Calibri" pitchFamily="34" charset="-122"/>
                <a:cs typeface="Calibri" pitchFamily="34" charset="-120"/>
              </a:rPr>
              <a:t>Grafana / Alertmanager</a:t>
            </a:r>
            <a:endParaRPr lang="en-US" sz="1450" dirty="0"/>
          </a:p>
        </p:txBody>
      </p:sp>
      <p:sp>
        <p:nvSpPr>
          <p:cNvPr id="24" name="Text 22"/>
          <p:cNvSpPr/>
          <p:nvPr/>
        </p:nvSpPr>
        <p:spPr>
          <a:xfrm>
            <a:off x="1463040" y="5020056"/>
            <a:ext cx="5120640" cy="320040"/>
          </a:xfrm>
          <a:prstGeom prst="rect">
            <a:avLst/>
          </a:prstGeom>
          <a:noFill/>
          <a:ln/>
        </p:spPr>
        <p:txBody>
          <a:bodyPr wrap="square" lIns="0" tIns="0" rIns="0" bIns="0" rtlCol="0" anchor="ctr"/>
          <a:lstStyle/>
          <a:p>
            <a:pPr marL="0" indent="0">
              <a:buNone/>
            </a:pPr>
            <a:r>
              <a:rPr lang="en-US" sz="1200" dirty="0">
                <a:solidFill>
                  <a:srgbClr val="5D6E78"/>
                </a:solidFill>
                <a:latin typeface="Calibri" pitchFamily="34" charset="0"/>
                <a:ea typeface="Calibri" pitchFamily="34" charset="-122"/>
                <a:cs typeface="Calibri" pitchFamily="34" charset="-120"/>
              </a:rPr>
              <a:t>trực quan hoá &amp; cảnh báo</a:t>
            </a:r>
            <a:endParaRPr lang="en-US" sz="1200" dirty="0"/>
          </a:p>
        </p:txBody>
      </p:sp>
      <p:sp>
        <p:nvSpPr>
          <p:cNvPr id="25" name="Shape 23"/>
          <p:cNvSpPr/>
          <p:nvPr/>
        </p:nvSpPr>
        <p:spPr>
          <a:xfrm>
            <a:off x="7040880" y="1600200"/>
            <a:ext cx="4599432" cy="4069080"/>
          </a:xfrm>
          <a:prstGeom prst="roundRect">
            <a:avLst>
              <a:gd name="adj" fmla="val 2022"/>
            </a:avLst>
          </a:prstGeom>
          <a:solidFill>
            <a:srgbClr val="0E2233"/>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6" name="Text 24"/>
          <p:cNvSpPr/>
          <p:nvPr/>
        </p:nvSpPr>
        <p:spPr>
          <a:xfrm>
            <a:off x="7269480" y="1783080"/>
            <a:ext cx="4114800" cy="365760"/>
          </a:xfrm>
          <a:prstGeom prst="rect">
            <a:avLst/>
          </a:prstGeom>
          <a:noFill/>
          <a:ln/>
        </p:spPr>
        <p:txBody>
          <a:bodyPr wrap="square" lIns="0" tIns="0" rIns="0" bIns="0" rtlCol="0" anchor="ctr"/>
          <a:lstStyle/>
          <a:p>
            <a:pPr marL="0" indent="0">
              <a:buNone/>
            </a:pPr>
            <a:r>
              <a:rPr lang="en-US" sz="1600" b="1" dirty="0">
                <a:solidFill>
                  <a:srgbClr val="F6A623"/>
                </a:solidFill>
                <a:latin typeface="Calibri" pitchFamily="34" charset="0"/>
                <a:ea typeface="Calibri" pitchFamily="34" charset="-122"/>
                <a:cs typeface="Calibri" pitchFamily="34" charset="-120"/>
              </a:rPr>
              <a:t>4 Golden Signals</a:t>
            </a:r>
            <a:endParaRPr lang="en-US" sz="1600" dirty="0"/>
          </a:p>
        </p:txBody>
      </p:sp>
      <p:sp>
        <p:nvSpPr>
          <p:cNvPr id="27" name="Shape 25"/>
          <p:cNvSpPr/>
          <p:nvPr/>
        </p:nvSpPr>
        <p:spPr>
          <a:xfrm>
            <a:off x="7269480" y="2286000"/>
            <a:ext cx="4114800" cy="658368"/>
          </a:xfrm>
          <a:prstGeom prst="roundRect">
            <a:avLst>
              <a:gd name="adj" fmla="val 11111"/>
            </a:avLst>
          </a:prstGeom>
          <a:solidFill>
            <a:srgbClr val="FFFFFF">
              <a:alpha val="10000"/>
            </a:srgbClr>
          </a:solidFill>
          <a:ln/>
        </p:spPr>
        <p:txBody>
          <a:bodyPr/>
          <a:lstStyle/>
          <a:p>
            <a:endParaRPr lang="en-US"/>
          </a:p>
        </p:txBody>
      </p:sp>
      <p:sp>
        <p:nvSpPr>
          <p:cNvPr id="28" name="Text 26"/>
          <p:cNvSpPr/>
          <p:nvPr/>
        </p:nvSpPr>
        <p:spPr>
          <a:xfrm>
            <a:off x="7452360" y="2286000"/>
            <a:ext cx="1645920" cy="658368"/>
          </a:xfrm>
          <a:prstGeom prst="rect">
            <a:avLst/>
          </a:prstGeom>
          <a:noFill/>
          <a:ln/>
        </p:spPr>
        <p:txBody>
          <a:bodyPr wrap="square" lIns="0" tIns="0" rIns="0" bIns="0" rtlCol="0" anchor="ctr"/>
          <a:lstStyle/>
          <a:p>
            <a:pPr marL="0" indent="0">
              <a:buNone/>
            </a:pPr>
            <a:r>
              <a:rPr lang="en-US" sz="1500" b="1" dirty="0">
                <a:solidFill>
                  <a:srgbClr val="1FBFB3"/>
                </a:solidFill>
                <a:latin typeface="Calibri" pitchFamily="34" charset="0"/>
                <a:ea typeface="Calibri" pitchFamily="34" charset="-122"/>
                <a:cs typeface="Calibri" pitchFamily="34" charset="-120"/>
              </a:rPr>
              <a:t>Latency</a:t>
            </a:r>
            <a:endParaRPr lang="en-US" sz="1500" dirty="0"/>
          </a:p>
        </p:txBody>
      </p:sp>
      <p:sp>
        <p:nvSpPr>
          <p:cNvPr id="29" name="Text 27"/>
          <p:cNvSpPr/>
          <p:nvPr/>
        </p:nvSpPr>
        <p:spPr>
          <a:xfrm>
            <a:off x="9052560" y="2286000"/>
            <a:ext cx="2194560" cy="658368"/>
          </a:xfrm>
          <a:prstGeom prst="rect">
            <a:avLst/>
          </a:prstGeom>
          <a:noFill/>
          <a:ln/>
        </p:spPr>
        <p:txBody>
          <a:bodyPr wrap="square" lIns="0" tIns="0" rIns="0" bIns="0" rtlCol="0" anchor="ctr"/>
          <a:lstStyle/>
          <a:p>
            <a:pPr marL="0" indent="0">
              <a:buNone/>
            </a:pPr>
            <a:r>
              <a:rPr lang="en-US" sz="1250" dirty="0">
                <a:solidFill>
                  <a:srgbClr val="D6E4EA"/>
                </a:solidFill>
                <a:latin typeface="Calibri" pitchFamily="34" charset="0"/>
                <a:ea typeface="Calibri" pitchFamily="34" charset="-122"/>
                <a:cs typeface="Calibri" pitchFamily="34" charset="-120"/>
              </a:rPr>
              <a:t>thời gian phản hồi</a:t>
            </a:r>
            <a:endParaRPr lang="en-US" sz="1250" dirty="0"/>
          </a:p>
        </p:txBody>
      </p:sp>
      <p:sp>
        <p:nvSpPr>
          <p:cNvPr id="30" name="Shape 28"/>
          <p:cNvSpPr/>
          <p:nvPr/>
        </p:nvSpPr>
        <p:spPr>
          <a:xfrm>
            <a:off x="7269480" y="3072384"/>
            <a:ext cx="4114800" cy="658368"/>
          </a:xfrm>
          <a:prstGeom prst="roundRect">
            <a:avLst>
              <a:gd name="adj" fmla="val 11111"/>
            </a:avLst>
          </a:prstGeom>
          <a:solidFill>
            <a:srgbClr val="FFFFFF">
              <a:alpha val="10000"/>
            </a:srgbClr>
          </a:solidFill>
          <a:ln/>
        </p:spPr>
        <p:txBody>
          <a:bodyPr/>
          <a:lstStyle/>
          <a:p>
            <a:endParaRPr lang="en-US"/>
          </a:p>
        </p:txBody>
      </p:sp>
      <p:sp>
        <p:nvSpPr>
          <p:cNvPr id="31" name="Text 29"/>
          <p:cNvSpPr/>
          <p:nvPr/>
        </p:nvSpPr>
        <p:spPr>
          <a:xfrm>
            <a:off x="7452360" y="3072384"/>
            <a:ext cx="1645920" cy="658368"/>
          </a:xfrm>
          <a:prstGeom prst="rect">
            <a:avLst/>
          </a:prstGeom>
          <a:noFill/>
          <a:ln/>
        </p:spPr>
        <p:txBody>
          <a:bodyPr wrap="square" lIns="0" tIns="0" rIns="0" bIns="0" rtlCol="0" anchor="ctr"/>
          <a:lstStyle/>
          <a:p>
            <a:pPr marL="0" indent="0">
              <a:buNone/>
            </a:pPr>
            <a:r>
              <a:rPr lang="en-US" sz="1500" b="1" dirty="0">
                <a:solidFill>
                  <a:srgbClr val="1FBFB3"/>
                </a:solidFill>
                <a:latin typeface="Calibri" pitchFamily="34" charset="0"/>
                <a:ea typeface="Calibri" pitchFamily="34" charset="-122"/>
                <a:cs typeface="Calibri" pitchFamily="34" charset="-120"/>
              </a:rPr>
              <a:t>Traffic</a:t>
            </a:r>
            <a:endParaRPr lang="en-US" sz="1500" dirty="0"/>
          </a:p>
        </p:txBody>
      </p:sp>
      <p:sp>
        <p:nvSpPr>
          <p:cNvPr id="32" name="Text 30"/>
          <p:cNvSpPr/>
          <p:nvPr/>
        </p:nvSpPr>
        <p:spPr>
          <a:xfrm>
            <a:off x="9052560" y="3072384"/>
            <a:ext cx="2194560" cy="658368"/>
          </a:xfrm>
          <a:prstGeom prst="rect">
            <a:avLst/>
          </a:prstGeom>
          <a:noFill/>
          <a:ln/>
        </p:spPr>
        <p:txBody>
          <a:bodyPr wrap="square" lIns="0" tIns="0" rIns="0" bIns="0" rtlCol="0" anchor="ctr"/>
          <a:lstStyle/>
          <a:p>
            <a:pPr marL="0" indent="0">
              <a:buNone/>
            </a:pPr>
            <a:r>
              <a:rPr lang="en-US" sz="1250" dirty="0">
                <a:solidFill>
                  <a:srgbClr val="D6E4EA"/>
                </a:solidFill>
                <a:latin typeface="Calibri" pitchFamily="34" charset="0"/>
                <a:ea typeface="Calibri" pitchFamily="34" charset="-122"/>
                <a:cs typeface="Calibri" pitchFamily="34" charset="-120"/>
              </a:rPr>
              <a:t>lưu lượng / tải</a:t>
            </a:r>
            <a:endParaRPr lang="en-US" sz="1250" dirty="0"/>
          </a:p>
        </p:txBody>
      </p:sp>
      <p:sp>
        <p:nvSpPr>
          <p:cNvPr id="33" name="Shape 31"/>
          <p:cNvSpPr/>
          <p:nvPr/>
        </p:nvSpPr>
        <p:spPr>
          <a:xfrm>
            <a:off x="7269480" y="3858768"/>
            <a:ext cx="4114800" cy="658368"/>
          </a:xfrm>
          <a:prstGeom prst="roundRect">
            <a:avLst>
              <a:gd name="adj" fmla="val 11111"/>
            </a:avLst>
          </a:prstGeom>
          <a:solidFill>
            <a:srgbClr val="FFFFFF">
              <a:alpha val="10000"/>
            </a:srgbClr>
          </a:solidFill>
          <a:ln/>
        </p:spPr>
        <p:txBody>
          <a:bodyPr/>
          <a:lstStyle/>
          <a:p>
            <a:endParaRPr lang="en-US"/>
          </a:p>
        </p:txBody>
      </p:sp>
      <p:sp>
        <p:nvSpPr>
          <p:cNvPr id="34" name="Text 32"/>
          <p:cNvSpPr/>
          <p:nvPr/>
        </p:nvSpPr>
        <p:spPr>
          <a:xfrm>
            <a:off x="7452360" y="3858768"/>
            <a:ext cx="1645920" cy="658368"/>
          </a:xfrm>
          <a:prstGeom prst="rect">
            <a:avLst/>
          </a:prstGeom>
          <a:noFill/>
          <a:ln/>
        </p:spPr>
        <p:txBody>
          <a:bodyPr wrap="square" lIns="0" tIns="0" rIns="0" bIns="0" rtlCol="0" anchor="ctr"/>
          <a:lstStyle/>
          <a:p>
            <a:pPr marL="0" indent="0">
              <a:buNone/>
            </a:pPr>
            <a:r>
              <a:rPr lang="en-US" sz="1500" b="1" dirty="0">
                <a:solidFill>
                  <a:srgbClr val="1FBFB3"/>
                </a:solidFill>
                <a:latin typeface="Calibri" pitchFamily="34" charset="0"/>
                <a:ea typeface="Calibri" pitchFamily="34" charset="-122"/>
                <a:cs typeface="Calibri" pitchFamily="34" charset="-120"/>
              </a:rPr>
              <a:t>Errors</a:t>
            </a:r>
            <a:endParaRPr lang="en-US" sz="1500" dirty="0"/>
          </a:p>
        </p:txBody>
      </p:sp>
      <p:sp>
        <p:nvSpPr>
          <p:cNvPr id="35" name="Text 33"/>
          <p:cNvSpPr/>
          <p:nvPr/>
        </p:nvSpPr>
        <p:spPr>
          <a:xfrm>
            <a:off x="9052560" y="3858768"/>
            <a:ext cx="2194560" cy="658368"/>
          </a:xfrm>
          <a:prstGeom prst="rect">
            <a:avLst/>
          </a:prstGeom>
          <a:noFill/>
          <a:ln/>
        </p:spPr>
        <p:txBody>
          <a:bodyPr wrap="square" lIns="0" tIns="0" rIns="0" bIns="0" rtlCol="0" anchor="ctr"/>
          <a:lstStyle/>
          <a:p>
            <a:pPr marL="0" indent="0">
              <a:buNone/>
            </a:pPr>
            <a:r>
              <a:rPr lang="en-US" sz="1250" dirty="0">
                <a:solidFill>
                  <a:srgbClr val="D6E4EA"/>
                </a:solidFill>
                <a:latin typeface="Calibri" pitchFamily="34" charset="0"/>
                <a:ea typeface="Calibri" pitchFamily="34" charset="-122"/>
                <a:cs typeface="Calibri" pitchFamily="34" charset="-120"/>
              </a:rPr>
              <a:t>tỉ lệ lỗi</a:t>
            </a:r>
            <a:endParaRPr lang="en-US" sz="1250" dirty="0"/>
          </a:p>
        </p:txBody>
      </p:sp>
      <p:sp>
        <p:nvSpPr>
          <p:cNvPr id="36" name="Shape 34"/>
          <p:cNvSpPr/>
          <p:nvPr/>
        </p:nvSpPr>
        <p:spPr>
          <a:xfrm>
            <a:off x="7269480" y="4645152"/>
            <a:ext cx="4114800" cy="658368"/>
          </a:xfrm>
          <a:prstGeom prst="roundRect">
            <a:avLst>
              <a:gd name="adj" fmla="val 11111"/>
            </a:avLst>
          </a:prstGeom>
          <a:solidFill>
            <a:srgbClr val="FFFFFF">
              <a:alpha val="10000"/>
            </a:srgbClr>
          </a:solidFill>
          <a:ln/>
        </p:spPr>
        <p:txBody>
          <a:bodyPr/>
          <a:lstStyle/>
          <a:p>
            <a:endParaRPr lang="en-US"/>
          </a:p>
        </p:txBody>
      </p:sp>
      <p:sp>
        <p:nvSpPr>
          <p:cNvPr id="37" name="Text 35"/>
          <p:cNvSpPr/>
          <p:nvPr/>
        </p:nvSpPr>
        <p:spPr>
          <a:xfrm>
            <a:off x="7452360" y="4645152"/>
            <a:ext cx="1645920" cy="658368"/>
          </a:xfrm>
          <a:prstGeom prst="rect">
            <a:avLst/>
          </a:prstGeom>
          <a:noFill/>
          <a:ln/>
        </p:spPr>
        <p:txBody>
          <a:bodyPr wrap="square" lIns="0" tIns="0" rIns="0" bIns="0" rtlCol="0" anchor="ctr"/>
          <a:lstStyle/>
          <a:p>
            <a:pPr marL="0" indent="0">
              <a:buNone/>
            </a:pPr>
            <a:r>
              <a:rPr lang="en-US" sz="1500" b="1" dirty="0">
                <a:solidFill>
                  <a:srgbClr val="1FBFB3"/>
                </a:solidFill>
                <a:latin typeface="Calibri" pitchFamily="34" charset="0"/>
                <a:ea typeface="Calibri" pitchFamily="34" charset="-122"/>
                <a:cs typeface="Calibri" pitchFamily="34" charset="-120"/>
              </a:rPr>
              <a:t>Saturation</a:t>
            </a:r>
            <a:endParaRPr lang="en-US" sz="1500" dirty="0"/>
          </a:p>
        </p:txBody>
      </p:sp>
      <p:sp>
        <p:nvSpPr>
          <p:cNvPr id="38" name="Text 36"/>
          <p:cNvSpPr/>
          <p:nvPr/>
        </p:nvSpPr>
        <p:spPr>
          <a:xfrm>
            <a:off x="9052560" y="4645152"/>
            <a:ext cx="2194560" cy="658368"/>
          </a:xfrm>
          <a:prstGeom prst="rect">
            <a:avLst/>
          </a:prstGeom>
          <a:noFill/>
          <a:ln/>
        </p:spPr>
        <p:txBody>
          <a:bodyPr wrap="square" lIns="0" tIns="0" rIns="0" bIns="0" rtlCol="0" anchor="ctr"/>
          <a:lstStyle/>
          <a:p>
            <a:pPr marL="0" indent="0">
              <a:buNone/>
            </a:pPr>
            <a:r>
              <a:rPr lang="en-US" sz="1250" dirty="0">
                <a:solidFill>
                  <a:srgbClr val="D6E4EA"/>
                </a:solidFill>
                <a:latin typeface="Calibri" pitchFamily="34" charset="0"/>
                <a:ea typeface="Calibri" pitchFamily="34" charset="-122"/>
                <a:cs typeface="Calibri" pitchFamily="34" charset="-120"/>
              </a:rPr>
              <a:t>mức bão hoà tài nguyên</a:t>
            </a:r>
            <a:endParaRPr lang="en-US" sz="1250" dirty="0"/>
          </a:p>
        </p:txBody>
      </p:sp>
      <p:sp>
        <p:nvSpPr>
          <p:cNvPr id="39" name="Text 37"/>
          <p:cNvSpPr/>
          <p:nvPr/>
        </p:nvSpPr>
        <p:spPr>
          <a:xfrm>
            <a:off x="7269480" y="5413248"/>
            <a:ext cx="4114800" cy="219456"/>
          </a:xfrm>
          <a:prstGeom prst="rect">
            <a:avLst/>
          </a:prstGeom>
          <a:noFill/>
          <a:ln/>
        </p:spPr>
        <p:txBody>
          <a:bodyPr wrap="square" lIns="0" tIns="0" rIns="0" bIns="0" rtlCol="0" anchor="ctr"/>
          <a:lstStyle/>
          <a:p>
            <a:pPr marL="0" indent="0">
              <a:buNone/>
            </a:pPr>
            <a:r>
              <a:rPr lang="en-US" sz="1050" i="1" dirty="0">
                <a:solidFill>
                  <a:srgbClr val="8FA9B6"/>
                </a:solidFill>
                <a:latin typeface="Calibri" pitchFamily="34" charset="0"/>
                <a:ea typeface="Calibri" pitchFamily="34" charset="-122"/>
                <a:cs typeface="Calibri" pitchFamily="34" charset="-120"/>
              </a:rPr>
              <a:t>Bổ trợ: USE &amp; RED method — cách chọn metric ưu tiên.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A28"/>
        </a:solidFill>
        <a:effectLst/>
      </p:bgPr>
    </p:bg>
    <p:spTree>
      <p:nvGrpSpPr>
        <p:cNvPr id="1" name=""/>
        <p:cNvGrpSpPr/>
        <p:nvPr/>
      </p:nvGrpSpPr>
      <p:grpSpPr>
        <a:xfrm>
          <a:off x="0" y="0"/>
          <a:ext cx="0" cy="0"/>
          <a:chOff x="0" y="0"/>
          <a:chExt cx="0" cy="0"/>
        </a:xfrm>
      </p:grpSpPr>
      <p:sp>
        <p:nvSpPr>
          <p:cNvPr id="2" name="Shape 0"/>
          <p:cNvSpPr/>
          <p:nvPr/>
        </p:nvSpPr>
        <p:spPr>
          <a:xfrm>
            <a:off x="8961120" y="-1097280"/>
            <a:ext cx="4937760" cy="4937760"/>
          </a:xfrm>
          <a:prstGeom prst="ellipse">
            <a:avLst/>
          </a:prstGeom>
          <a:solidFill>
            <a:srgbClr val="1FBFB3">
              <a:alpha val="16000"/>
            </a:srgbClr>
          </a:solidFill>
          <a:ln/>
        </p:spPr>
        <p:txBody>
          <a:bodyPr/>
          <a:lstStyle/>
          <a:p>
            <a:endParaRPr lang="en-US"/>
          </a:p>
        </p:txBody>
      </p:sp>
      <p:sp>
        <p:nvSpPr>
          <p:cNvPr id="3" name="Text 1"/>
          <p:cNvSpPr/>
          <p:nvPr/>
        </p:nvSpPr>
        <p:spPr>
          <a:xfrm>
            <a:off x="731520" y="2148840"/>
            <a:ext cx="3657600" cy="365760"/>
          </a:xfrm>
          <a:prstGeom prst="rect">
            <a:avLst/>
          </a:prstGeom>
          <a:noFill/>
          <a:ln/>
        </p:spPr>
        <p:txBody>
          <a:bodyPr wrap="square" lIns="0" tIns="0" rIns="0" bIns="0" rtlCol="0" anchor="ctr"/>
          <a:lstStyle/>
          <a:p>
            <a:pPr marL="0" indent="0">
              <a:buNone/>
            </a:pPr>
            <a:r>
              <a:rPr lang="en-US" sz="1600" b="1" kern="0" spc="400" dirty="0">
                <a:solidFill>
                  <a:srgbClr val="1FBFB3"/>
                </a:solidFill>
                <a:latin typeface="Calibri" pitchFamily="34" charset="0"/>
                <a:ea typeface="Calibri" pitchFamily="34" charset="-122"/>
                <a:cs typeface="Calibri" pitchFamily="34" charset="-120"/>
              </a:rPr>
              <a:t>SESSION</a:t>
            </a:r>
            <a:endParaRPr lang="en-US" sz="1600" dirty="0"/>
          </a:p>
        </p:txBody>
      </p:sp>
      <p:sp>
        <p:nvSpPr>
          <p:cNvPr id="4" name="Text 2"/>
          <p:cNvSpPr/>
          <p:nvPr/>
        </p:nvSpPr>
        <p:spPr>
          <a:xfrm>
            <a:off x="640080" y="2331720"/>
            <a:ext cx="3108960" cy="2194560"/>
          </a:xfrm>
          <a:prstGeom prst="rect">
            <a:avLst/>
          </a:prstGeom>
          <a:noFill/>
          <a:ln/>
        </p:spPr>
        <p:txBody>
          <a:bodyPr wrap="square" lIns="0" tIns="0" rIns="0" bIns="0" rtlCol="0" anchor="ctr"/>
          <a:lstStyle/>
          <a:p>
            <a:pPr marL="0" indent="0">
              <a:buNone/>
            </a:pPr>
            <a:r>
              <a:rPr lang="en-US" sz="15000" b="1" dirty="0">
                <a:solidFill>
                  <a:srgbClr val="FFFFFF"/>
                </a:solidFill>
                <a:latin typeface="Calibri" pitchFamily="34" charset="0"/>
                <a:ea typeface="Calibri" pitchFamily="34" charset="-122"/>
                <a:cs typeface="Calibri" pitchFamily="34" charset="-120"/>
              </a:rPr>
              <a:t>2</a:t>
            </a:r>
            <a:endParaRPr lang="en-US" sz="15000" dirty="0"/>
          </a:p>
        </p:txBody>
      </p:sp>
      <p:sp>
        <p:nvSpPr>
          <p:cNvPr id="5" name="Text 3"/>
          <p:cNvSpPr/>
          <p:nvPr/>
        </p:nvSpPr>
        <p:spPr>
          <a:xfrm>
            <a:off x="3246120" y="2788920"/>
            <a:ext cx="8138160" cy="10058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Prometheus + Exporters</a:t>
            </a:r>
            <a:endParaRPr lang="en-US" sz="3400" dirty="0"/>
          </a:p>
        </p:txBody>
      </p:sp>
      <p:sp>
        <p:nvSpPr>
          <p:cNvPr id="6" name="Text 4"/>
          <p:cNvSpPr/>
          <p:nvPr/>
        </p:nvSpPr>
        <p:spPr>
          <a:xfrm>
            <a:off x="3291840" y="3794760"/>
            <a:ext cx="8046720" cy="731520"/>
          </a:xfrm>
          <a:prstGeom prst="rect">
            <a:avLst/>
          </a:prstGeom>
          <a:noFill/>
          <a:ln/>
        </p:spPr>
        <p:txBody>
          <a:bodyPr wrap="square" lIns="0" tIns="0" rIns="0" bIns="0" rtlCol="0" anchor="ctr"/>
          <a:lstStyle/>
          <a:p>
            <a:pPr marL="0" indent="0">
              <a:buNone/>
            </a:pPr>
            <a:r>
              <a:rPr lang="en-US" sz="1600" dirty="0">
                <a:solidFill>
                  <a:srgbClr val="AEC6D2"/>
                </a:solidFill>
                <a:latin typeface="Calibri" pitchFamily="34" charset="0"/>
                <a:ea typeface="Calibri" pitchFamily="34" charset="-122"/>
                <a:cs typeface="Calibri" pitchFamily="34" charset="-120"/>
              </a:rPr>
              <a:t>Cài đặt • Cấu hình scrape • Lab 1 &amp; Lab 2</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SESSION 2</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Exporter &amp; cấu hình scrape</a:t>
            </a:r>
            <a:endParaRPr lang="en-US" sz="3000" dirty="0"/>
          </a:p>
        </p:txBody>
      </p:sp>
      <p:sp>
        <p:nvSpPr>
          <p:cNvPr id="4" name="Shape 2"/>
          <p:cNvSpPr/>
          <p:nvPr/>
        </p:nvSpPr>
        <p:spPr>
          <a:xfrm>
            <a:off x="548640" y="1600200"/>
            <a:ext cx="5486400" cy="4069080"/>
          </a:xfrm>
          <a:prstGeom prst="roundRect">
            <a:avLst>
              <a:gd name="adj" fmla="val 2022"/>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Text 3"/>
          <p:cNvSpPr/>
          <p:nvPr/>
        </p:nvSpPr>
        <p:spPr>
          <a:xfrm>
            <a:off x="777240" y="1783080"/>
            <a:ext cx="4937760" cy="365760"/>
          </a:xfrm>
          <a:prstGeom prst="rect">
            <a:avLst/>
          </a:prstGeom>
          <a:noFill/>
          <a:ln/>
        </p:spPr>
        <p:txBody>
          <a:bodyPr wrap="square" lIns="0" tIns="0" rIns="0" bIns="0" rtlCol="0" anchor="ctr"/>
          <a:lstStyle/>
          <a:p>
            <a:pPr marL="0" indent="0">
              <a:buNone/>
            </a:pPr>
            <a:r>
              <a:rPr lang="en-US" sz="1600" b="1" dirty="0">
                <a:solidFill>
                  <a:srgbClr val="0E8C82"/>
                </a:solidFill>
                <a:latin typeface="Calibri" pitchFamily="34" charset="0"/>
                <a:ea typeface="Calibri" pitchFamily="34" charset="-122"/>
                <a:cs typeface="Calibri" pitchFamily="34" charset="-120"/>
              </a:rPr>
              <a:t>Điểm chính</a:t>
            </a:r>
            <a:endParaRPr lang="en-US" sz="1600" dirty="0"/>
          </a:p>
        </p:txBody>
      </p:sp>
      <p:sp>
        <p:nvSpPr>
          <p:cNvPr id="6" name="Text 4"/>
          <p:cNvSpPr/>
          <p:nvPr/>
        </p:nvSpPr>
        <p:spPr>
          <a:xfrm>
            <a:off x="777240" y="2240280"/>
            <a:ext cx="5029200" cy="32918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A2B36"/>
                </a:solidFill>
              </a:rPr>
              <a:t>Exporter = cầu nối biến trạng thái hệ thống thành /metrics</a:t>
            </a:r>
            <a:endParaRPr lang="en-US" sz="1400" dirty="0"/>
          </a:p>
          <a:p>
            <a:pPr marL="342900" indent="-342900">
              <a:spcAft>
                <a:spcPts val="900"/>
              </a:spcAft>
              <a:buSzPct val="100000"/>
              <a:buChar char="•"/>
            </a:pPr>
            <a:r>
              <a:rPr lang="en-US" sz="1400" dirty="0">
                <a:solidFill>
                  <a:srgbClr val="1A2B36"/>
                </a:solidFill>
              </a:rPr>
              <a:t>Node Exporter → CPU, RAM, disk, network của host</a:t>
            </a:r>
            <a:endParaRPr lang="en-US" sz="1400" dirty="0"/>
          </a:p>
          <a:p>
            <a:pPr marL="342900" indent="-342900">
              <a:spcAft>
                <a:spcPts val="900"/>
              </a:spcAft>
              <a:buSzPct val="100000"/>
              <a:buChar char="•"/>
            </a:pPr>
            <a:r>
              <a:rPr lang="en-US" sz="1400" dirty="0">
                <a:solidFill>
                  <a:srgbClr val="1A2B36"/>
                </a:solidFill>
              </a:rPr>
              <a:t>DB Exporter → metrics MySQL / PostgreSQL</a:t>
            </a:r>
            <a:endParaRPr lang="en-US" sz="1400" dirty="0"/>
          </a:p>
          <a:p>
            <a:pPr marL="342900" indent="-342900">
              <a:spcAft>
                <a:spcPts val="900"/>
              </a:spcAft>
              <a:buSzPct val="100000"/>
              <a:buChar char="•"/>
            </a:pPr>
            <a:r>
              <a:rPr lang="en-US" sz="1400" dirty="0">
                <a:solidFill>
                  <a:srgbClr val="1A2B36"/>
                </a:solidFill>
              </a:rPr>
              <a:t>scrape_configs: job_name, targets, scrape_interval</a:t>
            </a:r>
            <a:endParaRPr lang="en-US" sz="1400" dirty="0"/>
          </a:p>
          <a:p>
            <a:pPr marL="342900" indent="-342900">
              <a:buSzPct val="100000"/>
              <a:buChar char="•"/>
            </a:pPr>
            <a:r>
              <a:rPr lang="en-US" sz="1400" dirty="0">
                <a:solidFill>
                  <a:srgbClr val="1A2B36"/>
                </a:solidFill>
              </a:rPr>
              <a:t>Kiểm tra Status → Targets: mọi target phải UP</a:t>
            </a:r>
            <a:endParaRPr lang="en-US" sz="1400" dirty="0"/>
          </a:p>
        </p:txBody>
      </p:sp>
      <p:sp>
        <p:nvSpPr>
          <p:cNvPr id="7" name="Text 5"/>
          <p:cNvSpPr/>
          <p:nvPr/>
        </p:nvSpPr>
        <p:spPr>
          <a:xfrm>
            <a:off x="6263640" y="1737360"/>
            <a:ext cx="5303520" cy="320040"/>
          </a:xfrm>
          <a:prstGeom prst="rect">
            <a:avLst/>
          </a:prstGeom>
          <a:noFill/>
          <a:ln/>
        </p:spPr>
        <p:txBody>
          <a:bodyPr wrap="square" lIns="0" tIns="0" rIns="0" bIns="0" rtlCol="0" anchor="ctr"/>
          <a:lstStyle/>
          <a:p>
            <a:pPr marL="0" indent="0">
              <a:buNone/>
            </a:pPr>
            <a:r>
              <a:rPr lang="en-US" sz="1300" b="1" dirty="0">
                <a:solidFill>
                  <a:srgbClr val="5D6E78"/>
                </a:solidFill>
                <a:latin typeface="Consolas" pitchFamily="34" charset="0"/>
                <a:ea typeface="Consolas" pitchFamily="34" charset="-122"/>
                <a:cs typeface="Consolas" pitchFamily="34" charset="-120"/>
              </a:rPr>
              <a:t>prometheus.yml</a:t>
            </a:r>
            <a:endParaRPr lang="en-US" sz="1300" dirty="0"/>
          </a:p>
        </p:txBody>
      </p:sp>
      <p:sp>
        <p:nvSpPr>
          <p:cNvPr id="8" name="Shape 6"/>
          <p:cNvSpPr/>
          <p:nvPr/>
        </p:nvSpPr>
        <p:spPr>
          <a:xfrm>
            <a:off x="6263640" y="2084832"/>
            <a:ext cx="5376672" cy="3566160"/>
          </a:xfrm>
          <a:prstGeom prst="roundRect">
            <a:avLst>
              <a:gd name="adj" fmla="val 1538"/>
            </a:avLst>
          </a:prstGeom>
          <a:solidFill>
            <a:srgbClr val="0D1B26"/>
          </a:solidFill>
          <a:ln/>
        </p:spPr>
        <p:txBody>
          <a:bodyPr/>
          <a:lstStyle/>
          <a:p>
            <a:endParaRPr lang="en-US"/>
          </a:p>
        </p:txBody>
      </p:sp>
      <p:sp>
        <p:nvSpPr>
          <p:cNvPr id="9" name="Text 7"/>
          <p:cNvSpPr/>
          <p:nvPr/>
        </p:nvSpPr>
        <p:spPr>
          <a:xfrm>
            <a:off x="6428232" y="2194560"/>
            <a:ext cx="5047488" cy="3346704"/>
          </a:xfrm>
          <a:prstGeom prst="rect">
            <a:avLst/>
          </a:prstGeom>
          <a:noFill/>
          <a:ln/>
        </p:spPr>
        <p:txBody>
          <a:bodyPr wrap="square" lIns="0" tIns="0" rIns="0" bIns="0" rtlCol="0" anchor="t"/>
          <a:lstStyle/>
          <a:p>
            <a:pPr marL="0" indent="0" algn="l">
              <a:lnSpc>
                <a:spcPct val="105000"/>
              </a:lnSpc>
              <a:buNone/>
            </a:pPr>
            <a:r>
              <a:rPr lang="en-US" sz="1150" dirty="0">
                <a:solidFill>
                  <a:srgbClr val="F6A623"/>
                </a:solidFill>
                <a:latin typeface="Consolas" pitchFamily="34" charset="0"/>
                <a:ea typeface="Consolas" pitchFamily="34" charset="-122"/>
                <a:cs typeface="Consolas" pitchFamily="34" charset="-120"/>
              </a:rPr>
              <a:t>global:
</a:t>
            </a:r>
            <a:r>
              <a:rPr lang="en-US" sz="1150" dirty="0">
                <a:solidFill>
                  <a:srgbClr val="9FE8DF"/>
                </a:solidFill>
                <a:latin typeface="Consolas" pitchFamily="34" charset="0"/>
                <a:ea typeface="Consolas" pitchFamily="34" charset="-122"/>
                <a:cs typeface="Consolas" pitchFamily="34" charset="-120"/>
              </a:rPr>
              <a:t>  scrape_interval: 15s
</a:t>
            </a:r>
            <a:r>
              <a:rPr lang="en-US" sz="1150" dirty="0">
                <a:solidFill>
                  <a:srgbClr val="F6A623"/>
                </a:solidFill>
                <a:latin typeface="Consolas" pitchFamily="34" charset="0"/>
                <a:ea typeface="Consolas" pitchFamily="34" charset="-122"/>
                <a:cs typeface="Consolas" pitchFamily="34" charset="-120"/>
              </a:rPr>
              <a:t>scrape_configs:
</a:t>
            </a:r>
            <a:r>
              <a:rPr lang="en-US" sz="1150" dirty="0">
                <a:solidFill>
                  <a:srgbClr val="9FE8DF"/>
                </a:solidFill>
                <a:latin typeface="Consolas" pitchFamily="34" charset="0"/>
                <a:ea typeface="Consolas" pitchFamily="34" charset="-122"/>
                <a:cs typeface="Consolas" pitchFamily="34" charset="-120"/>
              </a:rPr>
              <a:t>  - job_name: 'node'
    static_configs:
      - targets:
</a:t>
            </a:r>
            <a:r>
              <a:rPr lang="en-US" sz="1150" dirty="0">
                <a:solidFill>
                  <a:srgbClr val="1FBFB3"/>
                </a:solidFill>
                <a:latin typeface="Consolas" pitchFamily="34" charset="0"/>
                <a:ea typeface="Consolas" pitchFamily="34" charset="-122"/>
                <a:cs typeface="Consolas" pitchFamily="34" charset="-120"/>
              </a:rPr>
              <a:t>          ['node-exporter:9100']
</a:t>
            </a:r>
            <a:r>
              <a:rPr lang="en-US" sz="1150" dirty="0">
                <a:solidFill>
                  <a:srgbClr val="9FE8DF"/>
                </a:solidFill>
                <a:latin typeface="Consolas" pitchFamily="34" charset="0"/>
                <a:ea typeface="Consolas" pitchFamily="34" charset="-122"/>
                <a:cs typeface="Consolas" pitchFamily="34" charset="-120"/>
              </a:rPr>
              <a:t>  - job_name: 'mysql'
    static_configs:
      - targets:
</a:t>
            </a:r>
            <a:r>
              <a:rPr lang="en-US" sz="1150" dirty="0">
                <a:solidFill>
                  <a:srgbClr val="1FBFB3"/>
                </a:solidFill>
                <a:latin typeface="Consolas" pitchFamily="34" charset="0"/>
                <a:ea typeface="Consolas" pitchFamily="34" charset="-122"/>
                <a:cs typeface="Consolas" pitchFamily="34" charset="-120"/>
              </a:rPr>
              <a:t>          ['mysql-exporter:9104']</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600200" cy="457200"/>
          </a:xfrm>
          <a:prstGeom prst="roundRect">
            <a:avLst>
              <a:gd name="adj" fmla="val 50000"/>
            </a:avLst>
          </a:prstGeom>
          <a:solidFill>
            <a:srgbClr val="F6A623"/>
          </a:solidFill>
          <a:ln/>
        </p:spPr>
        <p:txBody>
          <a:bodyPr/>
          <a:lstStyle/>
          <a:p>
            <a:endParaRPr lang="en-US"/>
          </a:p>
        </p:txBody>
      </p:sp>
      <p:sp>
        <p:nvSpPr>
          <p:cNvPr id="3" name="Text 1"/>
          <p:cNvSpPr/>
          <p:nvPr/>
        </p:nvSpPr>
        <p:spPr>
          <a:xfrm>
            <a:off x="548640" y="411480"/>
            <a:ext cx="1600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LAB 1</a:t>
            </a:r>
            <a:endParaRPr lang="en-US" sz="1400" dirty="0"/>
          </a:p>
        </p:txBody>
      </p:sp>
      <p:sp>
        <p:nvSpPr>
          <p:cNvPr id="4" name="Text 2"/>
          <p:cNvSpPr/>
          <p:nvPr/>
        </p:nvSpPr>
        <p:spPr>
          <a:xfrm>
            <a:off x="2286000" y="411480"/>
            <a:ext cx="3657600" cy="457200"/>
          </a:xfrm>
          <a:prstGeom prst="rect">
            <a:avLst/>
          </a:prstGeom>
          <a:noFill/>
          <a:ln/>
        </p:spPr>
        <p:txBody>
          <a:bodyPr wrap="square" lIns="0" tIns="0" rIns="0" bIns="0" rtlCol="0" anchor="ctr"/>
          <a:lstStyle/>
          <a:p>
            <a:pPr marL="0" indent="0">
              <a:buNone/>
            </a:pPr>
            <a:r>
              <a:rPr lang="en-US" sz="1300" b="1" kern="0" spc="100" dirty="0">
                <a:solidFill>
                  <a:srgbClr val="0E8C82"/>
                </a:solidFill>
                <a:latin typeface="Calibri" pitchFamily="34" charset="0"/>
                <a:ea typeface="Calibri" pitchFamily="34" charset="-122"/>
                <a:cs typeface="Calibri" pitchFamily="34" charset="-120"/>
              </a:rPr>
              <a:t>SESSION 2</a:t>
            </a:r>
            <a:endParaRPr lang="en-US" sz="1300" dirty="0"/>
          </a:p>
        </p:txBody>
      </p:sp>
      <p:sp>
        <p:nvSpPr>
          <p:cNvPr id="5" name="Text 3"/>
          <p:cNvSpPr/>
          <p:nvPr/>
        </p:nvSpPr>
        <p:spPr>
          <a:xfrm>
            <a:off x="548640" y="932688"/>
            <a:ext cx="11064240" cy="548640"/>
          </a:xfrm>
          <a:prstGeom prst="rect">
            <a:avLst/>
          </a:prstGeom>
          <a:noFill/>
          <a:ln/>
        </p:spPr>
        <p:txBody>
          <a:bodyPr wrap="square" lIns="0" tIns="0" rIns="0" bIns="0" rtlCol="0" anchor="ctr"/>
          <a:lstStyle/>
          <a:p>
            <a:pPr marL="0" indent="0">
              <a:buNone/>
            </a:pPr>
            <a:r>
              <a:rPr lang="en-US" sz="2700" b="1" dirty="0">
                <a:solidFill>
                  <a:srgbClr val="1A2B36"/>
                </a:solidFill>
                <a:latin typeface="Calibri" pitchFamily="34" charset="0"/>
                <a:ea typeface="Calibri" pitchFamily="34" charset="-122"/>
                <a:cs typeface="Calibri" pitchFamily="34" charset="-120"/>
              </a:rPr>
              <a:t>Tạo metrics service &amp; database bằng Docker</a:t>
            </a:r>
            <a:endParaRPr lang="en-US" sz="2700" dirty="0"/>
          </a:p>
        </p:txBody>
      </p:sp>
      <p:sp>
        <p:nvSpPr>
          <p:cNvPr id="6" name="Shape 4"/>
          <p:cNvSpPr/>
          <p:nvPr/>
        </p:nvSpPr>
        <p:spPr>
          <a:xfrm>
            <a:off x="548640" y="1572768"/>
            <a:ext cx="11091672" cy="566928"/>
          </a:xfrm>
          <a:prstGeom prst="roundRect">
            <a:avLst>
              <a:gd name="adj" fmla="val 12903"/>
            </a:avLst>
          </a:prstGeom>
          <a:solidFill>
            <a:srgbClr val="1FBFB3">
              <a:alpha val="14000"/>
            </a:srgbClr>
          </a:solidFill>
          <a:ln/>
        </p:spPr>
        <p:txBody>
          <a:bodyPr/>
          <a:lstStyle/>
          <a:p>
            <a:endParaRPr lang="en-US"/>
          </a:p>
        </p:txBody>
      </p:sp>
      <p:sp>
        <p:nvSpPr>
          <p:cNvPr id="7" name="Text 5"/>
          <p:cNvSpPr/>
          <p:nvPr/>
        </p:nvSpPr>
        <p:spPr>
          <a:xfrm>
            <a:off x="777240" y="1572768"/>
            <a:ext cx="10607040" cy="566928"/>
          </a:xfrm>
          <a:prstGeom prst="rect">
            <a:avLst/>
          </a:prstGeom>
          <a:noFill/>
          <a:ln/>
        </p:spPr>
        <p:txBody>
          <a:bodyPr wrap="square" lIns="0" tIns="0" rIns="0" bIns="0" rtlCol="0" anchor="ctr"/>
          <a:lstStyle/>
          <a:p>
            <a:pPr marL="0" indent="0">
              <a:buNone/>
            </a:pPr>
            <a:r>
              <a:rPr lang="en-US" sz="1350" b="1" dirty="0">
                <a:solidFill>
                  <a:srgbClr val="0E8C82"/>
                </a:solidFill>
                <a:latin typeface="Calibri" pitchFamily="34" charset="0"/>
                <a:ea typeface="Calibri" pitchFamily="34" charset="-122"/>
                <a:cs typeface="Calibri" pitchFamily="34" charset="-120"/>
              </a:rPr>
              <a:t>Mục tiêu:  </a:t>
            </a:r>
            <a:r>
              <a:rPr lang="en-US" sz="1350" dirty="0">
                <a:solidFill>
                  <a:srgbClr val="1A2B36"/>
                </a:solidFill>
                <a:latin typeface="Calibri" pitchFamily="34" charset="0"/>
                <a:ea typeface="Calibri" pitchFamily="34" charset="-122"/>
                <a:cs typeface="Calibri" pitchFamily="34" charset="-120"/>
              </a:rPr>
              <a:t>Chạy Node Exporter + DB Exporter để có nguồn metrics.</a:t>
            </a:r>
            <a:endParaRPr lang="en-US" sz="1350" dirty="0"/>
          </a:p>
        </p:txBody>
      </p:sp>
      <p:sp>
        <p:nvSpPr>
          <p:cNvPr id="8" name="Shape 6"/>
          <p:cNvSpPr/>
          <p:nvPr/>
        </p:nvSpPr>
        <p:spPr>
          <a:xfrm>
            <a:off x="548640" y="2331720"/>
            <a:ext cx="7040880" cy="3337560"/>
          </a:xfrm>
          <a:prstGeom prst="roundRect">
            <a:avLst>
              <a:gd name="adj" fmla="val 246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9" name="Text 7"/>
          <p:cNvSpPr/>
          <p:nvPr/>
        </p:nvSpPr>
        <p:spPr>
          <a:xfrm>
            <a:off x="777240" y="2487168"/>
            <a:ext cx="6400800" cy="365760"/>
          </a:xfrm>
          <a:prstGeom prst="rect">
            <a:avLst/>
          </a:prstGeom>
          <a:noFill/>
          <a:ln/>
        </p:spPr>
        <p:txBody>
          <a:bodyPr wrap="square" lIns="0" tIns="0" rIns="0" bIns="0" rtlCol="0" anchor="ctr"/>
          <a:lstStyle/>
          <a:p>
            <a:pPr marL="0" indent="0">
              <a:buNone/>
            </a:pPr>
            <a:r>
              <a:rPr lang="en-US" sz="1500" b="1" dirty="0">
                <a:solidFill>
                  <a:srgbClr val="1A2B36"/>
                </a:solidFill>
                <a:latin typeface="Calibri" pitchFamily="34" charset="0"/>
                <a:ea typeface="Calibri" pitchFamily="34" charset="-122"/>
                <a:cs typeface="Calibri" pitchFamily="34" charset="-120"/>
              </a:rPr>
              <a:t>Các bước</a:t>
            </a:r>
            <a:endParaRPr lang="en-US" sz="1500" dirty="0"/>
          </a:p>
        </p:txBody>
      </p:sp>
      <p:sp>
        <p:nvSpPr>
          <p:cNvPr id="10" name="Shape 8"/>
          <p:cNvSpPr/>
          <p:nvPr/>
        </p:nvSpPr>
        <p:spPr>
          <a:xfrm>
            <a:off x="804672" y="2926080"/>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1" name="Text 9"/>
          <p:cNvSpPr/>
          <p:nvPr/>
        </p:nvSpPr>
        <p:spPr>
          <a:xfrm>
            <a:off x="804672" y="2926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325880" y="2880360"/>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Chạy Node Exporter: docker run -d -p 9100:9100 prom/node-exporter</a:t>
            </a:r>
            <a:endParaRPr lang="en-US" sz="1300" dirty="0"/>
          </a:p>
        </p:txBody>
      </p:sp>
      <p:sp>
        <p:nvSpPr>
          <p:cNvPr id="13" name="Shape 11"/>
          <p:cNvSpPr/>
          <p:nvPr/>
        </p:nvSpPr>
        <p:spPr>
          <a:xfrm>
            <a:off x="804672" y="3529584"/>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4" name="Text 12"/>
          <p:cNvSpPr/>
          <p:nvPr/>
        </p:nvSpPr>
        <p:spPr>
          <a:xfrm>
            <a:off x="804672" y="35295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325880" y="3483864"/>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Chạy 1 database (MySQL) + exporter tương ứng qua docker-compose</a:t>
            </a:r>
            <a:endParaRPr lang="en-US" sz="1300" dirty="0"/>
          </a:p>
        </p:txBody>
      </p:sp>
      <p:sp>
        <p:nvSpPr>
          <p:cNvPr id="16" name="Shape 14"/>
          <p:cNvSpPr/>
          <p:nvPr/>
        </p:nvSpPr>
        <p:spPr>
          <a:xfrm>
            <a:off x="804672" y="4133088"/>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7" name="Text 15"/>
          <p:cNvSpPr/>
          <p:nvPr/>
        </p:nvSpPr>
        <p:spPr>
          <a:xfrm>
            <a:off x="804672" y="41330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325880" y="4087368"/>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Mở http://localhost:9100/metrics — quan sát metrics thô</a:t>
            </a:r>
            <a:endParaRPr lang="en-US" sz="1300" dirty="0"/>
          </a:p>
        </p:txBody>
      </p:sp>
      <p:sp>
        <p:nvSpPr>
          <p:cNvPr id="19" name="Shape 17"/>
          <p:cNvSpPr/>
          <p:nvPr/>
        </p:nvSpPr>
        <p:spPr>
          <a:xfrm>
            <a:off x="804672" y="4736592"/>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20" name="Text 18"/>
          <p:cNvSpPr/>
          <p:nvPr/>
        </p:nvSpPr>
        <p:spPr>
          <a:xfrm>
            <a:off x="804672" y="4736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325880" y="4690872"/>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Mở endpoint /metrics của DB exporter</a:t>
            </a:r>
            <a:endParaRPr lang="en-US" sz="1300" dirty="0"/>
          </a:p>
        </p:txBody>
      </p:sp>
      <p:sp>
        <p:nvSpPr>
          <p:cNvPr id="22" name="Shape 20"/>
          <p:cNvSpPr/>
          <p:nvPr/>
        </p:nvSpPr>
        <p:spPr>
          <a:xfrm>
            <a:off x="7772400" y="2331720"/>
            <a:ext cx="3867912" cy="3337560"/>
          </a:xfrm>
          <a:prstGeom prst="roundRect">
            <a:avLst>
              <a:gd name="adj" fmla="val 2466"/>
            </a:avLst>
          </a:prstGeom>
          <a:solidFill>
            <a:srgbClr val="0E2233"/>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3" name="Text 21"/>
          <p:cNvSpPr/>
          <p:nvPr/>
        </p:nvSpPr>
        <p:spPr>
          <a:xfrm>
            <a:off x="8001000" y="2487168"/>
            <a:ext cx="3383280" cy="365760"/>
          </a:xfrm>
          <a:prstGeom prst="rect">
            <a:avLst/>
          </a:prstGeom>
          <a:noFill/>
          <a:ln/>
        </p:spPr>
        <p:txBody>
          <a:bodyPr wrap="square" lIns="0" tIns="0" rIns="0" bIns="0" rtlCol="0" anchor="ctr"/>
          <a:lstStyle/>
          <a:p>
            <a:pPr marL="0" indent="0">
              <a:buNone/>
            </a:pPr>
            <a:r>
              <a:rPr lang="en-US" sz="1500" b="1" dirty="0">
                <a:solidFill>
                  <a:srgbClr val="F6A623"/>
                </a:solidFill>
                <a:latin typeface="Calibri" pitchFamily="34" charset="0"/>
                <a:ea typeface="Calibri" pitchFamily="34" charset="-122"/>
                <a:cs typeface="Calibri" pitchFamily="34" charset="-120"/>
              </a:rPr>
              <a:t>Nghiệm thu</a:t>
            </a:r>
            <a:endParaRPr lang="en-US" sz="1500" dirty="0"/>
          </a:p>
        </p:txBody>
      </p:sp>
      <p:sp>
        <p:nvSpPr>
          <p:cNvPr id="24" name="Text 22"/>
          <p:cNvSpPr/>
          <p:nvPr/>
        </p:nvSpPr>
        <p:spPr>
          <a:xfrm>
            <a:off x="8001000" y="2907792"/>
            <a:ext cx="3429000" cy="26517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E6EEF2"/>
                </a:solidFill>
              </a:rPr>
              <a:t>Mở được 2 endpoint /metrics</a:t>
            </a:r>
            <a:endParaRPr lang="en-US" sz="1250" dirty="0"/>
          </a:p>
          <a:p>
            <a:pPr marL="342900" indent="-342900">
              <a:spcAft>
                <a:spcPts val="1000"/>
              </a:spcAft>
              <a:buSzPct val="100000"/>
              <a:buChar char="✓"/>
            </a:pPr>
            <a:r>
              <a:rPr lang="en-US" sz="1250" dirty="0">
                <a:solidFill>
                  <a:srgbClr val="E6EEF2"/>
                </a:solidFill>
              </a:rPr>
              <a:t>Chỉ ra &amp; giải thích 3 metric bất kỳ</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600200" cy="457200"/>
          </a:xfrm>
          <a:prstGeom prst="roundRect">
            <a:avLst>
              <a:gd name="adj" fmla="val 50000"/>
            </a:avLst>
          </a:prstGeom>
          <a:solidFill>
            <a:srgbClr val="F6A623"/>
          </a:solidFill>
          <a:ln/>
        </p:spPr>
        <p:txBody>
          <a:bodyPr/>
          <a:lstStyle/>
          <a:p>
            <a:endParaRPr lang="en-US"/>
          </a:p>
        </p:txBody>
      </p:sp>
      <p:sp>
        <p:nvSpPr>
          <p:cNvPr id="3" name="Text 1"/>
          <p:cNvSpPr/>
          <p:nvPr/>
        </p:nvSpPr>
        <p:spPr>
          <a:xfrm>
            <a:off x="548640" y="411480"/>
            <a:ext cx="1600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LAB 2</a:t>
            </a:r>
            <a:endParaRPr lang="en-US" sz="1400" dirty="0"/>
          </a:p>
        </p:txBody>
      </p:sp>
      <p:sp>
        <p:nvSpPr>
          <p:cNvPr id="4" name="Text 2"/>
          <p:cNvSpPr/>
          <p:nvPr/>
        </p:nvSpPr>
        <p:spPr>
          <a:xfrm>
            <a:off x="2286000" y="411480"/>
            <a:ext cx="3657600" cy="457200"/>
          </a:xfrm>
          <a:prstGeom prst="rect">
            <a:avLst/>
          </a:prstGeom>
          <a:noFill/>
          <a:ln/>
        </p:spPr>
        <p:txBody>
          <a:bodyPr wrap="square" lIns="0" tIns="0" rIns="0" bIns="0" rtlCol="0" anchor="ctr"/>
          <a:lstStyle/>
          <a:p>
            <a:pPr marL="0" indent="0">
              <a:buNone/>
            </a:pPr>
            <a:r>
              <a:rPr lang="en-US" sz="1300" b="1" kern="0" spc="100" dirty="0">
                <a:solidFill>
                  <a:srgbClr val="0E8C82"/>
                </a:solidFill>
                <a:latin typeface="Calibri" pitchFamily="34" charset="0"/>
                <a:ea typeface="Calibri" pitchFamily="34" charset="-122"/>
                <a:cs typeface="Calibri" pitchFamily="34" charset="-120"/>
              </a:rPr>
              <a:t>SESSION 2</a:t>
            </a:r>
            <a:endParaRPr lang="en-US" sz="1300" dirty="0"/>
          </a:p>
        </p:txBody>
      </p:sp>
      <p:sp>
        <p:nvSpPr>
          <p:cNvPr id="5" name="Text 3"/>
          <p:cNvSpPr/>
          <p:nvPr/>
        </p:nvSpPr>
        <p:spPr>
          <a:xfrm>
            <a:off x="548640" y="932688"/>
            <a:ext cx="11064240" cy="548640"/>
          </a:xfrm>
          <a:prstGeom prst="rect">
            <a:avLst/>
          </a:prstGeom>
          <a:noFill/>
          <a:ln/>
        </p:spPr>
        <p:txBody>
          <a:bodyPr wrap="square" lIns="0" tIns="0" rIns="0" bIns="0" rtlCol="0" anchor="ctr"/>
          <a:lstStyle/>
          <a:p>
            <a:pPr marL="0" indent="0">
              <a:buNone/>
            </a:pPr>
            <a:r>
              <a:rPr lang="en-US" sz="2700" b="1" dirty="0">
                <a:solidFill>
                  <a:srgbClr val="1A2B36"/>
                </a:solidFill>
                <a:latin typeface="Calibri" pitchFamily="34" charset="0"/>
                <a:ea typeface="Calibri" pitchFamily="34" charset="-122"/>
                <a:cs typeface="Calibri" pitchFamily="34" charset="-120"/>
              </a:rPr>
              <a:t>Cài Prometheus &amp; scrape các service đang expose</a:t>
            </a:r>
            <a:endParaRPr lang="en-US" sz="2700" dirty="0"/>
          </a:p>
        </p:txBody>
      </p:sp>
      <p:sp>
        <p:nvSpPr>
          <p:cNvPr id="6" name="Shape 4"/>
          <p:cNvSpPr/>
          <p:nvPr/>
        </p:nvSpPr>
        <p:spPr>
          <a:xfrm>
            <a:off x="548640" y="1572768"/>
            <a:ext cx="11091672" cy="566928"/>
          </a:xfrm>
          <a:prstGeom prst="roundRect">
            <a:avLst>
              <a:gd name="adj" fmla="val 12903"/>
            </a:avLst>
          </a:prstGeom>
          <a:solidFill>
            <a:srgbClr val="1FBFB3">
              <a:alpha val="14000"/>
            </a:srgbClr>
          </a:solidFill>
          <a:ln/>
        </p:spPr>
        <p:txBody>
          <a:bodyPr/>
          <a:lstStyle/>
          <a:p>
            <a:endParaRPr lang="en-US"/>
          </a:p>
        </p:txBody>
      </p:sp>
      <p:sp>
        <p:nvSpPr>
          <p:cNvPr id="7" name="Text 5"/>
          <p:cNvSpPr/>
          <p:nvPr/>
        </p:nvSpPr>
        <p:spPr>
          <a:xfrm>
            <a:off x="777240" y="1572768"/>
            <a:ext cx="10607040" cy="566928"/>
          </a:xfrm>
          <a:prstGeom prst="rect">
            <a:avLst/>
          </a:prstGeom>
          <a:noFill/>
          <a:ln/>
        </p:spPr>
        <p:txBody>
          <a:bodyPr wrap="square" lIns="0" tIns="0" rIns="0" bIns="0" rtlCol="0" anchor="ctr"/>
          <a:lstStyle/>
          <a:p>
            <a:pPr marL="0" indent="0">
              <a:buNone/>
            </a:pPr>
            <a:r>
              <a:rPr lang="en-US" sz="1350" b="1" dirty="0">
                <a:solidFill>
                  <a:srgbClr val="0E8C82"/>
                </a:solidFill>
                <a:latin typeface="Calibri" pitchFamily="34" charset="0"/>
                <a:ea typeface="Calibri" pitchFamily="34" charset="-122"/>
                <a:cs typeface="Calibri" pitchFamily="34" charset="-120"/>
              </a:rPr>
              <a:t>Mục tiêu:  </a:t>
            </a:r>
            <a:r>
              <a:rPr lang="en-US" sz="1350" dirty="0">
                <a:solidFill>
                  <a:srgbClr val="1A2B36"/>
                </a:solidFill>
                <a:latin typeface="Calibri" pitchFamily="34" charset="0"/>
                <a:ea typeface="Calibri" pitchFamily="34" charset="-122"/>
                <a:cs typeface="Calibri" pitchFamily="34" charset="-120"/>
              </a:rPr>
              <a:t>Cấu hình Prometheus collect metrics từ các exporter ở Lab 1.</a:t>
            </a:r>
            <a:endParaRPr lang="en-US" sz="1350" dirty="0"/>
          </a:p>
        </p:txBody>
      </p:sp>
      <p:sp>
        <p:nvSpPr>
          <p:cNvPr id="8" name="Shape 6"/>
          <p:cNvSpPr/>
          <p:nvPr/>
        </p:nvSpPr>
        <p:spPr>
          <a:xfrm>
            <a:off x="548640" y="2331720"/>
            <a:ext cx="7040880" cy="3337560"/>
          </a:xfrm>
          <a:prstGeom prst="roundRect">
            <a:avLst>
              <a:gd name="adj" fmla="val 246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9" name="Text 7"/>
          <p:cNvSpPr/>
          <p:nvPr/>
        </p:nvSpPr>
        <p:spPr>
          <a:xfrm>
            <a:off x="777240" y="2487168"/>
            <a:ext cx="6400800" cy="365760"/>
          </a:xfrm>
          <a:prstGeom prst="rect">
            <a:avLst/>
          </a:prstGeom>
          <a:noFill/>
          <a:ln/>
        </p:spPr>
        <p:txBody>
          <a:bodyPr wrap="square" lIns="0" tIns="0" rIns="0" bIns="0" rtlCol="0" anchor="ctr"/>
          <a:lstStyle/>
          <a:p>
            <a:pPr marL="0" indent="0">
              <a:buNone/>
            </a:pPr>
            <a:r>
              <a:rPr lang="en-US" sz="1500" b="1" dirty="0">
                <a:solidFill>
                  <a:srgbClr val="1A2B36"/>
                </a:solidFill>
                <a:latin typeface="Calibri" pitchFamily="34" charset="0"/>
                <a:ea typeface="Calibri" pitchFamily="34" charset="-122"/>
                <a:cs typeface="Calibri" pitchFamily="34" charset="-120"/>
              </a:rPr>
              <a:t>Các bước</a:t>
            </a:r>
            <a:endParaRPr lang="en-US" sz="1500" dirty="0"/>
          </a:p>
        </p:txBody>
      </p:sp>
      <p:sp>
        <p:nvSpPr>
          <p:cNvPr id="10" name="Shape 8"/>
          <p:cNvSpPr/>
          <p:nvPr/>
        </p:nvSpPr>
        <p:spPr>
          <a:xfrm>
            <a:off x="804672" y="2926080"/>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1" name="Text 9"/>
          <p:cNvSpPr/>
          <p:nvPr/>
        </p:nvSpPr>
        <p:spPr>
          <a:xfrm>
            <a:off x="804672" y="2926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325880" y="2880360"/>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Tạo prometheus.yml với scrape_configs trỏ tới các exporter</a:t>
            </a:r>
            <a:endParaRPr lang="en-US" sz="1300" dirty="0"/>
          </a:p>
        </p:txBody>
      </p:sp>
      <p:sp>
        <p:nvSpPr>
          <p:cNvPr id="13" name="Shape 11"/>
          <p:cNvSpPr/>
          <p:nvPr/>
        </p:nvSpPr>
        <p:spPr>
          <a:xfrm>
            <a:off x="804672" y="3529584"/>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4" name="Text 12"/>
          <p:cNvSpPr/>
          <p:nvPr/>
        </p:nvSpPr>
        <p:spPr>
          <a:xfrm>
            <a:off x="804672" y="35295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325880" y="3483864"/>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Chạy Prometheus container, mount file config</a:t>
            </a:r>
            <a:endParaRPr lang="en-US" sz="1300" dirty="0"/>
          </a:p>
        </p:txBody>
      </p:sp>
      <p:sp>
        <p:nvSpPr>
          <p:cNvPr id="16" name="Shape 14"/>
          <p:cNvSpPr/>
          <p:nvPr/>
        </p:nvSpPr>
        <p:spPr>
          <a:xfrm>
            <a:off x="804672" y="4133088"/>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7" name="Text 15"/>
          <p:cNvSpPr/>
          <p:nvPr/>
        </p:nvSpPr>
        <p:spPr>
          <a:xfrm>
            <a:off x="804672" y="41330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325880" y="4087368"/>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Vào Status → Targets, xác nhận tất cả target UP</a:t>
            </a:r>
            <a:endParaRPr lang="en-US" sz="1300" dirty="0"/>
          </a:p>
        </p:txBody>
      </p:sp>
      <p:sp>
        <p:nvSpPr>
          <p:cNvPr id="19" name="Shape 17"/>
          <p:cNvSpPr/>
          <p:nvPr/>
        </p:nvSpPr>
        <p:spPr>
          <a:xfrm>
            <a:off x="804672" y="4736592"/>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20" name="Text 18"/>
          <p:cNvSpPr/>
          <p:nvPr/>
        </p:nvSpPr>
        <p:spPr>
          <a:xfrm>
            <a:off x="804672" y="4736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325880" y="4690872"/>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Tab Graph: chạy thử up và node_cpu_seconds_total</a:t>
            </a:r>
            <a:endParaRPr lang="en-US" sz="1300" dirty="0"/>
          </a:p>
        </p:txBody>
      </p:sp>
      <p:sp>
        <p:nvSpPr>
          <p:cNvPr id="22" name="Shape 20"/>
          <p:cNvSpPr/>
          <p:nvPr/>
        </p:nvSpPr>
        <p:spPr>
          <a:xfrm>
            <a:off x="7772400" y="2331720"/>
            <a:ext cx="3867912" cy="3337560"/>
          </a:xfrm>
          <a:prstGeom prst="roundRect">
            <a:avLst>
              <a:gd name="adj" fmla="val 2466"/>
            </a:avLst>
          </a:prstGeom>
          <a:solidFill>
            <a:srgbClr val="0E2233"/>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3" name="Text 21"/>
          <p:cNvSpPr/>
          <p:nvPr/>
        </p:nvSpPr>
        <p:spPr>
          <a:xfrm>
            <a:off x="8001000" y="2487168"/>
            <a:ext cx="3383280" cy="365760"/>
          </a:xfrm>
          <a:prstGeom prst="rect">
            <a:avLst/>
          </a:prstGeom>
          <a:noFill/>
          <a:ln/>
        </p:spPr>
        <p:txBody>
          <a:bodyPr wrap="square" lIns="0" tIns="0" rIns="0" bIns="0" rtlCol="0" anchor="ctr"/>
          <a:lstStyle/>
          <a:p>
            <a:pPr marL="0" indent="0">
              <a:buNone/>
            </a:pPr>
            <a:r>
              <a:rPr lang="en-US" sz="1500" b="1" dirty="0">
                <a:solidFill>
                  <a:srgbClr val="F6A623"/>
                </a:solidFill>
                <a:latin typeface="Calibri" pitchFamily="34" charset="0"/>
                <a:ea typeface="Calibri" pitchFamily="34" charset="-122"/>
                <a:cs typeface="Calibri" pitchFamily="34" charset="-120"/>
              </a:rPr>
              <a:t>Nghiệm thu</a:t>
            </a:r>
            <a:endParaRPr lang="en-US" sz="1500" dirty="0"/>
          </a:p>
        </p:txBody>
      </p:sp>
      <p:sp>
        <p:nvSpPr>
          <p:cNvPr id="24" name="Text 22"/>
          <p:cNvSpPr/>
          <p:nvPr/>
        </p:nvSpPr>
        <p:spPr>
          <a:xfrm>
            <a:off x="8001000" y="2907792"/>
            <a:ext cx="3429000" cy="26517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E6EEF2"/>
                </a:solidFill>
              </a:rPr>
              <a:t>Tất cả targets UP</a:t>
            </a:r>
            <a:endParaRPr lang="en-US" sz="1250" dirty="0"/>
          </a:p>
          <a:p>
            <a:pPr marL="342900" indent="-342900">
              <a:spcAft>
                <a:spcPts val="1000"/>
              </a:spcAft>
              <a:buSzPct val="100000"/>
              <a:buChar char="✓"/>
            </a:pPr>
            <a:r>
              <a:rPr lang="en-US" sz="1250" dirty="0">
                <a:solidFill>
                  <a:srgbClr val="E6EEF2"/>
                </a:solidFill>
              </a:rPr>
              <a:t>Chạy được truy vấn up == 1</a:t>
            </a:r>
            <a:endParaRPr lang="en-US" sz="1250" dirty="0"/>
          </a:p>
          <a:p>
            <a:pPr marL="342900" indent="-342900">
              <a:spcAft>
                <a:spcPts val="1000"/>
              </a:spcAft>
              <a:buSzPct val="100000"/>
              <a:buChar char="✓"/>
            </a:pPr>
            <a:r>
              <a:rPr lang="en-US" sz="1250" dirty="0">
                <a:solidFill>
                  <a:srgbClr val="E6EEF2"/>
                </a:solidFill>
              </a:rPr>
              <a:t>Thử: dừng 1 container → target DOWN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A28"/>
        </a:solidFill>
        <a:effectLst/>
      </p:bgPr>
    </p:bg>
    <p:spTree>
      <p:nvGrpSpPr>
        <p:cNvPr id="1" name=""/>
        <p:cNvGrpSpPr/>
        <p:nvPr/>
      </p:nvGrpSpPr>
      <p:grpSpPr>
        <a:xfrm>
          <a:off x="0" y="0"/>
          <a:ext cx="0" cy="0"/>
          <a:chOff x="0" y="0"/>
          <a:chExt cx="0" cy="0"/>
        </a:xfrm>
      </p:grpSpPr>
      <p:sp>
        <p:nvSpPr>
          <p:cNvPr id="2" name="Shape 0"/>
          <p:cNvSpPr/>
          <p:nvPr/>
        </p:nvSpPr>
        <p:spPr>
          <a:xfrm>
            <a:off x="8961120" y="-1097280"/>
            <a:ext cx="4937760" cy="4937760"/>
          </a:xfrm>
          <a:prstGeom prst="ellipse">
            <a:avLst/>
          </a:prstGeom>
          <a:solidFill>
            <a:srgbClr val="1FBFB3">
              <a:alpha val="16000"/>
            </a:srgbClr>
          </a:solidFill>
          <a:ln/>
        </p:spPr>
        <p:txBody>
          <a:bodyPr/>
          <a:lstStyle/>
          <a:p>
            <a:endParaRPr lang="en-US"/>
          </a:p>
        </p:txBody>
      </p:sp>
      <p:sp>
        <p:nvSpPr>
          <p:cNvPr id="3" name="Text 1"/>
          <p:cNvSpPr/>
          <p:nvPr/>
        </p:nvSpPr>
        <p:spPr>
          <a:xfrm>
            <a:off x="731520" y="2148840"/>
            <a:ext cx="3657600" cy="365760"/>
          </a:xfrm>
          <a:prstGeom prst="rect">
            <a:avLst/>
          </a:prstGeom>
          <a:noFill/>
          <a:ln/>
        </p:spPr>
        <p:txBody>
          <a:bodyPr wrap="square" lIns="0" tIns="0" rIns="0" bIns="0" rtlCol="0" anchor="ctr"/>
          <a:lstStyle/>
          <a:p>
            <a:pPr marL="0" indent="0">
              <a:buNone/>
            </a:pPr>
            <a:r>
              <a:rPr lang="en-US" sz="1600" b="1" kern="0" spc="400" dirty="0">
                <a:solidFill>
                  <a:srgbClr val="1FBFB3"/>
                </a:solidFill>
                <a:latin typeface="Calibri" pitchFamily="34" charset="0"/>
                <a:ea typeface="Calibri" pitchFamily="34" charset="-122"/>
                <a:cs typeface="Calibri" pitchFamily="34" charset="-120"/>
              </a:rPr>
              <a:t>SESSION</a:t>
            </a:r>
            <a:endParaRPr lang="en-US" sz="1600" dirty="0"/>
          </a:p>
        </p:txBody>
      </p:sp>
      <p:sp>
        <p:nvSpPr>
          <p:cNvPr id="4" name="Text 2"/>
          <p:cNvSpPr/>
          <p:nvPr/>
        </p:nvSpPr>
        <p:spPr>
          <a:xfrm>
            <a:off x="640080" y="2331720"/>
            <a:ext cx="3108960" cy="2194560"/>
          </a:xfrm>
          <a:prstGeom prst="rect">
            <a:avLst/>
          </a:prstGeom>
          <a:noFill/>
          <a:ln/>
        </p:spPr>
        <p:txBody>
          <a:bodyPr wrap="square" lIns="0" tIns="0" rIns="0" bIns="0" rtlCol="0" anchor="ctr"/>
          <a:lstStyle/>
          <a:p>
            <a:pPr marL="0" indent="0">
              <a:buNone/>
            </a:pPr>
            <a:r>
              <a:rPr lang="en-US" sz="15000" b="1" dirty="0">
                <a:solidFill>
                  <a:srgbClr val="FFFFFF"/>
                </a:solidFill>
                <a:latin typeface="Calibri" pitchFamily="34" charset="0"/>
                <a:ea typeface="Calibri" pitchFamily="34" charset="-122"/>
                <a:cs typeface="Calibri" pitchFamily="34" charset="-120"/>
              </a:rPr>
              <a:t>3</a:t>
            </a:r>
            <a:endParaRPr lang="en-US" sz="15000" dirty="0"/>
          </a:p>
        </p:txBody>
      </p:sp>
      <p:sp>
        <p:nvSpPr>
          <p:cNvPr id="5" name="Text 3"/>
          <p:cNvSpPr/>
          <p:nvPr/>
        </p:nvSpPr>
        <p:spPr>
          <a:xfrm>
            <a:off x="3246120" y="2788920"/>
            <a:ext cx="8138160" cy="10058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Grafana + PromQL</a:t>
            </a:r>
            <a:endParaRPr lang="en-US" sz="3400" dirty="0"/>
          </a:p>
        </p:txBody>
      </p:sp>
      <p:sp>
        <p:nvSpPr>
          <p:cNvPr id="6" name="Text 4"/>
          <p:cNvSpPr/>
          <p:nvPr/>
        </p:nvSpPr>
        <p:spPr>
          <a:xfrm>
            <a:off x="3291840" y="3794760"/>
            <a:ext cx="8046720" cy="731520"/>
          </a:xfrm>
          <a:prstGeom prst="rect">
            <a:avLst/>
          </a:prstGeom>
          <a:noFill/>
          <a:ln/>
        </p:spPr>
        <p:txBody>
          <a:bodyPr wrap="square" lIns="0" tIns="0" rIns="0" bIns="0" rtlCol="0" anchor="ctr"/>
          <a:lstStyle/>
          <a:p>
            <a:pPr marL="0" indent="0">
              <a:buNone/>
            </a:pPr>
            <a:r>
              <a:rPr lang="en-US" sz="1600" dirty="0">
                <a:solidFill>
                  <a:srgbClr val="AEC6D2"/>
                </a:solidFill>
                <a:latin typeface="Calibri" pitchFamily="34" charset="0"/>
                <a:ea typeface="Calibri" pitchFamily="34" charset="-122"/>
                <a:cs typeface="Calibri" pitchFamily="34" charset="-120"/>
              </a:rPr>
              <a:t>Truy vấn metrics • Build dashboard • Lab 3</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SESSION 3</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PromQL cơ bản → thực chiến</a:t>
            </a:r>
            <a:endParaRPr lang="en-US" sz="3000" dirty="0"/>
          </a:p>
        </p:txBody>
      </p:sp>
      <p:sp>
        <p:nvSpPr>
          <p:cNvPr id="4" name="Shape 2"/>
          <p:cNvSpPr/>
          <p:nvPr/>
        </p:nvSpPr>
        <p:spPr>
          <a:xfrm>
            <a:off x="548640" y="1600200"/>
            <a:ext cx="5029200" cy="4069080"/>
          </a:xfrm>
          <a:prstGeom prst="roundRect">
            <a:avLst>
              <a:gd name="adj" fmla="val 2022"/>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Text 3"/>
          <p:cNvSpPr/>
          <p:nvPr/>
        </p:nvSpPr>
        <p:spPr>
          <a:xfrm>
            <a:off x="777240" y="1783080"/>
            <a:ext cx="4572000" cy="36576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Khái niệm cốt lõi</a:t>
            </a:r>
            <a:endParaRPr lang="en-US" sz="1500" dirty="0"/>
          </a:p>
        </p:txBody>
      </p:sp>
      <p:sp>
        <p:nvSpPr>
          <p:cNvPr id="6" name="Text 4"/>
          <p:cNvSpPr/>
          <p:nvPr/>
        </p:nvSpPr>
        <p:spPr>
          <a:xfrm>
            <a:off x="777240" y="2240280"/>
            <a:ext cx="4663440" cy="32918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A2B36"/>
                </a:solidFill>
              </a:rPr>
              <a:t>Instant vector vs Range vector</a:t>
            </a:r>
            <a:endParaRPr lang="en-US" sz="1350" dirty="0"/>
          </a:p>
          <a:p>
            <a:pPr marL="342900" indent="-342900">
              <a:spcAft>
                <a:spcPts val="800"/>
              </a:spcAft>
              <a:buSzPct val="100000"/>
              <a:buChar char="•"/>
            </a:pPr>
            <a:r>
              <a:rPr lang="en-US" sz="1350" dirty="0">
                <a:solidFill>
                  <a:srgbClr val="1A2B36"/>
                </a:solidFill>
              </a:rPr>
              <a:t>Selector &amp; label: metric{label="value"}</a:t>
            </a:r>
            <a:endParaRPr lang="en-US" sz="1350" dirty="0"/>
          </a:p>
          <a:p>
            <a:pPr marL="342900" indent="-342900">
              <a:spcAft>
                <a:spcPts val="800"/>
              </a:spcAft>
              <a:buSzPct val="100000"/>
              <a:buChar char="•"/>
            </a:pPr>
            <a:r>
              <a:rPr lang="en-US" sz="1350" dirty="0">
                <a:solidFill>
                  <a:srgbClr val="1A2B36"/>
                </a:solidFill>
              </a:rPr>
              <a:t>rate() / irate() — biến counter thành tốc độ</a:t>
            </a:r>
            <a:endParaRPr lang="en-US" sz="1350" dirty="0"/>
          </a:p>
          <a:p>
            <a:pPr marL="342900" indent="-342900">
              <a:spcAft>
                <a:spcPts val="800"/>
              </a:spcAft>
              <a:buSzPct val="100000"/>
              <a:buChar char="•"/>
            </a:pPr>
            <a:r>
              <a:rPr lang="en-US" sz="1350" dirty="0">
                <a:solidFill>
                  <a:srgbClr val="1A2B36"/>
                </a:solidFill>
              </a:rPr>
              <a:t>sum() / avg() ... by (label) — gộp nhóm</a:t>
            </a:r>
            <a:endParaRPr lang="en-US" sz="1350" dirty="0"/>
          </a:p>
          <a:p>
            <a:pPr marL="342900" indent="-342900">
              <a:buSzPct val="100000"/>
              <a:buChar char="•"/>
            </a:pPr>
            <a:r>
              <a:rPr lang="en-US" sz="1350" dirty="0">
                <a:solidFill>
                  <a:srgbClr val="1A2B36"/>
                </a:solidFill>
              </a:rPr>
              <a:t>increase(), histogram_quantile()</a:t>
            </a:r>
            <a:endParaRPr lang="en-US" sz="1350" dirty="0"/>
          </a:p>
        </p:txBody>
      </p:sp>
      <p:sp>
        <p:nvSpPr>
          <p:cNvPr id="7" name="Text 5"/>
          <p:cNvSpPr/>
          <p:nvPr/>
        </p:nvSpPr>
        <p:spPr>
          <a:xfrm>
            <a:off x="5852160" y="1737360"/>
            <a:ext cx="5486400" cy="32004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Query mẫu thực chiến</a:t>
            </a:r>
            <a:endParaRPr lang="en-US" sz="1500" dirty="0"/>
          </a:p>
        </p:txBody>
      </p:sp>
      <p:sp>
        <p:nvSpPr>
          <p:cNvPr id="8" name="Text 6"/>
          <p:cNvSpPr/>
          <p:nvPr/>
        </p:nvSpPr>
        <p:spPr>
          <a:xfrm>
            <a:off x="5852160" y="2121408"/>
            <a:ext cx="5760720" cy="256032"/>
          </a:xfrm>
          <a:prstGeom prst="rect">
            <a:avLst/>
          </a:prstGeom>
          <a:noFill/>
          <a:ln/>
        </p:spPr>
        <p:txBody>
          <a:bodyPr wrap="square" lIns="0" tIns="0" rIns="0" bIns="0" rtlCol="0" anchor="ctr"/>
          <a:lstStyle/>
          <a:p>
            <a:pPr marL="0" indent="0">
              <a:buNone/>
            </a:pPr>
            <a:r>
              <a:rPr lang="en-US" sz="1150" dirty="0">
                <a:solidFill>
                  <a:srgbClr val="5D6E78"/>
                </a:solidFill>
                <a:latin typeface="Calibri" pitchFamily="34" charset="0"/>
                <a:ea typeface="Calibri" pitchFamily="34" charset="-122"/>
                <a:cs typeface="Calibri" pitchFamily="34" charset="-120"/>
              </a:rPr>
              <a:t>CPU usage theo instance</a:t>
            </a:r>
            <a:endParaRPr lang="en-US" sz="1150" dirty="0"/>
          </a:p>
        </p:txBody>
      </p:sp>
      <p:sp>
        <p:nvSpPr>
          <p:cNvPr id="9" name="Shape 7"/>
          <p:cNvSpPr/>
          <p:nvPr/>
        </p:nvSpPr>
        <p:spPr>
          <a:xfrm>
            <a:off x="5852160" y="2377440"/>
            <a:ext cx="5788152" cy="914400"/>
          </a:xfrm>
          <a:prstGeom prst="roundRect">
            <a:avLst>
              <a:gd name="adj" fmla="val 6000"/>
            </a:avLst>
          </a:prstGeom>
          <a:solidFill>
            <a:srgbClr val="0D1B26"/>
          </a:solidFill>
          <a:ln/>
        </p:spPr>
        <p:txBody>
          <a:bodyPr/>
          <a:lstStyle/>
          <a:p>
            <a:endParaRPr lang="en-US"/>
          </a:p>
        </p:txBody>
      </p:sp>
      <p:sp>
        <p:nvSpPr>
          <p:cNvPr id="10" name="Text 8"/>
          <p:cNvSpPr/>
          <p:nvPr/>
        </p:nvSpPr>
        <p:spPr>
          <a:xfrm>
            <a:off x="6016752" y="2487168"/>
            <a:ext cx="5458968" cy="694944"/>
          </a:xfrm>
          <a:prstGeom prst="rect">
            <a:avLst/>
          </a:prstGeom>
          <a:noFill/>
          <a:ln/>
        </p:spPr>
        <p:txBody>
          <a:bodyPr wrap="square" lIns="0" tIns="0" rIns="0" bIns="0" rtlCol="0" anchor="t"/>
          <a:lstStyle/>
          <a:p>
            <a:pPr marL="0" indent="0" algn="l">
              <a:lnSpc>
                <a:spcPct val="105000"/>
              </a:lnSpc>
              <a:buNone/>
            </a:pPr>
            <a:r>
              <a:rPr lang="en-US" sz="1150" dirty="0">
                <a:solidFill>
                  <a:srgbClr val="9FE8DF"/>
                </a:solidFill>
                <a:latin typeface="Consolas" pitchFamily="34" charset="0"/>
                <a:ea typeface="Consolas" pitchFamily="34" charset="-122"/>
                <a:cs typeface="Consolas" pitchFamily="34" charset="-120"/>
              </a:rPr>
              <a:t>100 - (avg by(instance)(rate(</a:t>
            </a:r>
            <a:endParaRPr lang="en-US" sz="1150" dirty="0"/>
          </a:p>
          <a:p>
            <a:pPr marL="0" indent="0" algn="l">
              <a:lnSpc>
                <a:spcPct val="105000"/>
              </a:lnSpc>
              <a:buNone/>
            </a:pPr>
            <a:r>
              <a:rPr lang="en-US" sz="1150" dirty="0">
                <a:solidFill>
                  <a:srgbClr val="9FE8DF"/>
                </a:solidFill>
                <a:latin typeface="Consolas" pitchFamily="34" charset="0"/>
                <a:ea typeface="Consolas" pitchFamily="34" charset="-122"/>
                <a:cs typeface="Consolas" pitchFamily="34" charset="-120"/>
              </a:rPr>
              <a:t>  node_cpu_seconds_total{mode="idle"}[5m]))</a:t>
            </a:r>
            <a:endParaRPr lang="en-US" sz="1150" dirty="0"/>
          </a:p>
          <a:p>
            <a:pPr marL="0" indent="0" algn="l">
              <a:lnSpc>
                <a:spcPct val="105000"/>
              </a:lnSpc>
              <a:buNone/>
            </a:pPr>
            <a:r>
              <a:rPr lang="en-US" sz="1150" dirty="0">
                <a:solidFill>
                  <a:srgbClr val="9FE8DF"/>
                </a:solidFill>
                <a:latin typeface="Consolas" pitchFamily="34" charset="0"/>
                <a:ea typeface="Consolas" pitchFamily="34" charset="-122"/>
                <a:cs typeface="Consolas" pitchFamily="34" charset="-120"/>
              </a:rPr>
              <a:t>  * 100)</a:t>
            </a:r>
            <a:endParaRPr lang="en-US" sz="1150" dirty="0"/>
          </a:p>
        </p:txBody>
      </p:sp>
      <p:sp>
        <p:nvSpPr>
          <p:cNvPr id="11" name="Text 9"/>
          <p:cNvSpPr/>
          <p:nvPr/>
        </p:nvSpPr>
        <p:spPr>
          <a:xfrm>
            <a:off x="5852160" y="3401568"/>
            <a:ext cx="5760720" cy="256032"/>
          </a:xfrm>
          <a:prstGeom prst="rect">
            <a:avLst/>
          </a:prstGeom>
          <a:noFill/>
          <a:ln/>
        </p:spPr>
        <p:txBody>
          <a:bodyPr wrap="square" lIns="0" tIns="0" rIns="0" bIns="0" rtlCol="0" anchor="ctr"/>
          <a:lstStyle/>
          <a:p>
            <a:pPr marL="0" indent="0">
              <a:buNone/>
            </a:pPr>
            <a:r>
              <a:rPr lang="en-US" sz="1150" dirty="0">
                <a:solidFill>
                  <a:srgbClr val="5D6E78"/>
                </a:solidFill>
                <a:latin typeface="Calibri" pitchFamily="34" charset="0"/>
                <a:ea typeface="Calibri" pitchFamily="34" charset="-122"/>
                <a:cs typeface="Calibri" pitchFamily="34" charset="-120"/>
              </a:rPr>
              <a:t>% RAM đã dùng</a:t>
            </a:r>
            <a:endParaRPr lang="en-US" sz="1150" dirty="0"/>
          </a:p>
        </p:txBody>
      </p:sp>
      <p:sp>
        <p:nvSpPr>
          <p:cNvPr id="12" name="Shape 10"/>
          <p:cNvSpPr/>
          <p:nvPr/>
        </p:nvSpPr>
        <p:spPr>
          <a:xfrm>
            <a:off x="5852160" y="3657600"/>
            <a:ext cx="5788152" cy="786384"/>
          </a:xfrm>
          <a:prstGeom prst="roundRect">
            <a:avLst>
              <a:gd name="adj" fmla="val 6977"/>
            </a:avLst>
          </a:prstGeom>
          <a:solidFill>
            <a:srgbClr val="0D1B26"/>
          </a:solidFill>
          <a:ln/>
        </p:spPr>
        <p:txBody>
          <a:bodyPr/>
          <a:lstStyle/>
          <a:p>
            <a:endParaRPr lang="en-US"/>
          </a:p>
        </p:txBody>
      </p:sp>
      <p:sp>
        <p:nvSpPr>
          <p:cNvPr id="13" name="Text 11"/>
          <p:cNvSpPr/>
          <p:nvPr/>
        </p:nvSpPr>
        <p:spPr>
          <a:xfrm>
            <a:off x="6016752" y="3767328"/>
            <a:ext cx="5458968" cy="566928"/>
          </a:xfrm>
          <a:prstGeom prst="rect">
            <a:avLst/>
          </a:prstGeom>
          <a:noFill/>
          <a:ln/>
        </p:spPr>
        <p:txBody>
          <a:bodyPr wrap="square" lIns="0" tIns="0" rIns="0" bIns="0" rtlCol="0" anchor="t"/>
          <a:lstStyle/>
          <a:p>
            <a:pPr marL="0" indent="0" algn="l">
              <a:lnSpc>
                <a:spcPct val="105000"/>
              </a:lnSpc>
              <a:buNone/>
            </a:pPr>
            <a:r>
              <a:rPr lang="en-US" sz="1150" dirty="0">
                <a:solidFill>
                  <a:srgbClr val="9FE8DF"/>
                </a:solidFill>
                <a:latin typeface="Consolas" pitchFamily="34" charset="0"/>
                <a:ea typeface="Consolas" pitchFamily="34" charset="-122"/>
                <a:cs typeface="Consolas" pitchFamily="34" charset="-120"/>
              </a:rPr>
              <a:t>(1 - (node_memory_MemAvailable_bytes /</a:t>
            </a:r>
            <a:endParaRPr lang="en-US" sz="1150" dirty="0"/>
          </a:p>
          <a:p>
            <a:pPr marL="0" indent="0" algn="l">
              <a:lnSpc>
                <a:spcPct val="105000"/>
              </a:lnSpc>
              <a:buNone/>
            </a:pPr>
            <a:r>
              <a:rPr lang="en-US" sz="1150" dirty="0">
                <a:solidFill>
                  <a:srgbClr val="9FE8DF"/>
                </a:solidFill>
                <a:latin typeface="Consolas" pitchFamily="34" charset="0"/>
                <a:ea typeface="Consolas" pitchFamily="34" charset="-122"/>
                <a:cs typeface="Consolas" pitchFamily="34" charset="-120"/>
              </a:rPr>
              <a:t>  node_memory_MemTotal_bytes)) * 100</a:t>
            </a:r>
            <a:endParaRPr lang="en-US" sz="1150" dirty="0"/>
          </a:p>
        </p:txBody>
      </p:sp>
      <p:sp>
        <p:nvSpPr>
          <p:cNvPr id="14" name="Text 12"/>
          <p:cNvSpPr/>
          <p:nvPr/>
        </p:nvSpPr>
        <p:spPr>
          <a:xfrm>
            <a:off x="5852160" y="4553712"/>
            <a:ext cx="5760720" cy="256032"/>
          </a:xfrm>
          <a:prstGeom prst="rect">
            <a:avLst/>
          </a:prstGeom>
          <a:noFill/>
          <a:ln/>
        </p:spPr>
        <p:txBody>
          <a:bodyPr wrap="square" lIns="0" tIns="0" rIns="0" bIns="0" rtlCol="0" anchor="ctr"/>
          <a:lstStyle/>
          <a:p>
            <a:pPr marL="0" indent="0">
              <a:buNone/>
            </a:pPr>
            <a:r>
              <a:rPr lang="en-US" sz="1150" dirty="0">
                <a:solidFill>
                  <a:srgbClr val="5D6E78"/>
                </a:solidFill>
                <a:latin typeface="Calibri" pitchFamily="34" charset="0"/>
                <a:ea typeface="Calibri" pitchFamily="34" charset="-122"/>
                <a:cs typeface="Calibri" pitchFamily="34" charset="-120"/>
              </a:rPr>
              <a:t>% Disk đã dùng (mount /)</a:t>
            </a:r>
            <a:endParaRPr lang="en-US" sz="1150" dirty="0"/>
          </a:p>
        </p:txBody>
      </p:sp>
      <p:sp>
        <p:nvSpPr>
          <p:cNvPr id="15" name="Shape 13"/>
          <p:cNvSpPr/>
          <p:nvPr/>
        </p:nvSpPr>
        <p:spPr>
          <a:xfrm>
            <a:off x="5852160" y="4809744"/>
            <a:ext cx="5788152" cy="859536"/>
          </a:xfrm>
          <a:prstGeom prst="roundRect">
            <a:avLst>
              <a:gd name="adj" fmla="val 6383"/>
            </a:avLst>
          </a:prstGeom>
          <a:solidFill>
            <a:srgbClr val="0D1B26"/>
          </a:solidFill>
          <a:ln/>
        </p:spPr>
        <p:txBody>
          <a:bodyPr/>
          <a:lstStyle/>
          <a:p>
            <a:endParaRPr lang="en-US"/>
          </a:p>
        </p:txBody>
      </p:sp>
      <p:sp>
        <p:nvSpPr>
          <p:cNvPr id="16" name="Text 14"/>
          <p:cNvSpPr/>
          <p:nvPr/>
        </p:nvSpPr>
        <p:spPr>
          <a:xfrm>
            <a:off x="6016752" y="4919472"/>
            <a:ext cx="5458968" cy="640080"/>
          </a:xfrm>
          <a:prstGeom prst="rect">
            <a:avLst/>
          </a:prstGeom>
          <a:noFill/>
          <a:ln/>
        </p:spPr>
        <p:txBody>
          <a:bodyPr wrap="square" lIns="0" tIns="0" rIns="0" bIns="0" rtlCol="0" anchor="t"/>
          <a:lstStyle/>
          <a:p>
            <a:pPr marL="0" indent="0" algn="l">
              <a:lnSpc>
                <a:spcPct val="105000"/>
              </a:lnSpc>
              <a:buNone/>
            </a:pPr>
            <a:r>
              <a:rPr lang="en-US" sz="1150" dirty="0">
                <a:solidFill>
                  <a:srgbClr val="9FE8DF"/>
                </a:solidFill>
                <a:latin typeface="Consolas" pitchFamily="34" charset="0"/>
                <a:ea typeface="Consolas" pitchFamily="34" charset="-122"/>
                <a:cs typeface="Consolas" pitchFamily="34" charset="-120"/>
              </a:rPr>
              <a:t>100 - (node_filesystem_avail_bytes{</a:t>
            </a:r>
            <a:endParaRPr lang="en-US" sz="1150" dirty="0"/>
          </a:p>
          <a:p>
            <a:pPr marL="0" indent="0" algn="l">
              <a:lnSpc>
                <a:spcPct val="105000"/>
              </a:lnSpc>
              <a:buNone/>
            </a:pPr>
            <a:r>
              <a:rPr lang="en-US" sz="1150" dirty="0">
                <a:solidFill>
                  <a:srgbClr val="9FE8DF"/>
                </a:solidFill>
                <a:latin typeface="Consolas" pitchFamily="34" charset="0"/>
                <a:ea typeface="Consolas" pitchFamily="34" charset="-122"/>
                <a:cs typeface="Consolas" pitchFamily="34" charset="-120"/>
              </a:rPr>
              <a:t>  mountpoint="/"} / node_filesystem_size</a:t>
            </a:r>
            <a:endParaRPr lang="en-US" sz="1150" dirty="0"/>
          </a:p>
          <a:p>
            <a:pPr marL="0" indent="0" algn="l">
              <a:lnSpc>
                <a:spcPct val="105000"/>
              </a:lnSpc>
              <a:buNone/>
            </a:pPr>
            <a:r>
              <a:rPr lang="en-US" sz="1150" dirty="0">
                <a:solidFill>
                  <a:srgbClr val="9FE8DF"/>
                </a:solidFill>
                <a:latin typeface="Consolas" pitchFamily="34" charset="0"/>
                <a:ea typeface="Consolas" pitchFamily="34" charset="-122"/>
                <a:cs typeface="Consolas" pitchFamily="34" charset="-120"/>
              </a:rPr>
              <a:t>  _bytes{mountpoint="/"} * 100)</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600200" cy="457200"/>
          </a:xfrm>
          <a:prstGeom prst="roundRect">
            <a:avLst>
              <a:gd name="adj" fmla="val 50000"/>
            </a:avLst>
          </a:prstGeom>
          <a:solidFill>
            <a:srgbClr val="F6A623"/>
          </a:solidFill>
          <a:ln/>
        </p:spPr>
        <p:txBody>
          <a:bodyPr/>
          <a:lstStyle/>
          <a:p>
            <a:endParaRPr lang="en-US"/>
          </a:p>
        </p:txBody>
      </p:sp>
      <p:sp>
        <p:nvSpPr>
          <p:cNvPr id="3" name="Text 1"/>
          <p:cNvSpPr/>
          <p:nvPr/>
        </p:nvSpPr>
        <p:spPr>
          <a:xfrm>
            <a:off x="548640" y="411480"/>
            <a:ext cx="1600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LAB 3</a:t>
            </a:r>
            <a:endParaRPr lang="en-US" sz="1400" dirty="0"/>
          </a:p>
        </p:txBody>
      </p:sp>
      <p:sp>
        <p:nvSpPr>
          <p:cNvPr id="4" name="Text 2"/>
          <p:cNvSpPr/>
          <p:nvPr/>
        </p:nvSpPr>
        <p:spPr>
          <a:xfrm>
            <a:off x="2286000" y="411480"/>
            <a:ext cx="3657600" cy="457200"/>
          </a:xfrm>
          <a:prstGeom prst="rect">
            <a:avLst/>
          </a:prstGeom>
          <a:noFill/>
          <a:ln/>
        </p:spPr>
        <p:txBody>
          <a:bodyPr wrap="square" lIns="0" tIns="0" rIns="0" bIns="0" rtlCol="0" anchor="ctr"/>
          <a:lstStyle/>
          <a:p>
            <a:pPr marL="0" indent="0">
              <a:buNone/>
            </a:pPr>
            <a:r>
              <a:rPr lang="en-US" sz="1300" b="1" kern="0" spc="100" dirty="0">
                <a:solidFill>
                  <a:srgbClr val="0E8C82"/>
                </a:solidFill>
                <a:latin typeface="Calibri" pitchFamily="34" charset="0"/>
                <a:ea typeface="Calibri" pitchFamily="34" charset="-122"/>
                <a:cs typeface="Calibri" pitchFamily="34" charset="-120"/>
              </a:rPr>
              <a:t>SESSION 3</a:t>
            </a:r>
            <a:endParaRPr lang="en-US" sz="1300" dirty="0"/>
          </a:p>
        </p:txBody>
      </p:sp>
      <p:sp>
        <p:nvSpPr>
          <p:cNvPr id="5" name="Text 3"/>
          <p:cNvSpPr/>
          <p:nvPr/>
        </p:nvSpPr>
        <p:spPr>
          <a:xfrm>
            <a:off x="548640" y="932688"/>
            <a:ext cx="11064240" cy="548640"/>
          </a:xfrm>
          <a:prstGeom prst="rect">
            <a:avLst/>
          </a:prstGeom>
          <a:noFill/>
          <a:ln/>
        </p:spPr>
        <p:txBody>
          <a:bodyPr wrap="square" lIns="0" tIns="0" rIns="0" bIns="0" rtlCol="0" anchor="ctr"/>
          <a:lstStyle/>
          <a:p>
            <a:pPr marL="0" indent="0">
              <a:buNone/>
            </a:pPr>
            <a:r>
              <a:rPr lang="en-US" sz="2700" b="1" dirty="0">
                <a:solidFill>
                  <a:srgbClr val="1A2B36"/>
                </a:solidFill>
                <a:latin typeface="Calibri" pitchFamily="34" charset="0"/>
                <a:ea typeface="Calibri" pitchFamily="34" charset="-122"/>
                <a:cs typeface="Calibri" pitchFamily="34" charset="-120"/>
              </a:rPr>
              <a:t>Query metrics &amp; build Dashboard trên Grafana</a:t>
            </a:r>
            <a:endParaRPr lang="en-US" sz="2700" dirty="0"/>
          </a:p>
        </p:txBody>
      </p:sp>
      <p:sp>
        <p:nvSpPr>
          <p:cNvPr id="6" name="Shape 4"/>
          <p:cNvSpPr/>
          <p:nvPr/>
        </p:nvSpPr>
        <p:spPr>
          <a:xfrm>
            <a:off x="548640" y="1572768"/>
            <a:ext cx="11091672" cy="566928"/>
          </a:xfrm>
          <a:prstGeom prst="roundRect">
            <a:avLst>
              <a:gd name="adj" fmla="val 12903"/>
            </a:avLst>
          </a:prstGeom>
          <a:solidFill>
            <a:srgbClr val="1FBFB3">
              <a:alpha val="14000"/>
            </a:srgbClr>
          </a:solidFill>
          <a:ln/>
        </p:spPr>
        <p:txBody>
          <a:bodyPr/>
          <a:lstStyle/>
          <a:p>
            <a:endParaRPr lang="en-US"/>
          </a:p>
        </p:txBody>
      </p:sp>
      <p:sp>
        <p:nvSpPr>
          <p:cNvPr id="7" name="Text 5"/>
          <p:cNvSpPr/>
          <p:nvPr/>
        </p:nvSpPr>
        <p:spPr>
          <a:xfrm>
            <a:off x="777240" y="1572768"/>
            <a:ext cx="10607040" cy="566928"/>
          </a:xfrm>
          <a:prstGeom prst="rect">
            <a:avLst/>
          </a:prstGeom>
          <a:noFill/>
          <a:ln/>
        </p:spPr>
        <p:txBody>
          <a:bodyPr wrap="square" lIns="0" tIns="0" rIns="0" bIns="0" rtlCol="0" anchor="ctr"/>
          <a:lstStyle/>
          <a:p>
            <a:pPr marL="0" indent="0">
              <a:buNone/>
            </a:pPr>
            <a:r>
              <a:rPr lang="en-US" sz="1350" b="1" dirty="0">
                <a:solidFill>
                  <a:srgbClr val="0E8C82"/>
                </a:solidFill>
                <a:latin typeface="Calibri" pitchFamily="34" charset="0"/>
                <a:ea typeface="Calibri" pitchFamily="34" charset="-122"/>
                <a:cs typeface="Calibri" pitchFamily="34" charset="-120"/>
              </a:rPr>
              <a:t>Mục tiêu:  </a:t>
            </a:r>
            <a:r>
              <a:rPr lang="en-US" sz="1350" dirty="0">
                <a:solidFill>
                  <a:srgbClr val="1A2B36"/>
                </a:solidFill>
                <a:latin typeface="Calibri" pitchFamily="34" charset="0"/>
                <a:ea typeface="Calibri" pitchFamily="34" charset="-122"/>
                <a:cs typeface="Calibri" pitchFamily="34" charset="-120"/>
              </a:rPr>
              <a:t>Trực quan hoá metrics thu thập từ Prometheus.</a:t>
            </a:r>
            <a:endParaRPr lang="en-US" sz="1350" dirty="0"/>
          </a:p>
        </p:txBody>
      </p:sp>
      <p:sp>
        <p:nvSpPr>
          <p:cNvPr id="8" name="Shape 6"/>
          <p:cNvSpPr/>
          <p:nvPr/>
        </p:nvSpPr>
        <p:spPr>
          <a:xfrm>
            <a:off x="548640" y="2331720"/>
            <a:ext cx="7040880" cy="3337560"/>
          </a:xfrm>
          <a:prstGeom prst="roundRect">
            <a:avLst>
              <a:gd name="adj" fmla="val 246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9" name="Text 7"/>
          <p:cNvSpPr/>
          <p:nvPr/>
        </p:nvSpPr>
        <p:spPr>
          <a:xfrm>
            <a:off x="777240" y="2487168"/>
            <a:ext cx="6400800" cy="365760"/>
          </a:xfrm>
          <a:prstGeom prst="rect">
            <a:avLst/>
          </a:prstGeom>
          <a:noFill/>
          <a:ln/>
        </p:spPr>
        <p:txBody>
          <a:bodyPr wrap="square" lIns="0" tIns="0" rIns="0" bIns="0" rtlCol="0" anchor="ctr"/>
          <a:lstStyle/>
          <a:p>
            <a:pPr marL="0" indent="0">
              <a:buNone/>
            </a:pPr>
            <a:r>
              <a:rPr lang="en-US" sz="1500" b="1" dirty="0">
                <a:solidFill>
                  <a:srgbClr val="1A2B36"/>
                </a:solidFill>
                <a:latin typeface="Calibri" pitchFamily="34" charset="0"/>
                <a:ea typeface="Calibri" pitchFamily="34" charset="-122"/>
                <a:cs typeface="Calibri" pitchFamily="34" charset="-120"/>
              </a:rPr>
              <a:t>Các bước</a:t>
            </a:r>
            <a:endParaRPr lang="en-US" sz="1500" dirty="0"/>
          </a:p>
        </p:txBody>
      </p:sp>
      <p:sp>
        <p:nvSpPr>
          <p:cNvPr id="10" name="Shape 8"/>
          <p:cNvSpPr/>
          <p:nvPr/>
        </p:nvSpPr>
        <p:spPr>
          <a:xfrm>
            <a:off x="804672" y="2926080"/>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1" name="Text 9"/>
          <p:cNvSpPr/>
          <p:nvPr/>
        </p:nvSpPr>
        <p:spPr>
          <a:xfrm>
            <a:off x="804672" y="2926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325880" y="2880360"/>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Thêm data source Prometheus vào Grafana</a:t>
            </a:r>
            <a:endParaRPr lang="en-US" sz="1300" dirty="0"/>
          </a:p>
        </p:txBody>
      </p:sp>
      <p:sp>
        <p:nvSpPr>
          <p:cNvPr id="13" name="Shape 11"/>
          <p:cNvSpPr/>
          <p:nvPr/>
        </p:nvSpPr>
        <p:spPr>
          <a:xfrm>
            <a:off x="804672" y="3529584"/>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4" name="Text 12"/>
          <p:cNvSpPr/>
          <p:nvPr/>
        </p:nvSpPr>
        <p:spPr>
          <a:xfrm>
            <a:off x="804672" y="35295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325880" y="3483864"/>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Tạo dashboard 'Infra Overview': CPU%, RAM%, Disk%, Network I/O</a:t>
            </a:r>
            <a:endParaRPr lang="en-US" sz="1300" dirty="0"/>
          </a:p>
        </p:txBody>
      </p:sp>
      <p:sp>
        <p:nvSpPr>
          <p:cNvPr id="16" name="Shape 14"/>
          <p:cNvSpPr/>
          <p:nvPr/>
        </p:nvSpPr>
        <p:spPr>
          <a:xfrm>
            <a:off x="804672" y="4133088"/>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7" name="Text 15"/>
          <p:cNvSpPr/>
          <p:nvPr/>
        </p:nvSpPr>
        <p:spPr>
          <a:xfrm>
            <a:off x="804672" y="41330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325880" y="4087368"/>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Thêm biến instance để lọc theo host</a:t>
            </a:r>
            <a:endParaRPr lang="en-US" sz="1300" dirty="0"/>
          </a:p>
        </p:txBody>
      </p:sp>
      <p:sp>
        <p:nvSpPr>
          <p:cNvPr id="19" name="Shape 17"/>
          <p:cNvSpPr/>
          <p:nvPr/>
        </p:nvSpPr>
        <p:spPr>
          <a:xfrm>
            <a:off x="804672" y="4736592"/>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20" name="Text 18"/>
          <p:cNvSpPr/>
          <p:nvPr/>
        </p:nvSpPr>
        <p:spPr>
          <a:xfrm>
            <a:off x="804672" y="4736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325880" y="4690872"/>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Import dashboard cộng đồng Node Exporter Full (ID 1860)</a:t>
            </a:r>
            <a:endParaRPr lang="en-US" sz="1300" dirty="0"/>
          </a:p>
        </p:txBody>
      </p:sp>
      <p:sp>
        <p:nvSpPr>
          <p:cNvPr id="22" name="Shape 20"/>
          <p:cNvSpPr/>
          <p:nvPr/>
        </p:nvSpPr>
        <p:spPr>
          <a:xfrm>
            <a:off x="7772400" y="2331720"/>
            <a:ext cx="3867912" cy="3337560"/>
          </a:xfrm>
          <a:prstGeom prst="roundRect">
            <a:avLst>
              <a:gd name="adj" fmla="val 2466"/>
            </a:avLst>
          </a:prstGeom>
          <a:solidFill>
            <a:srgbClr val="0E2233"/>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3" name="Text 21"/>
          <p:cNvSpPr/>
          <p:nvPr/>
        </p:nvSpPr>
        <p:spPr>
          <a:xfrm>
            <a:off x="8001000" y="2487168"/>
            <a:ext cx="3383280" cy="365760"/>
          </a:xfrm>
          <a:prstGeom prst="rect">
            <a:avLst/>
          </a:prstGeom>
          <a:noFill/>
          <a:ln/>
        </p:spPr>
        <p:txBody>
          <a:bodyPr wrap="square" lIns="0" tIns="0" rIns="0" bIns="0" rtlCol="0" anchor="ctr"/>
          <a:lstStyle/>
          <a:p>
            <a:pPr marL="0" indent="0">
              <a:buNone/>
            </a:pPr>
            <a:r>
              <a:rPr lang="en-US" sz="1500" b="1" dirty="0">
                <a:solidFill>
                  <a:srgbClr val="F6A623"/>
                </a:solidFill>
                <a:latin typeface="Calibri" pitchFamily="34" charset="0"/>
                <a:ea typeface="Calibri" pitchFamily="34" charset="-122"/>
                <a:cs typeface="Calibri" pitchFamily="34" charset="-120"/>
              </a:rPr>
              <a:t>Nghiệm thu</a:t>
            </a:r>
            <a:endParaRPr lang="en-US" sz="1500" dirty="0"/>
          </a:p>
        </p:txBody>
      </p:sp>
      <p:sp>
        <p:nvSpPr>
          <p:cNvPr id="24" name="Text 22"/>
          <p:cNvSpPr/>
          <p:nvPr/>
        </p:nvSpPr>
        <p:spPr>
          <a:xfrm>
            <a:off x="8001000" y="2907792"/>
            <a:ext cx="3429000" cy="26517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E6EEF2"/>
                </a:solidFill>
              </a:rPr>
              <a:t>Dashboard hiển thị dữ liệu thật</a:t>
            </a:r>
            <a:endParaRPr lang="en-US" sz="1250" dirty="0"/>
          </a:p>
          <a:p>
            <a:pPr marL="342900" indent="-342900">
              <a:spcAft>
                <a:spcPts val="1000"/>
              </a:spcAft>
              <a:buSzPct val="100000"/>
              <a:buChar char="✓"/>
            </a:pPr>
            <a:r>
              <a:rPr lang="en-US" sz="1250" dirty="0">
                <a:solidFill>
                  <a:srgbClr val="E6EEF2"/>
                </a:solidFill>
              </a:rPr>
              <a:t>Đổi biến instance → panel cập nhật đúng</a:t>
            </a:r>
            <a:endParaRPr lang="en-US" sz="1250" dirty="0"/>
          </a:p>
          <a:p>
            <a:pPr marL="342900" indent="-342900">
              <a:spcAft>
                <a:spcPts val="1000"/>
              </a:spcAft>
              <a:buSzPct val="100000"/>
              <a:buChar char="✓"/>
            </a:pPr>
            <a:r>
              <a:rPr lang="en-US" sz="1250" dirty="0">
                <a:solidFill>
                  <a:srgbClr val="E6EEF2"/>
                </a:solidFill>
              </a:rPr>
              <a:t>≥ 4 panel hoạt động</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2233"/>
        </a:solidFill>
        <a:effectLst/>
      </p:bgPr>
    </p:bg>
    <p:spTree>
      <p:nvGrpSpPr>
        <p:cNvPr id="1" name=""/>
        <p:cNvGrpSpPr/>
        <p:nvPr/>
      </p:nvGrpSpPr>
      <p:grpSpPr>
        <a:xfrm>
          <a:off x="0" y="0"/>
          <a:ext cx="0" cy="0"/>
          <a:chOff x="0" y="0"/>
          <a:chExt cx="0" cy="0"/>
        </a:xfrm>
      </p:grpSpPr>
      <p:sp>
        <p:nvSpPr>
          <p:cNvPr id="2" name="Shape 0"/>
          <p:cNvSpPr/>
          <p:nvPr/>
        </p:nvSpPr>
        <p:spPr>
          <a:xfrm>
            <a:off x="-1280160" y="3840480"/>
            <a:ext cx="4206240" cy="4206240"/>
          </a:xfrm>
          <a:prstGeom prst="ellipse">
            <a:avLst/>
          </a:prstGeom>
          <a:solidFill>
            <a:srgbClr val="1FBFB3">
              <a:alpha val="16000"/>
            </a:srgbClr>
          </a:solidFill>
          <a:ln/>
        </p:spPr>
        <p:txBody>
          <a:bodyPr/>
          <a:lstStyle/>
          <a:p>
            <a:endParaRPr lang="en-US"/>
          </a:p>
        </p:txBody>
      </p:sp>
      <p:sp>
        <p:nvSpPr>
          <p:cNvPr id="3" name="Text 1"/>
          <p:cNvSpPr/>
          <p:nvPr/>
        </p:nvSpPr>
        <p:spPr>
          <a:xfrm>
            <a:off x="731520" y="1234440"/>
            <a:ext cx="5486400" cy="365760"/>
          </a:xfrm>
          <a:prstGeom prst="rect">
            <a:avLst/>
          </a:prstGeom>
          <a:noFill/>
          <a:ln/>
        </p:spPr>
        <p:txBody>
          <a:bodyPr wrap="square" lIns="0" tIns="0" rIns="0" bIns="0" rtlCol="0" anchor="ctr"/>
          <a:lstStyle/>
          <a:p>
            <a:pPr marL="0" indent="0">
              <a:buNone/>
            </a:pPr>
            <a:r>
              <a:rPr lang="en-US" sz="1500" b="1" kern="0" spc="300" dirty="0">
                <a:solidFill>
                  <a:srgbClr val="F6A623"/>
                </a:solidFill>
                <a:latin typeface="Calibri" pitchFamily="34" charset="0"/>
                <a:ea typeface="Calibri" pitchFamily="34" charset="-122"/>
                <a:cs typeface="Calibri" pitchFamily="34" charset="-120"/>
              </a:rPr>
              <a:t>AI ASSIST</a:t>
            </a:r>
            <a:endParaRPr lang="en-US" sz="1500" dirty="0"/>
          </a:p>
        </p:txBody>
      </p:sp>
      <p:sp>
        <p:nvSpPr>
          <p:cNvPr id="4" name="Text 2"/>
          <p:cNvSpPr/>
          <p:nvPr/>
        </p:nvSpPr>
        <p:spPr>
          <a:xfrm>
            <a:off x="685800" y="1600200"/>
            <a:ext cx="105156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Dùng AI để giải mã PromQL</a:t>
            </a:r>
            <a:endParaRPr lang="en-US" sz="3400" dirty="0"/>
          </a:p>
        </p:txBody>
      </p:sp>
      <p:sp>
        <p:nvSpPr>
          <p:cNvPr id="5" name="Shape 3"/>
          <p:cNvSpPr/>
          <p:nvPr/>
        </p:nvSpPr>
        <p:spPr>
          <a:xfrm>
            <a:off x="731520" y="2697480"/>
            <a:ext cx="10698480" cy="1371600"/>
          </a:xfrm>
          <a:prstGeom prst="roundRect">
            <a:avLst>
              <a:gd name="adj" fmla="val 6667"/>
            </a:avLst>
          </a:prstGeom>
          <a:solidFill>
            <a:srgbClr val="FFFFFF">
              <a:alpha val="8000"/>
            </a:srgbClr>
          </a:solidFill>
          <a:ln w="12700">
            <a:solidFill>
              <a:srgbClr val="1FBFB3"/>
            </a:solidFill>
            <a:prstDash val="solid"/>
          </a:ln>
        </p:spPr>
        <p:txBody>
          <a:bodyPr/>
          <a:lstStyle/>
          <a:p>
            <a:endParaRPr lang="en-US"/>
          </a:p>
        </p:txBody>
      </p:sp>
      <p:sp>
        <p:nvSpPr>
          <p:cNvPr id="6" name="Text 4"/>
          <p:cNvSpPr/>
          <p:nvPr/>
        </p:nvSpPr>
        <p:spPr>
          <a:xfrm>
            <a:off x="1005840" y="2834640"/>
            <a:ext cx="10149840" cy="1097280"/>
          </a:xfrm>
          <a:prstGeom prst="rect">
            <a:avLst/>
          </a:prstGeom>
          <a:noFill/>
          <a:ln/>
        </p:spPr>
        <p:txBody>
          <a:bodyPr wrap="square" lIns="0" tIns="0" rIns="0" bIns="0" rtlCol="0" anchor="ctr"/>
          <a:lstStyle/>
          <a:p>
            <a:pPr marL="0" indent="0">
              <a:lnSpc>
                <a:spcPct val="110000"/>
              </a:lnSpc>
              <a:buNone/>
            </a:pPr>
            <a:r>
              <a:rPr lang="en-US" sz="1400" i="1" dirty="0">
                <a:solidFill>
                  <a:srgbClr val="D6E4EA"/>
                </a:solidFill>
                <a:latin typeface="Consolas" pitchFamily="34" charset="0"/>
                <a:ea typeface="Consolas" pitchFamily="34" charset="-122"/>
                <a:cs typeface="Consolas" pitchFamily="34" charset="-120"/>
              </a:rPr>
              <a:t>“Giải thích ý nghĩa từng thành phần của câu PromQL sau và cho biết khi nào nên dùng rate vs irate:</a:t>
            </a:r>
            <a:endParaRPr lang="en-US" sz="1400" dirty="0"/>
          </a:p>
          <a:p>
            <a:pPr marL="0" indent="0">
              <a:lnSpc>
                <a:spcPct val="110000"/>
              </a:lnSpc>
              <a:buNone/>
            </a:pPr>
            <a:r>
              <a:rPr lang="en-US" sz="1400" i="1" dirty="0">
                <a:solidFill>
                  <a:srgbClr val="D6E4EA"/>
                </a:solidFill>
                <a:latin typeface="Consolas" pitchFamily="34" charset="0"/>
                <a:ea typeface="Consolas" pitchFamily="34" charset="-122"/>
                <a:cs typeface="Consolas" pitchFamily="34" charset="-120"/>
              </a:rPr>
              <a:t>sum by(instance)(rate(node_cpu_seconds_total{mode!='idle'}[5m]))”</a:t>
            </a:r>
            <a:endParaRPr lang="en-US" sz="1400" dirty="0"/>
          </a:p>
        </p:txBody>
      </p:sp>
      <p:sp>
        <p:nvSpPr>
          <p:cNvPr id="7" name="Text 5"/>
          <p:cNvSpPr/>
          <p:nvPr/>
        </p:nvSpPr>
        <p:spPr>
          <a:xfrm>
            <a:off x="731520" y="4343400"/>
            <a:ext cx="10698480" cy="73152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Cũng dùng AI để: </a:t>
            </a:r>
            <a:r>
              <a:rPr lang="en-US" sz="1500" dirty="0">
                <a:solidFill>
                  <a:srgbClr val="AEC6D2"/>
                </a:solidFill>
                <a:latin typeface="Calibri" pitchFamily="34" charset="0"/>
                <a:ea typeface="Calibri" pitchFamily="34" charset="-122"/>
                <a:cs typeface="Calibri" pitchFamily="34" charset="-120"/>
              </a:rPr>
              <a:t>sinh PromQL từ mô tả tiếng Việt · tối ưu query chậm · giải thích metric lạ · gợi ý panel phù hợp.</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A28"/>
        </a:solidFill>
        <a:effectLst/>
      </p:bgPr>
    </p:bg>
    <p:spTree>
      <p:nvGrpSpPr>
        <p:cNvPr id="1" name=""/>
        <p:cNvGrpSpPr/>
        <p:nvPr/>
      </p:nvGrpSpPr>
      <p:grpSpPr>
        <a:xfrm>
          <a:off x="0" y="0"/>
          <a:ext cx="0" cy="0"/>
          <a:chOff x="0" y="0"/>
          <a:chExt cx="0" cy="0"/>
        </a:xfrm>
      </p:grpSpPr>
      <p:sp>
        <p:nvSpPr>
          <p:cNvPr id="2" name="Shape 0"/>
          <p:cNvSpPr/>
          <p:nvPr/>
        </p:nvSpPr>
        <p:spPr>
          <a:xfrm>
            <a:off x="8961120" y="-1097280"/>
            <a:ext cx="4937760" cy="4937760"/>
          </a:xfrm>
          <a:prstGeom prst="ellipse">
            <a:avLst/>
          </a:prstGeom>
          <a:solidFill>
            <a:srgbClr val="F6A623">
              <a:alpha val="16000"/>
            </a:srgbClr>
          </a:solidFill>
          <a:ln/>
        </p:spPr>
        <p:txBody>
          <a:bodyPr/>
          <a:lstStyle/>
          <a:p>
            <a:endParaRPr lang="en-US"/>
          </a:p>
        </p:txBody>
      </p:sp>
      <p:sp>
        <p:nvSpPr>
          <p:cNvPr id="3" name="Text 1"/>
          <p:cNvSpPr/>
          <p:nvPr/>
        </p:nvSpPr>
        <p:spPr>
          <a:xfrm>
            <a:off x="731520" y="2148840"/>
            <a:ext cx="3657600" cy="365760"/>
          </a:xfrm>
          <a:prstGeom prst="rect">
            <a:avLst/>
          </a:prstGeom>
          <a:noFill/>
          <a:ln/>
        </p:spPr>
        <p:txBody>
          <a:bodyPr wrap="square" lIns="0" tIns="0" rIns="0" bIns="0" rtlCol="0" anchor="ctr"/>
          <a:lstStyle/>
          <a:p>
            <a:pPr marL="0" indent="0">
              <a:buNone/>
            </a:pPr>
            <a:r>
              <a:rPr lang="en-US" sz="1600" b="1" kern="0" spc="400" dirty="0">
                <a:solidFill>
                  <a:srgbClr val="F6A623"/>
                </a:solidFill>
                <a:latin typeface="Calibri" pitchFamily="34" charset="0"/>
                <a:ea typeface="Calibri" pitchFamily="34" charset="-122"/>
                <a:cs typeface="Calibri" pitchFamily="34" charset="-120"/>
              </a:rPr>
              <a:t>SESSION</a:t>
            </a:r>
            <a:endParaRPr lang="en-US" sz="1600" dirty="0"/>
          </a:p>
        </p:txBody>
      </p:sp>
      <p:sp>
        <p:nvSpPr>
          <p:cNvPr id="4" name="Text 2"/>
          <p:cNvSpPr/>
          <p:nvPr/>
        </p:nvSpPr>
        <p:spPr>
          <a:xfrm>
            <a:off x="640080" y="2331720"/>
            <a:ext cx="3108960" cy="2194560"/>
          </a:xfrm>
          <a:prstGeom prst="rect">
            <a:avLst/>
          </a:prstGeom>
          <a:noFill/>
          <a:ln/>
        </p:spPr>
        <p:txBody>
          <a:bodyPr wrap="square" lIns="0" tIns="0" rIns="0" bIns="0" rtlCol="0" anchor="ctr"/>
          <a:lstStyle/>
          <a:p>
            <a:pPr marL="0" indent="0">
              <a:buNone/>
            </a:pPr>
            <a:r>
              <a:rPr lang="en-US" sz="15000" b="1" dirty="0">
                <a:solidFill>
                  <a:srgbClr val="FFFFFF"/>
                </a:solidFill>
                <a:latin typeface="Calibri" pitchFamily="34" charset="0"/>
                <a:ea typeface="Calibri" pitchFamily="34" charset="-122"/>
                <a:cs typeface="Calibri" pitchFamily="34" charset="-120"/>
              </a:rPr>
              <a:t>4</a:t>
            </a:r>
            <a:endParaRPr lang="en-US" sz="15000" dirty="0"/>
          </a:p>
        </p:txBody>
      </p:sp>
      <p:sp>
        <p:nvSpPr>
          <p:cNvPr id="5" name="Text 3"/>
          <p:cNvSpPr/>
          <p:nvPr/>
        </p:nvSpPr>
        <p:spPr>
          <a:xfrm>
            <a:off x="3246120" y="2788920"/>
            <a:ext cx="8138160" cy="10058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Troubleshooting</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&amp; Đọc logs</a:t>
            </a:r>
            <a:endParaRPr lang="en-US" sz="3400" dirty="0"/>
          </a:p>
        </p:txBody>
      </p:sp>
      <p:sp>
        <p:nvSpPr>
          <p:cNvPr id="6" name="Text 4"/>
          <p:cNvSpPr/>
          <p:nvPr/>
        </p:nvSpPr>
        <p:spPr>
          <a:xfrm>
            <a:off x="3291840" y="3794760"/>
            <a:ext cx="8046720" cy="731520"/>
          </a:xfrm>
          <a:prstGeom prst="rect">
            <a:avLst/>
          </a:prstGeom>
          <a:noFill/>
          <a:ln/>
        </p:spPr>
        <p:txBody>
          <a:bodyPr wrap="square" lIns="0" tIns="0" rIns="0" bIns="0" rtlCol="0" anchor="ctr"/>
          <a:lstStyle/>
          <a:p>
            <a:pPr marL="0" indent="0">
              <a:buNone/>
            </a:pPr>
            <a:r>
              <a:rPr lang="en-US" sz="1600" dirty="0">
                <a:solidFill>
                  <a:srgbClr val="AEC6D2"/>
                </a:solidFill>
                <a:latin typeface="Calibri" pitchFamily="34" charset="0"/>
                <a:ea typeface="Calibri" pitchFamily="34" charset="-122"/>
                <a:cs typeface="Calibri" pitchFamily="34" charset="-120"/>
              </a:rPr>
              <a:t>Quy trình 5 bước • Lỗi thường gặp • Lab 4</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SESSION 4</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Quy trình troubleshooting 5 bước</a:t>
            </a:r>
            <a:endParaRPr lang="en-US" sz="3000" dirty="0"/>
          </a:p>
        </p:txBody>
      </p:sp>
      <p:sp>
        <p:nvSpPr>
          <p:cNvPr id="4" name="Shape 2"/>
          <p:cNvSpPr/>
          <p:nvPr/>
        </p:nvSpPr>
        <p:spPr>
          <a:xfrm>
            <a:off x="548640" y="1645920"/>
            <a:ext cx="11091672"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Shape 3"/>
          <p:cNvSpPr/>
          <p:nvPr/>
        </p:nvSpPr>
        <p:spPr>
          <a:xfrm>
            <a:off x="749808" y="1755648"/>
            <a:ext cx="530352" cy="530352"/>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6" name="Text 4"/>
          <p:cNvSpPr/>
          <p:nvPr/>
        </p:nvSpPr>
        <p:spPr>
          <a:xfrm>
            <a:off x="749808" y="1755648"/>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08760" y="1645920"/>
            <a:ext cx="3291840" cy="749808"/>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Nhận diện</a:t>
            </a:r>
            <a:endParaRPr lang="en-US" sz="1700" dirty="0"/>
          </a:p>
        </p:txBody>
      </p:sp>
      <p:sp>
        <p:nvSpPr>
          <p:cNvPr id="8" name="Text 6"/>
          <p:cNvSpPr/>
          <p:nvPr/>
        </p:nvSpPr>
        <p:spPr>
          <a:xfrm>
            <a:off x="4754880" y="1645920"/>
            <a:ext cx="6675120" cy="749808"/>
          </a:xfrm>
          <a:prstGeom prst="rect">
            <a:avLst/>
          </a:prstGeom>
          <a:noFill/>
          <a:ln/>
        </p:spPr>
        <p:txBody>
          <a:bodyPr wrap="square" lIns="0" tIns="0" rIns="0" bIns="0" rtlCol="0" anchor="ctr"/>
          <a:lstStyle/>
          <a:p>
            <a:pPr marL="0" indent="0">
              <a:buNone/>
            </a:pPr>
            <a:r>
              <a:rPr lang="en-US" sz="1400" dirty="0">
                <a:solidFill>
                  <a:srgbClr val="5D6E78"/>
                </a:solidFill>
                <a:latin typeface="Calibri" pitchFamily="34" charset="0"/>
                <a:ea typeface="Calibri" pitchFamily="34" charset="-122"/>
                <a:cs typeface="Calibri" pitchFamily="34" charset="-120"/>
              </a:rPr>
              <a:t>Triệu chứng: alert / dashboard / user report</a:t>
            </a:r>
            <a:endParaRPr lang="en-US" sz="1400" dirty="0"/>
          </a:p>
        </p:txBody>
      </p:sp>
      <p:sp>
        <p:nvSpPr>
          <p:cNvPr id="9" name="Shape 7"/>
          <p:cNvSpPr/>
          <p:nvPr/>
        </p:nvSpPr>
        <p:spPr>
          <a:xfrm>
            <a:off x="548640" y="2487168"/>
            <a:ext cx="11091672"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0" name="Shape 8"/>
          <p:cNvSpPr/>
          <p:nvPr/>
        </p:nvSpPr>
        <p:spPr>
          <a:xfrm>
            <a:off x="749808" y="2596896"/>
            <a:ext cx="530352" cy="530352"/>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1" name="Text 9"/>
          <p:cNvSpPr/>
          <p:nvPr/>
        </p:nvSpPr>
        <p:spPr>
          <a:xfrm>
            <a:off x="749808" y="2596896"/>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508760" y="2487168"/>
            <a:ext cx="3291840" cy="749808"/>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Khoanh vùng</a:t>
            </a:r>
            <a:endParaRPr lang="en-US" sz="1700" dirty="0"/>
          </a:p>
        </p:txBody>
      </p:sp>
      <p:sp>
        <p:nvSpPr>
          <p:cNvPr id="13" name="Text 11"/>
          <p:cNvSpPr/>
          <p:nvPr/>
        </p:nvSpPr>
        <p:spPr>
          <a:xfrm>
            <a:off x="4754880" y="2487168"/>
            <a:ext cx="6675120" cy="749808"/>
          </a:xfrm>
          <a:prstGeom prst="rect">
            <a:avLst/>
          </a:prstGeom>
          <a:noFill/>
          <a:ln/>
        </p:spPr>
        <p:txBody>
          <a:bodyPr wrap="square" lIns="0" tIns="0" rIns="0" bIns="0" rtlCol="0" anchor="ctr"/>
          <a:lstStyle/>
          <a:p>
            <a:pPr marL="0" indent="0">
              <a:buNone/>
            </a:pPr>
            <a:r>
              <a:rPr lang="en-US" sz="1400" dirty="0">
                <a:solidFill>
                  <a:srgbClr val="5D6E78"/>
                </a:solidFill>
                <a:latin typeface="Calibri" pitchFamily="34" charset="0"/>
                <a:ea typeface="Calibri" pitchFamily="34" charset="-122"/>
                <a:cs typeface="Calibri" pitchFamily="34" charset="-120"/>
              </a:rPr>
              <a:t>Layer nào? app / container / node / network / DB</a:t>
            </a:r>
            <a:endParaRPr lang="en-US" sz="1400" dirty="0"/>
          </a:p>
        </p:txBody>
      </p:sp>
      <p:sp>
        <p:nvSpPr>
          <p:cNvPr id="14" name="Shape 12"/>
          <p:cNvSpPr/>
          <p:nvPr/>
        </p:nvSpPr>
        <p:spPr>
          <a:xfrm>
            <a:off x="548640" y="3328416"/>
            <a:ext cx="11091672"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5" name="Shape 13"/>
          <p:cNvSpPr/>
          <p:nvPr/>
        </p:nvSpPr>
        <p:spPr>
          <a:xfrm>
            <a:off x="749808" y="3438144"/>
            <a:ext cx="530352" cy="530352"/>
          </a:xfrm>
          <a:prstGeom prst="ellipse">
            <a:avLst/>
          </a:prstGeom>
          <a:solidFill>
            <a:srgbClr val="0E8C82"/>
          </a:solidFill>
          <a:ln/>
          <a:effectLst>
            <a:outerShdw blurRad="76200" dist="25400" dir="5400000" algn="bl" rotWithShape="0">
              <a:srgbClr val="0A1A28">
                <a:alpha val="25000"/>
              </a:srgbClr>
            </a:outerShdw>
          </a:effectLst>
        </p:spPr>
        <p:txBody>
          <a:bodyPr/>
          <a:lstStyle/>
          <a:p>
            <a:endParaRPr lang="en-US"/>
          </a:p>
        </p:txBody>
      </p:sp>
      <p:sp>
        <p:nvSpPr>
          <p:cNvPr id="16" name="Text 14"/>
          <p:cNvSpPr/>
          <p:nvPr/>
        </p:nvSpPr>
        <p:spPr>
          <a:xfrm>
            <a:off x="749808" y="3438144"/>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08760" y="3328416"/>
            <a:ext cx="3291840" cy="749808"/>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Thu thập bằng chứng</a:t>
            </a:r>
            <a:endParaRPr lang="en-US" sz="1700" dirty="0"/>
          </a:p>
        </p:txBody>
      </p:sp>
      <p:sp>
        <p:nvSpPr>
          <p:cNvPr id="18" name="Text 16"/>
          <p:cNvSpPr/>
          <p:nvPr/>
        </p:nvSpPr>
        <p:spPr>
          <a:xfrm>
            <a:off x="4754880" y="3328416"/>
            <a:ext cx="6675120" cy="749808"/>
          </a:xfrm>
          <a:prstGeom prst="rect">
            <a:avLst/>
          </a:prstGeom>
          <a:noFill/>
          <a:ln/>
        </p:spPr>
        <p:txBody>
          <a:bodyPr wrap="square" lIns="0" tIns="0" rIns="0" bIns="0" rtlCol="0" anchor="ctr"/>
          <a:lstStyle/>
          <a:p>
            <a:pPr marL="0" indent="0">
              <a:buNone/>
            </a:pPr>
            <a:r>
              <a:rPr lang="en-US" sz="1400" dirty="0">
                <a:solidFill>
                  <a:srgbClr val="5D6E78"/>
                </a:solidFill>
                <a:latin typeface="Calibri" pitchFamily="34" charset="0"/>
                <a:ea typeface="Calibri" pitchFamily="34" charset="-122"/>
                <a:cs typeface="Calibri" pitchFamily="34" charset="-120"/>
              </a:rPr>
              <a:t>Metrics + Logs + Events cùng lúc</a:t>
            </a:r>
            <a:endParaRPr lang="en-US" sz="1400" dirty="0"/>
          </a:p>
        </p:txBody>
      </p:sp>
      <p:sp>
        <p:nvSpPr>
          <p:cNvPr id="19" name="Shape 17"/>
          <p:cNvSpPr/>
          <p:nvPr/>
        </p:nvSpPr>
        <p:spPr>
          <a:xfrm>
            <a:off x="548640" y="4169664"/>
            <a:ext cx="11091672"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0" name="Shape 18"/>
          <p:cNvSpPr/>
          <p:nvPr/>
        </p:nvSpPr>
        <p:spPr>
          <a:xfrm>
            <a:off x="749808" y="4279392"/>
            <a:ext cx="530352" cy="530352"/>
          </a:xfrm>
          <a:prstGeom prst="ellipse">
            <a:avLst/>
          </a:prstGeom>
          <a:solidFill>
            <a:srgbClr val="0E8C82"/>
          </a:solidFill>
          <a:ln/>
          <a:effectLst>
            <a:outerShdw blurRad="76200" dist="25400" dir="5400000" algn="bl" rotWithShape="0">
              <a:srgbClr val="0A1A28">
                <a:alpha val="25000"/>
              </a:srgbClr>
            </a:outerShdw>
          </a:effectLst>
        </p:spPr>
        <p:txBody>
          <a:bodyPr/>
          <a:lstStyle/>
          <a:p>
            <a:endParaRPr lang="en-US"/>
          </a:p>
        </p:txBody>
      </p:sp>
      <p:sp>
        <p:nvSpPr>
          <p:cNvPr id="21" name="Text 19"/>
          <p:cNvSpPr/>
          <p:nvPr/>
        </p:nvSpPr>
        <p:spPr>
          <a:xfrm>
            <a:off x="749808" y="4279392"/>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508760" y="4169664"/>
            <a:ext cx="3291840" cy="749808"/>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Giả thuyết &amp; kiểm chứng</a:t>
            </a:r>
            <a:endParaRPr lang="en-US" sz="1700" dirty="0"/>
          </a:p>
        </p:txBody>
      </p:sp>
      <p:sp>
        <p:nvSpPr>
          <p:cNvPr id="23" name="Text 21"/>
          <p:cNvSpPr/>
          <p:nvPr/>
        </p:nvSpPr>
        <p:spPr>
          <a:xfrm>
            <a:off x="4754880" y="4169664"/>
            <a:ext cx="6675120" cy="749808"/>
          </a:xfrm>
          <a:prstGeom prst="rect">
            <a:avLst/>
          </a:prstGeom>
          <a:noFill/>
          <a:ln/>
        </p:spPr>
        <p:txBody>
          <a:bodyPr wrap="square" lIns="0" tIns="0" rIns="0" bIns="0" rtlCol="0" anchor="ctr"/>
          <a:lstStyle/>
          <a:p>
            <a:pPr marL="0" indent="0">
              <a:buNone/>
            </a:pPr>
            <a:r>
              <a:rPr lang="en-US" sz="1400" dirty="0">
                <a:solidFill>
                  <a:srgbClr val="5D6E78"/>
                </a:solidFill>
                <a:latin typeface="Calibri" pitchFamily="34" charset="0"/>
                <a:ea typeface="Calibri" pitchFamily="34" charset="-122"/>
                <a:cs typeface="Calibri" pitchFamily="34" charset="-120"/>
              </a:rPr>
              <a:t>Đưa giả thuyết → xác minh bằng dữ liệu</a:t>
            </a:r>
            <a:endParaRPr lang="en-US" sz="1400" dirty="0"/>
          </a:p>
        </p:txBody>
      </p:sp>
      <p:sp>
        <p:nvSpPr>
          <p:cNvPr id="24" name="Shape 22"/>
          <p:cNvSpPr/>
          <p:nvPr/>
        </p:nvSpPr>
        <p:spPr>
          <a:xfrm>
            <a:off x="548640" y="5010912"/>
            <a:ext cx="11091672" cy="749808"/>
          </a:xfrm>
          <a:prstGeom prst="roundRect">
            <a:avLst>
              <a:gd name="adj" fmla="val 1097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5" name="Shape 23"/>
          <p:cNvSpPr/>
          <p:nvPr/>
        </p:nvSpPr>
        <p:spPr>
          <a:xfrm>
            <a:off x="749808" y="5120640"/>
            <a:ext cx="530352" cy="530352"/>
          </a:xfrm>
          <a:prstGeom prst="ellipse">
            <a:avLst/>
          </a:prstGeom>
          <a:solidFill>
            <a:srgbClr val="F6A623"/>
          </a:solidFill>
          <a:ln/>
          <a:effectLst>
            <a:outerShdw blurRad="76200" dist="25400" dir="5400000" algn="bl" rotWithShape="0">
              <a:srgbClr val="0A1A28">
                <a:alpha val="25000"/>
              </a:srgbClr>
            </a:outerShdw>
          </a:effectLst>
        </p:spPr>
        <p:txBody>
          <a:bodyPr/>
          <a:lstStyle/>
          <a:p>
            <a:endParaRPr lang="en-US"/>
          </a:p>
        </p:txBody>
      </p:sp>
      <p:sp>
        <p:nvSpPr>
          <p:cNvPr id="26" name="Text 24"/>
          <p:cNvSpPr/>
          <p:nvPr/>
        </p:nvSpPr>
        <p:spPr>
          <a:xfrm>
            <a:off x="749808" y="5120640"/>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508760" y="5010912"/>
            <a:ext cx="3291840" cy="749808"/>
          </a:xfrm>
          <a:prstGeom prst="rect">
            <a:avLst/>
          </a:prstGeom>
          <a:noFill/>
          <a:ln/>
        </p:spPr>
        <p:txBody>
          <a:bodyPr wrap="square" lIns="0" tIns="0" rIns="0" bIns="0" rtlCol="0" anchor="ctr"/>
          <a:lstStyle/>
          <a:p>
            <a:pPr marL="0" indent="0">
              <a:buNone/>
            </a:pPr>
            <a:r>
              <a:rPr lang="en-US" sz="1700" b="1" dirty="0">
                <a:solidFill>
                  <a:srgbClr val="1A2B36"/>
                </a:solidFill>
                <a:latin typeface="Calibri" pitchFamily="34" charset="0"/>
                <a:ea typeface="Calibri" pitchFamily="34" charset="-122"/>
                <a:cs typeface="Calibri" pitchFamily="34" charset="-120"/>
              </a:rPr>
              <a:t>Fix → xác nhận → ghi lại</a:t>
            </a:r>
            <a:endParaRPr lang="en-US" sz="1700" dirty="0"/>
          </a:p>
        </p:txBody>
      </p:sp>
      <p:sp>
        <p:nvSpPr>
          <p:cNvPr id="28" name="Text 26"/>
          <p:cNvSpPr/>
          <p:nvPr/>
        </p:nvSpPr>
        <p:spPr>
          <a:xfrm>
            <a:off x="4754880" y="5010912"/>
            <a:ext cx="6675120" cy="749808"/>
          </a:xfrm>
          <a:prstGeom prst="rect">
            <a:avLst/>
          </a:prstGeom>
          <a:noFill/>
          <a:ln/>
        </p:spPr>
        <p:txBody>
          <a:bodyPr wrap="square" lIns="0" tIns="0" rIns="0" bIns="0" rtlCol="0" anchor="ctr"/>
          <a:lstStyle/>
          <a:p>
            <a:pPr marL="0" indent="0">
              <a:buNone/>
            </a:pPr>
            <a:r>
              <a:rPr lang="en-US" sz="1400" dirty="0">
                <a:solidFill>
                  <a:srgbClr val="5D6E78"/>
                </a:solidFill>
                <a:latin typeface="Calibri" pitchFamily="34" charset="0"/>
                <a:ea typeface="Calibri" pitchFamily="34" charset="-122"/>
                <a:cs typeface="Calibri" pitchFamily="34" charset="-120"/>
              </a:rPr>
              <a:t>Sửa, kiểm tra hết lỗi, post-mortem nhẹ</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SESSION 4</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Lỗi phổ biến &amp; lệnh cần thuộc</a:t>
            </a:r>
            <a:endParaRPr lang="en-US" sz="3000" dirty="0"/>
          </a:p>
        </p:txBody>
      </p:sp>
      <p:sp>
        <p:nvSpPr>
          <p:cNvPr id="4" name="Shape 2"/>
          <p:cNvSpPr/>
          <p:nvPr/>
        </p:nvSpPr>
        <p:spPr>
          <a:xfrm>
            <a:off x="548640" y="1600200"/>
            <a:ext cx="5486400" cy="4069080"/>
          </a:xfrm>
          <a:prstGeom prst="roundRect">
            <a:avLst>
              <a:gd name="adj" fmla="val 2022"/>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Text 3"/>
          <p:cNvSpPr/>
          <p:nvPr/>
        </p:nvSpPr>
        <p:spPr>
          <a:xfrm>
            <a:off x="777240" y="1783080"/>
            <a:ext cx="4937760" cy="36576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Lỗi k8s / infra thường gặp</a:t>
            </a:r>
            <a:endParaRPr lang="en-US" sz="1500" dirty="0"/>
          </a:p>
        </p:txBody>
      </p:sp>
      <p:sp>
        <p:nvSpPr>
          <p:cNvPr id="6" name="Text 4"/>
          <p:cNvSpPr/>
          <p:nvPr/>
        </p:nvSpPr>
        <p:spPr>
          <a:xfrm>
            <a:off x="777240" y="2212848"/>
            <a:ext cx="2331720" cy="640080"/>
          </a:xfrm>
          <a:prstGeom prst="rect">
            <a:avLst/>
          </a:prstGeom>
          <a:noFill/>
          <a:ln/>
        </p:spPr>
        <p:txBody>
          <a:bodyPr wrap="square" lIns="0" tIns="0" rIns="0" bIns="0" rtlCol="0" anchor="ctr"/>
          <a:lstStyle/>
          <a:p>
            <a:pPr marL="0" indent="0">
              <a:buNone/>
            </a:pPr>
            <a:r>
              <a:rPr lang="en-US" sz="1250" b="1" dirty="0">
                <a:solidFill>
                  <a:srgbClr val="C67F0E"/>
                </a:solidFill>
                <a:latin typeface="Consolas" pitchFamily="34" charset="0"/>
                <a:ea typeface="Consolas" pitchFamily="34" charset="-122"/>
                <a:cs typeface="Consolas" pitchFamily="34" charset="-120"/>
              </a:rPr>
              <a:t>CrashLoopBackOff</a:t>
            </a:r>
            <a:endParaRPr lang="en-US" sz="1250" dirty="0"/>
          </a:p>
        </p:txBody>
      </p:sp>
      <p:sp>
        <p:nvSpPr>
          <p:cNvPr id="7" name="Text 5"/>
          <p:cNvSpPr/>
          <p:nvPr/>
        </p:nvSpPr>
        <p:spPr>
          <a:xfrm>
            <a:off x="3063240" y="2212848"/>
            <a:ext cx="2880360" cy="640080"/>
          </a:xfrm>
          <a:prstGeom prst="rect">
            <a:avLst/>
          </a:prstGeom>
          <a:noFill/>
          <a:ln/>
        </p:spPr>
        <p:txBody>
          <a:bodyPr wrap="square" lIns="0" tIns="0" rIns="0" bIns="0" rtlCol="0" anchor="ctr"/>
          <a:lstStyle/>
          <a:p>
            <a:pPr marL="0" indent="0">
              <a:lnSpc>
                <a:spcPct val="98000"/>
              </a:lnSpc>
              <a:buNone/>
            </a:pPr>
            <a:r>
              <a:rPr lang="en-US" sz="1150" dirty="0">
                <a:solidFill>
                  <a:srgbClr val="1A2B36"/>
                </a:solidFill>
                <a:latin typeface="Calibri" pitchFamily="34" charset="0"/>
                <a:ea typeface="Calibri" pitchFamily="34" charset="-122"/>
                <a:cs typeface="Calibri" pitchFamily="34" charset="-120"/>
              </a:rPr>
              <a:t>app crash lặp lại → xem logs --previous</a:t>
            </a:r>
            <a:endParaRPr lang="en-US" sz="1150" dirty="0"/>
          </a:p>
        </p:txBody>
      </p:sp>
      <p:sp>
        <p:nvSpPr>
          <p:cNvPr id="8" name="Text 6"/>
          <p:cNvSpPr/>
          <p:nvPr/>
        </p:nvSpPr>
        <p:spPr>
          <a:xfrm>
            <a:off x="777240" y="2880360"/>
            <a:ext cx="2331720" cy="640080"/>
          </a:xfrm>
          <a:prstGeom prst="rect">
            <a:avLst/>
          </a:prstGeom>
          <a:noFill/>
          <a:ln/>
        </p:spPr>
        <p:txBody>
          <a:bodyPr wrap="square" lIns="0" tIns="0" rIns="0" bIns="0" rtlCol="0" anchor="ctr"/>
          <a:lstStyle/>
          <a:p>
            <a:pPr marL="0" indent="0">
              <a:buNone/>
            </a:pPr>
            <a:r>
              <a:rPr lang="en-US" sz="1250" b="1" dirty="0">
                <a:solidFill>
                  <a:srgbClr val="C67F0E"/>
                </a:solidFill>
                <a:latin typeface="Consolas" pitchFamily="34" charset="0"/>
                <a:ea typeface="Consolas" pitchFamily="34" charset="-122"/>
                <a:cs typeface="Consolas" pitchFamily="34" charset="-120"/>
              </a:rPr>
              <a:t>ImagePullBackOff</a:t>
            </a:r>
            <a:endParaRPr lang="en-US" sz="1250" dirty="0"/>
          </a:p>
        </p:txBody>
      </p:sp>
      <p:sp>
        <p:nvSpPr>
          <p:cNvPr id="9" name="Text 7"/>
          <p:cNvSpPr/>
          <p:nvPr/>
        </p:nvSpPr>
        <p:spPr>
          <a:xfrm>
            <a:off x="3063240" y="2880360"/>
            <a:ext cx="2880360" cy="640080"/>
          </a:xfrm>
          <a:prstGeom prst="rect">
            <a:avLst/>
          </a:prstGeom>
          <a:noFill/>
          <a:ln/>
        </p:spPr>
        <p:txBody>
          <a:bodyPr wrap="square" lIns="0" tIns="0" rIns="0" bIns="0" rtlCol="0" anchor="ctr"/>
          <a:lstStyle/>
          <a:p>
            <a:pPr marL="0" indent="0">
              <a:lnSpc>
                <a:spcPct val="98000"/>
              </a:lnSpc>
              <a:buNone/>
            </a:pPr>
            <a:r>
              <a:rPr lang="en-US" sz="1150" dirty="0">
                <a:solidFill>
                  <a:srgbClr val="1A2B36"/>
                </a:solidFill>
                <a:latin typeface="Calibri" pitchFamily="34" charset="0"/>
                <a:ea typeface="Calibri" pitchFamily="34" charset="-122"/>
                <a:cs typeface="Calibri" pitchFamily="34" charset="-120"/>
              </a:rPr>
              <a:t>sai image/tag hoặc thiếu quyền registry</a:t>
            </a:r>
            <a:endParaRPr lang="en-US" sz="1150" dirty="0"/>
          </a:p>
        </p:txBody>
      </p:sp>
      <p:sp>
        <p:nvSpPr>
          <p:cNvPr id="10" name="Text 8"/>
          <p:cNvSpPr/>
          <p:nvPr/>
        </p:nvSpPr>
        <p:spPr>
          <a:xfrm>
            <a:off x="777240" y="3547872"/>
            <a:ext cx="2331720" cy="640080"/>
          </a:xfrm>
          <a:prstGeom prst="rect">
            <a:avLst/>
          </a:prstGeom>
          <a:noFill/>
          <a:ln/>
        </p:spPr>
        <p:txBody>
          <a:bodyPr wrap="square" lIns="0" tIns="0" rIns="0" bIns="0" rtlCol="0" anchor="ctr"/>
          <a:lstStyle/>
          <a:p>
            <a:pPr marL="0" indent="0">
              <a:buNone/>
            </a:pPr>
            <a:r>
              <a:rPr lang="en-US" sz="1250" b="1" dirty="0">
                <a:solidFill>
                  <a:srgbClr val="C67F0E"/>
                </a:solidFill>
                <a:latin typeface="Consolas" pitchFamily="34" charset="0"/>
                <a:ea typeface="Consolas" pitchFamily="34" charset="-122"/>
                <a:cs typeface="Consolas" pitchFamily="34" charset="-120"/>
              </a:rPr>
              <a:t>OOMKilled</a:t>
            </a:r>
            <a:endParaRPr lang="en-US" sz="1250" dirty="0"/>
          </a:p>
        </p:txBody>
      </p:sp>
      <p:sp>
        <p:nvSpPr>
          <p:cNvPr id="11" name="Text 9"/>
          <p:cNvSpPr/>
          <p:nvPr/>
        </p:nvSpPr>
        <p:spPr>
          <a:xfrm>
            <a:off x="3063240" y="3547872"/>
            <a:ext cx="2880360" cy="640080"/>
          </a:xfrm>
          <a:prstGeom prst="rect">
            <a:avLst/>
          </a:prstGeom>
          <a:noFill/>
          <a:ln/>
        </p:spPr>
        <p:txBody>
          <a:bodyPr wrap="square" lIns="0" tIns="0" rIns="0" bIns="0" rtlCol="0" anchor="ctr"/>
          <a:lstStyle/>
          <a:p>
            <a:pPr marL="0" indent="0">
              <a:lnSpc>
                <a:spcPct val="98000"/>
              </a:lnSpc>
              <a:buNone/>
            </a:pPr>
            <a:r>
              <a:rPr lang="en-US" sz="1150" dirty="0">
                <a:solidFill>
                  <a:srgbClr val="1A2B36"/>
                </a:solidFill>
                <a:latin typeface="Calibri" pitchFamily="34" charset="0"/>
                <a:ea typeface="Calibri" pitchFamily="34" charset="-122"/>
                <a:cs typeface="Calibri" pitchFamily="34" charset="-120"/>
              </a:rPr>
              <a:t>vượt memory limit → tăng limit / sửa app</a:t>
            </a:r>
            <a:endParaRPr lang="en-US" sz="1150" dirty="0"/>
          </a:p>
        </p:txBody>
      </p:sp>
      <p:sp>
        <p:nvSpPr>
          <p:cNvPr id="12" name="Text 10"/>
          <p:cNvSpPr/>
          <p:nvPr/>
        </p:nvSpPr>
        <p:spPr>
          <a:xfrm>
            <a:off x="777240" y="4215384"/>
            <a:ext cx="2331720" cy="640080"/>
          </a:xfrm>
          <a:prstGeom prst="rect">
            <a:avLst/>
          </a:prstGeom>
          <a:noFill/>
          <a:ln/>
        </p:spPr>
        <p:txBody>
          <a:bodyPr wrap="square" lIns="0" tIns="0" rIns="0" bIns="0" rtlCol="0" anchor="ctr"/>
          <a:lstStyle/>
          <a:p>
            <a:pPr marL="0" indent="0">
              <a:buNone/>
            </a:pPr>
            <a:r>
              <a:rPr lang="en-US" sz="1250" b="1" dirty="0">
                <a:solidFill>
                  <a:srgbClr val="C67F0E"/>
                </a:solidFill>
                <a:latin typeface="Consolas" pitchFamily="34" charset="0"/>
                <a:ea typeface="Consolas" pitchFamily="34" charset="-122"/>
                <a:cs typeface="Consolas" pitchFamily="34" charset="-120"/>
              </a:rPr>
              <a:t>Pending</a:t>
            </a:r>
            <a:endParaRPr lang="en-US" sz="1250" dirty="0"/>
          </a:p>
        </p:txBody>
      </p:sp>
      <p:sp>
        <p:nvSpPr>
          <p:cNvPr id="13" name="Text 11"/>
          <p:cNvSpPr/>
          <p:nvPr/>
        </p:nvSpPr>
        <p:spPr>
          <a:xfrm>
            <a:off x="3063240" y="4215384"/>
            <a:ext cx="2880360" cy="640080"/>
          </a:xfrm>
          <a:prstGeom prst="rect">
            <a:avLst/>
          </a:prstGeom>
          <a:noFill/>
          <a:ln/>
        </p:spPr>
        <p:txBody>
          <a:bodyPr wrap="square" lIns="0" tIns="0" rIns="0" bIns="0" rtlCol="0" anchor="ctr"/>
          <a:lstStyle/>
          <a:p>
            <a:pPr marL="0" indent="0">
              <a:lnSpc>
                <a:spcPct val="98000"/>
              </a:lnSpc>
              <a:buNone/>
            </a:pPr>
            <a:r>
              <a:rPr lang="en-US" sz="1150" dirty="0">
                <a:solidFill>
                  <a:srgbClr val="1A2B36"/>
                </a:solidFill>
                <a:latin typeface="Calibri" pitchFamily="34" charset="0"/>
                <a:ea typeface="Calibri" pitchFamily="34" charset="-122"/>
                <a:cs typeface="Calibri" pitchFamily="34" charset="-120"/>
              </a:rPr>
              <a:t>thiếu resource / không schedule được</a:t>
            </a:r>
            <a:endParaRPr lang="en-US" sz="1150" dirty="0"/>
          </a:p>
        </p:txBody>
      </p:sp>
      <p:sp>
        <p:nvSpPr>
          <p:cNvPr id="14" name="Text 12"/>
          <p:cNvSpPr/>
          <p:nvPr/>
        </p:nvSpPr>
        <p:spPr>
          <a:xfrm>
            <a:off x="777240" y="4882896"/>
            <a:ext cx="2331720" cy="640080"/>
          </a:xfrm>
          <a:prstGeom prst="rect">
            <a:avLst/>
          </a:prstGeom>
          <a:noFill/>
          <a:ln/>
        </p:spPr>
        <p:txBody>
          <a:bodyPr wrap="square" lIns="0" tIns="0" rIns="0" bIns="0" rtlCol="0" anchor="ctr"/>
          <a:lstStyle/>
          <a:p>
            <a:pPr marL="0" indent="0">
              <a:buNone/>
            </a:pPr>
            <a:r>
              <a:rPr lang="en-US" sz="1250" b="1" dirty="0">
                <a:solidFill>
                  <a:srgbClr val="C67F0E"/>
                </a:solidFill>
                <a:latin typeface="Consolas" pitchFamily="34" charset="0"/>
                <a:ea typeface="Consolas" pitchFamily="34" charset="-122"/>
                <a:cs typeface="Consolas" pitchFamily="34" charset="-120"/>
              </a:rPr>
              <a:t>Probe failed</a:t>
            </a:r>
            <a:endParaRPr lang="en-US" sz="1250" dirty="0"/>
          </a:p>
        </p:txBody>
      </p:sp>
      <p:sp>
        <p:nvSpPr>
          <p:cNvPr id="15" name="Text 13"/>
          <p:cNvSpPr/>
          <p:nvPr/>
        </p:nvSpPr>
        <p:spPr>
          <a:xfrm>
            <a:off x="3063240" y="4882896"/>
            <a:ext cx="2880360" cy="640080"/>
          </a:xfrm>
          <a:prstGeom prst="rect">
            <a:avLst/>
          </a:prstGeom>
          <a:noFill/>
          <a:ln/>
        </p:spPr>
        <p:txBody>
          <a:bodyPr wrap="square" lIns="0" tIns="0" rIns="0" bIns="0" rtlCol="0" anchor="ctr"/>
          <a:lstStyle/>
          <a:p>
            <a:pPr marL="0" indent="0">
              <a:lnSpc>
                <a:spcPct val="98000"/>
              </a:lnSpc>
              <a:buNone/>
            </a:pPr>
            <a:r>
              <a:rPr lang="en-US" sz="1150" dirty="0">
                <a:solidFill>
                  <a:srgbClr val="1A2B36"/>
                </a:solidFill>
                <a:latin typeface="Calibri" pitchFamily="34" charset="0"/>
                <a:ea typeface="Calibri" pitchFamily="34" charset="-122"/>
                <a:cs typeface="Calibri" pitchFamily="34" charset="-120"/>
              </a:rPr>
              <a:t>liveness/readiness cấu hình sai</a:t>
            </a:r>
            <a:endParaRPr lang="en-US" sz="1150" dirty="0"/>
          </a:p>
        </p:txBody>
      </p:sp>
      <p:sp>
        <p:nvSpPr>
          <p:cNvPr id="16" name="Text 14"/>
          <p:cNvSpPr/>
          <p:nvPr/>
        </p:nvSpPr>
        <p:spPr>
          <a:xfrm>
            <a:off x="6263640" y="1737360"/>
            <a:ext cx="5486400" cy="32004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Bộ lệnh chẩn đoán</a:t>
            </a:r>
            <a:endParaRPr lang="en-US" sz="1500" dirty="0"/>
          </a:p>
        </p:txBody>
      </p:sp>
      <p:sp>
        <p:nvSpPr>
          <p:cNvPr id="17" name="Shape 15"/>
          <p:cNvSpPr/>
          <p:nvPr/>
        </p:nvSpPr>
        <p:spPr>
          <a:xfrm>
            <a:off x="6263640" y="2084832"/>
            <a:ext cx="5376672" cy="3584448"/>
          </a:xfrm>
          <a:prstGeom prst="roundRect">
            <a:avLst>
              <a:gd name="adj" fmla="val 1531"/>
            </a:avLst>
          </a:prstGeom>
          <a:solidFill>
            <a:srgbClr val="0D1B26"/>
          </a:solidFill>
          <a:ln/>
        </p:spPr>
        <p:txBody>
          <a:bodyPr/>
          <a:lstStyle/>
          <a:p>
            <a:endParaRPr lang="en-US"/>
          </a:p>
        </p:txBody>
      </p:sp>
      <p:sp>
        <p:nvSpPr>
          <p:cNvPr id="18" name="Text 16"/>
          <p:cNvSpPr/>
          <p:nvPr/>
        </p:nvSpPr>
        <p:spPr>
          <a:xfrm>
            <a:off x="6428232" y="2194560"/>
            <a:ext cx="5047488" cy="3364992"/>
          </a:xfrm>
          <a:prstGeom prst="rect">
            <a:avLst/>
          </a:prstGeom>
          <a:noFill/>
          <a:ln/>
        </p:spPr>
        <p:txBody>
          <a:bodyPr wrap="square" lIns="0" tIns="0" rIns="0" bIns="0" rtlCol="0" anchor="t"/>
          <a:lstStyle/>
          <a:p>
            <a:pPr marL="0" indent="0" algn="l">
              <a:lnSpc>
                <a:spcPct val="105000"/>
              </a:lnSpc>
              <a:buNone/>
            </a:pPr>
            <a:r>
              <a:rPr lang="en-US" sz="1150" dirty="0">
                <a:solidFill>
                  <a:srgbClr val="6B8595"/>
                </a:solidFill>
                <a:latin typeface="Consolas" pitchFamily="34" charset="0"/>
                <a:ea typeface="Consolas" pitchFamily="34" charset="-122"/>
                <a:cs typeface="Consolas" pitchFamily="34" charset="-120"/>
              </a:rPr>
              <a:t># Kubernetes
</a:t>
            </a:r>
            <a:r>
              <a:rPr lang="en-US" sz="1150" dirty="0">
                <a:solidFill>
                  <a:srgbClr val="9FE8DF"/>
                </a:solidFill>
                <a:latin typeface="Consolas" pitchFamily="34" charset="0"/>
                <a:ea typeface="Consolas" pitchFamily="34" charset="-122"/>
                <a:cs typeface="Consolas" pitchFamily="34" charset="-120"/>
              </a:rPr>
              <a:t>kubectl get pods -o wide
kubectl describe pod &lt;pod&gt;
kubectl logs &lt;pod&gt; -c &lt;c&gt; --previous
kubectl top pod / node
kubectl get events --sort-by=
  .lastTimestamp
</a:t>
            </a:r>
            <a:r>
              <a:rPr lang="en-US" sz="1150" dirty="0">
                <a:solidFill>
                  <a:srgbClr val="6B8595"/>
                </a:solidFill>
                <a:latin typeface="Consolas" pitchFamily="34" charset="0"/>
                <a:ea typeface="Consolas" pitchFamily="34" charset="-122"/>
                <a:cs typeface="Consolas" pitchFamily="34" charset="-120"/>
              </a:rPr>
              <a:t># Docker / host
</a:t>
            </a:r>
            <a:r>
              <a:rPr lang="en-US" sz="1150" dirty="0">
                <a:solidFill>
                  <a:srgbClr val="9FE8DF"/>
                </a:solidFill>
                <a:latin typeface="Consolas" pitchFamily="34" charset="0"/>
                <a:ea typeface="Consolas" pitchFamily="34" charset="-122"/>
                <a:cs typeface="Consolas" pitchFamily="34" charset="-120"/>
              </a:rPr>
              <a:t>docker logs &lt;ct&gt; --tail 100 -f
journalctl -u &lt;svc&gt; -n 200 --no-pager</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600200" cy="457200"/>
          </a:xfrm>
          <a:prstGeom prst="roundRect">
            <a:avLst>
              <a:gd name="adj" fmla="val 50000"/>
            </a:avLst>
          </a:prstGeom>
          <a:solidFill>
            <a:srgbClr val="F6A623"/>
          </a:solidFill>
          <a:ln/>
        </p:spPr>
        <p:txBody>
          <a:bodyPr/>
          <a:lstStyle/>
          <a:p>
            <a:endParaRPr lang="en-US"/>
          </a:p>
        </p:txBody>
      </p:sp>
      <p:sp>
        <p:nvSpPr>
          <p:cNvPr id="3" name="Text 1"/>
          <p:cNvSpPr/>
          <p:nvPr/>
        </p:nvSpPr>
        <p:spPr>
          <a:xfrm>
            <a:off x="548640" y="411480"/>
            <a:ext cx="1600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LAB 4</a:t>
            </a:r>
            <a:endParaRPr lang="en-US" sz="1400" dirty="0"/>
          </a:p>
        </p:txBody>
      </p:sp>
      <p:sp>
        <p:nvSpPr>
          <p:cNvPr id="4" name="Text 2"/>
          <p:cNvSpPr/>
          <p:nvPr/>
        </p:nvSpPr>
        <p:spPr>
          <a:xfrm>
            <a:off x="2286000" y="411480"/>
            <a:ext cx="3657600" cy="457200"/>
          </a:xfrm>
          <a:prstGeom prst="rect">
            <a:avLst/>
          </a:prstGeom>
          <a:noFill/>
          <a:ln/>
        </p:spPr>
        <p:txBody>
          <a:bodyPr wrap="square" lIns="0" tIns="0" rIns="0" bIns="0" rtlCol="0" anchor="ctr"/>
          <a:lstStyle/>
          <a:p>
            <a:pPr marL="0" indent="0">
              <a:buNone/>
            </a:pPr>
            <a:r>
              <a:rPr lang="en-US" sz="1300" b="1" kern="0" spc="100" dirty="0">
                <a:solidFill>
                  <a:srgbClr val="0E8C82"/>
                </a:solidFill>
                <a:latin typeface="Calibri" pitchFamily="34" charset="0"/>
                <a:ea typeface="Calibri" pitchFamily="34" charset="-122"/>
                <a:cs typeface="Calibri" pitchFamily="34" charset="-120"/>
              </a:rPr>
              <a:t>SESSION 4</a:t>
            </a:r>
            <a:endParaRPr lang="en-US" sz="1300" dirty="0"/>
          </a:p>
        </p:txBody>
      </p:sp>
      <p:sp>
        <p:nvSpPr>
          <p:cNvPr id="5" name="Text 3"/>
          <p:cNvSpPr/>
          <p:nvPr/>
        </p:nvSpPr>
        <p:spPr>
          <a:xfrm>
            <a:off x="548640" y="932688"/>
            <a:ext cx="11064240" cy="548640"/>
          </a:xfrm>
          <a:prstGeom prst="rect">
            <a:avLst/>
          </a:prstGeom>
          <a:noFill/>
          <a:ln/>
        </p:spPr>
        <p:txBody>
          <a:bodyPr wrap="square" lIns="0" tIns="0" rIns="0" bIns="0" rtlCol="0" anchor="ctr"/>
          <a:lstStyle/>
          <a:p>
            <a:pPr marL="0" indent="0">
              <a:buNone/>
            </a:pPr>
            <a:r>
              <a:rPr lang="en-US" sz="2700" b="1" dirty="0">
                <a:solidFill>
                  <a:srgbClr val="1A2B36"/>
                </a:solidFill>
                <a:latin typeface="Calibri" pitchFamily="34" charset="0"/>
                <a:ea typeface="Calibri" pitchFamily="34" charset="-122"/>
                <a:cs typeface="Calibri" pitchFamily="34" charset="-120"/>
              </a:rPr>
              <a:t>Chẩn đoán &amp; fix sự cố mô phỏng</a:t>
            </a:r>
            <a:endParaRPr lang="en-US" sz="2700" dirty="0"/>
          </a:p>
        </p:txBody>
      </p:sp>
      <p:sp>
        <p:nvSpPr>
          <p:cNvPr id="6" name="Shape 4"/>
          <p:cNvSpPr/>
          <p:nvPr/>
        </p:nvSpPr>
        <p:spPr>
          <a:xfrm>
            <a:off x="548640" y="1572768"/>
            <a:ext cx="11091672" cy="566928"/>
          </a:xfrm>
          <a:prstGeom prst="roundRect">
            <a:avLst>
              <a:gd name="adj" fmla="val 12903"/>
            </a:avLst>
          </a:prstGeom>
          <a:solidFill>
            <a:srgbClr val="1FBFB3">
              <a:alpha val="14000"/>
            </a:srgbClr>
          </a:solidFill>
          <a:ln/>
        </p:spPr>
        <p:txBody>
          <a:bodyPr/>
          <a:lstStyle/>
          <a:p>
            <a:endParaRPr lang="en-US"/>
          </a:p>
        </p:txBody>
      </p:sp>
      <p:sp>
        <p:nvSpPr>
          <p:cNvPr id="7" name="Text 5"/>
          <p:cNvSpPr/>
          <p:nvPr/>
        </p:nvSpPr>
        <p:spPr>
          <a:xfrm>
            <a:off x="777240" y="1572768"/>
            <a:ext cx="10607040" cy="566928"/>
          </a:xfrm>
          <a:prstGeom prst="rect">
            <a:avLst/>
          </a:prstGeom>
          <a:noFill/>
          <a:ln/>
        </p:spPr>
        <p:txBody>
          <a:bodyPr wrap="square" lIns="0" tIns="0" rIns="0" bIns="0" rtlCol="0" anchor="ctr"/>
          <a:lstStyle/>
          <a:p>
            <a:pPr marL="0" indent="0">
              <a:buNone/>
            </a:pPr>
            <a:r>
              <a:rPr lang="en-US" sz="1350" b="1" dirty="0">
                <a:solidFill>
                  <a:srgbClr val="0E8C82"/>
                </a:solidFill>
                <a:latin typeface="Calibri" pitchFamily="34" charset="0"/>
                <a:ea typeface="Calibri" pitchFamily="34" charset="-122"/>
                <a:cs typeface="Calibri" pitchFamily="34" charset="-120"/>
              </a:rPr>
              <a:t>Mục tiêu:  </a:t>
            </a:r>
            <a:r>
              <a:rPr lang="en-US" sz="1350" dirty="0">
                <a:solidFill>
                  <a:srgbClr val="1A2B36"/>
                </a:solidFill>
                <a:latin typeface="Calibri" pitchFamily="34" charset="0"/>
                <a:ea typeface="Calibri" pitchFamily="34" charset="-122"/>
                <a:cs typeface="Calibri" pitchFamily="34" charset="-120"/>
              </a:rPr>
              <a:t>Áp dụng quy trình 5 bước vào các tình huống lỗi gieo sẵn.</a:t>
            </a:r>
            <a:endParaRPr lang="en-US" sz="1350" dirty="0"/>
          </a:p>
        </p:txBody>
      </p:sp>
      <p:sp>
        <p:nvSpPr>
          <p:cNvPr id="8" name="Shape 6"/>
          <p:cNvSpPr/>
          <p:nvPr/>
        </p:nvSpPr>
        <p:spPr>
          <a:xfrm>
            <a:off x="548640" y="2331720"/>
            <a:ext cx="7040880" cy="3337560"/>
          </a:xfrm>
          <a:prstGeom prst="roundRect">
            <a:avLst>
              <a:gd name="adj" fmla="val 246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9" name="Text 7"/>
          <p:cNvSpPr/>
          <p:nvPr/>
        </p:nvSpPr>
        <p:spPr>
          <a:xfrm>
            <a:off x="777240" y="2487168"/>
            <a:ext cx="6400800" cy="365760"/>
          </a:xfrm>
          <a:prstGeom prst="rect">
            <a:avLst/>
          </a:prstGeom>
          <a:noFill/>
          <a:ln/>
        </p:spPr>
        <p:txBody>
          <a:bodyPr wrap="square" lIns="0" tIns="0" rIns="0" bIns="0" rtlCol="0" anchor="ctr"/>
          <a:lstStyle/>
          <a:p>
            <a:pPr marL="0" indent="0">
              <a:buNone/>
            </a:pPr>
            <a:r>
              <a:rPr lang="en-US" sz="1500" b="1" dirty="0">
                <a:solidFill>
                  <a:srgbClr val="1A2B36"/>
                </a:solidFill>
                <a:latin typeface="Calibri" pitchFamily="34" charset="0"/>
                <a:ea typeface="Calibri" pitchFamily="34" charset="-122"/>
                <a:cs typeface="Calibri" pitchFamily="34" charset="-120"/>
              </a:rPr>
              <a:t>Các bước</a:t>
            </a:r>
            <a:endParaRPr lang="en-US" sz="1500" dirty="0"/>
          </a:p>
        </p:txBody>
      </p:sp>
      <p:sp>
        <p:nvSpPr>
          <p:cNvPr id="10" name="Shape 8"/>
          <p:cNvSpPr/>
          <p:nvPr/>
        </p:nvSpPr>
        <p:spPr>
          <a:xfrm>
            <a:off x="804672" y="2926080"/>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1" name="Text 9"/>
          <p:cNvSpPr/>
          <p:nvPr/>
        </p:nvSpPr>
        <p:spPr>
          <a:xfrm>
            <a:off x="804672" y="2926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325880" y="2880360"/>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Case A — Service down: target Prometheus DOWN → dùng logs tìm nguyên nhân → fix → UP lại</a:t>
            </a:r>
            <a:endParaRPr lang="en-US" sz="1300" dirty="0"/>
          </a:p>
        </p:txBody>
      </p:sp>
      <p:sp>
        <p:nvSpPr>
          <p:cNvPr id="13" name="Shape 11"/>
          <p:cNvSpPr/>
          <p:nvPr/>
        </p:nvSpPr>
        <p:spPr>
          <a:xfrm>
            <a:off x="804672" y="3529584"/>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4" name="Text 12"/>
          <p:cNvSpPr/>
          <p:nvPr/>
        </p:nvSpPr>
        <p:spPr>
          <a:xfrm>
            <a:off x="804672" y="35295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325880" y="3483864"/>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Case B — OOMKilled: container RAM thấp → describe + dashboard → tăng limit → xác nhận</a:t>
            </a:r>
            <a:endParaRPr lang="en-US" sz="1300" dirty="0"/>
          </a:p>
        </p:txBody>
      </p:sp>
      <p:sp>
        <p:nvSpPr>
          <p:cNvPr id="16" name="Shape 14"/>
          <p:cNvSpPr/>
          <p:nvPr/>
        </p:nvSpPr>
        <p:spPr>
          <a:xfrm>
            <a:off x="804672" y="4133088"/>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7" name="Text 15"/>
          <p:cNvSpPr/>
          <p:nvPr/>
        </p:nvSpPr>
        <p:spPr>
          <a:xfrm>
            <a:off x="804672" y="41330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325880" y="4087368"/>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Case C — DB connection: app báo 'too many connections' → đối chiếu metric DB → chỉnh pool</a:t>
            </a:r>
            <a:endParaRPr lang="en-US" sz="1300" dirty="0"/>
          </a:p>
        </p:txBody>
      </p:sp>
      <p:sp>
        <p:nvSpPr>
          <p:cNvPr id="19" name="Shape 17"/>
          <p:cNvSpPr/>
          <p:nvPr/>
        </p:nvSpPr>
        <p:spPr>
          <a:xfrm>
            <a:off x="7772400" y="2331720"/>
            <a:ext cx="3867912" cy="3337560"/>
          </a:xfrm>
          <a:prstGeom prst="roundRect">
            <a:avLst>
              <a:gd name="adj" fmla="val 2466"/>
            </a:avLst>
          </a:prstGeom>
          <a:solidFill>
            <a:srgbClr val="0E2233"/>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0" name="Text 18"/>
          <p:cNvSpPr/>
          <p:nvPr/>
        </p:nvSpPr>
        <p:spPr>
          <a:xfrm>
            <a:off x="8001000" y="2487168"/>
            <a:ext cx="3383280" cy="365760"/>
          </a:xfrm>
          <a:prstGeom prst="rect">
            <a:avLst/>
          </a:prstGeom>
          <a:noFill/>
          <a:ln/>
        </p:spPr>
        <p:txBody>
          <a:bodyPr wrap="square" lIns="0" tIns="0" rIns="0" bIns="0" rtlCol="0" anchor="ctr"/>
          <a:lstStyle/>
          <a:p>
            <a:pPr marL="0" indent="0">
              <a:buNone/>
            </a:pPr>
            <a:r>
              <a:rPr lang="en-US" sz="1500" b="1" dirty="0">
                <a:solidFill>
                  <a:srgbClr val="F6A623"/>
                </a:solidFill>
                <a:latin typeface="Calibri" pitchFamily="34" charset="0"/>
                <a:ea typeface="Calibri" pitchFamily="34" charset="-122"/>
                <a:cs typeface="Calibri" pitchFamily="34" charset="-120"/>
              </a:rPr>
              <a:t>Nghiệm thu</a:t>
            </a:r>
            <a:endParaRPr lang="en-US" sz="1500" dirty="0"/>
          </a:p>
        </p:txBody>
      </p:sp>
      <p:sp>
        <p:nvSpPr>
          <p:cNvPr id="21" name="Text 19"/>
          <p:cNvSpPr/>
          <p:nvPr/>
        </p:nvSpPr>
        <p:spPr>
          <a:xfrm>
            <a:off x="8001000" y="2907792"/>
            <a:ext cx="3429000" cy="26517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E6EEF2"/>
                </a:solidFill>
              </a:rPr>
              <a:t>Mỗi case: triệu chứng → bằng chứng → nguyên nhân → fix → xác nhận</a:t>
            </a:r>
            <a:endParaRPr lang="en-US" sz="1250" dirty="0"/>
          </a:p>
          <a:p>
            <a:pPr marL="342900" indent="-342900">
              <a:spcAft>
                <a:spcPts val="1000"/>
              </a:spcAft>
              <a:buSzPct val="100000"/>
              <a:buChar char="✓"/>
            </a:pPr>
            <a:r>
              <a:rPr lang="en-US" sz="1250" dirty="0">
                <a:solidFill>
                  <a:srgbClr val="E6EEF2"/>
                </a:solidFill>
              </a:rPr>
              <a:t>Hoàn thành ≥ 2/3 case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A28"/>
        </a:solidFill>
        <a:effectLst/>
      </p:bgPr>
    </p:bg>
    <p:spTree>
      <p:nvGrpSpPr>
        <p:cNvPr id="1" name=""/>
        <p:cNvGrpSpPr/>
        <p:nvPr/>
      </p:nvGrpSpPr>
      <p:grpSpPr>
        <a:xfrm>
          <a:off x="0" y="0"/>
          <a:ext cx="0" cy="0"/>
          <a:chOff x="0" y="0"/>
          <a:chExt cx="0" cy="0"/>
        </a:xfrm>
      </p:grpSpPr>
      <p:sp>
        <p:nvSpPr>
          <p:cNvPr id="2" name="Shape 0"/>
          <p:cNvSpPr/>
          <p:nvPr/>
        </p:nvSpPr>
        <p:spPr>
          <a:xfrm>
            <a:off x="8961120" y="-1097280"/>
            <a:ext cx="4937760" cy="4937760"/>
          </a:xfrm>
          <a:prstGeom prst="ellipse">
            <a:avLst/>
          </a:prstGeom>
          <a:solidFill>
            <a:srgbClr val="F6A623">
              <a:alpha val="16000"/>
            </a:srgbClr>
          </a:solidFill>
          <a:ln/>
        </p:spPr>
        <p:txBody>
          <a:bodyPr/>
          <a:lstStyle/>
          <a:p>
            <a:endParaRPr lang="en-US"/>
          </a:p>
        </p:txBody>
      </p:sp>
      <p:sp>
        <p:nvSpPr>
          <p:cNvPr id="3" name="Text 1"/>
          <p:cNvSpPr/>
          <p:nvPr/>
        </p:nvSpPr>
        <p:spPr>
          <a:xfrm>
            <a:off x="731520" y="2148840"/>
            <a:ext cx="3657600" cy="365760"/>
          </a:xfrm>
          <a:prstGeom prst="rect">
            <a:avLst/>
          </a:prstGeom>
          <a:noFill/>
          <a:ln/>
        </p:spPr>
        <p:txBody>
          <a:bodyPr wrap="square" lIns="0" tIns="0" rIns="0" bIns="0" rtlCol="0" anchor="ctr"/>
          <a:lstStyle/>
          <a:p>
            <a:pPr marL="0" indent="0">
              <a:buNone/>
            </a:pPr>
            <a:r>
              <a:rPr lang="en-US" sz="1600" b="1" kern="0" spc="400" dirty="0">
                <a:solidFill>
                  <a:srgbClr val="F6A623"/>
                </a:solidFill>
                <a:latin typeface="Calibri" pitchFamily="34" charset="0"/>
                <a:ea typeface="Calibri" pitchFamily="34" charset="-122"/>
                <a:cs typeface="Calibri" pitchFamily="34" charset="-120"/>
              </a:rPr>
              <a:t>SESSION</a:t>
            </a:r>
            <a:endParaRPr lang="en-US" sz="1600" dirty="0"/>
          </a:p>
        </p:txBody>
      </p:sp>
      <p:sp>
        <p:nvSpPr>
          <p:cNvPr id="4" name="Text 2"/>
          <p:cNvSpPr/>
          <p:nvPr/>
        </p:nvSpPr>
        <p:spPr>
          <a:xfrm>
            <a:off x="640080" y="2331720"/>
            <a:ext cx="3108960" cy="2194560"/>
          </a:xfrm>
          <a:prstGeom prst="rect">
            <a:avLst/>
          </a:prstGeom>
          <a:noFill/>
          <a:ln/>
        </p:spPr>
        <p:txBody>
          <a:bodyPr wrap="square" lIns="0" tIns="0" rIns="0" bIns="0" rtlCol="0" anchor="ctr"/>
          <a:lstStyle/>
          <a:p>
            <a:pPr marL="0" indent="0">
              <a:buNone/>
            </a:pPr>
            <a:r>
              <a:rPr lang="en-US" sz="15000" b="1" dirty="0">
                <a:solidFill>
                  <a:srgbClr val="FFFFFF"/>
                </a:solidFill>
                <a:latin typeface="Calibri" pitchFamily="34" charset="0"/>
                <a:ea typeface="Calibri" pitchFamily="34" charset="-122"/>
                <a:cs typeface="Calibri" pitchFamily="34" charset="-120"/>
              </a:rPr>
              <a:t>5</a:t>
            </a:r>
            <a:endParaRPr lang="en-US" sz="15000" dirty="0"/>
          </a:p>
        </p:txBody>
      </p:sp>
      <p:sp>
        <p:nvSpPr>
          <p:cNvPr id="5" name="Text 3"/>
          <p:cNvSpPr/>
          <p:nvPr/>
        </p:nvSpPr>
        <p:spPr>
          <a:xfrm>
            <a:off x="3246120" y="2788920"/>
            <a:ext cx="8138160" cy="10058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Tích hợp Test</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vào Jenkins</a:t>
            </a:r>
            <a:endParaRPr lang="en-US" sz="3400" dirty="0"/>
          </a:p>
        </p:txBody>
      </p:sp>
      <p:sp>
        <p:nvSpPr>
          <p:cNvPr id="6" name="Text 4"/>
          <p:cNvSpPr/>
          <p:nvPr/>
        </p:nvSpPr>
        <p:spPr>
          <a:xfrm>
            <a:off x="3291840" y="3794760"/>
            <a:ext cx="8046720" cy="731520"/>
          </a:xfrm>
          <a:prstGeom prst="rect">
            <a:avLst/>
          </a:prstGeom>
          <a:noFill/>
          <a:ln/>
        </p:spPr>
        <p:txBody>
          <a:bodyPr wrap="square" lIns="0" tIns="0" rIns="0" bIns="0" rtlCol="0" anchor="ctr"/>
          <a:lstStyle/>
          <a:p>
            <a:pPr marL="0" indent="0">
              <a:buNone/>
            </a:pPr>
            <a:r>
              <a:rPr lang="en-US" sz="1600" dirty="0">
                <a:solidFill>
                  <a:srgbClr val="AEC6D2"/>
                </a:solidFill>
                <a:latin typeface="Calibri" pitchFamily="34" charset="0"/>
                <a:ea typeface="Calibri" pitchFamily="34" charset="-122"/>
                <a:cs typeface="Calibri" pitchFamily="34" charset="-120"/>
              </a:rPr>
              <a:t>Vì sao cần test • Selenium/JUnit/pytest • Lab 5</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SESSION 5</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Vì sao cần test trong CI/CD</a:t>
            </a:r>
            <a:endParaRPr lang="en-US" sz="3000" dirty="0"/>
          </a:p>
        </p:txBody>
      </p:sp>
      <p:sp>
        <p:nvSpPr>
          <p:cNvPr id="4" name="Shape 2"/>
          <p:cNvSpPr/>
          <p:nvPr/>
        </p:nvSpPr>
        <p:spPr>
          <a:xfrm>
            <a:off x="548640" y="1600200"/>
            <a:ext cx="4937760" cy="4069080"/>
          </a:xfrm>
          <a:prstGeom prst="roundRect">
            <a:avLst>
              <a:gd name="adj" fmla="val 2022"/>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5" name="Text 3"/>
          <p:cNvSpPr/>
          <p:nvPr/>
        </p:nvSpPr>
        <p:spPr>
          <a:xfrm>
            <a:off x="777240" y="1783080"/>
            <a:ext cx="4480560" cy="36576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Lý do &amp; lợi ích</a:t>
            </a:r>
            <a:endParaRPr lang="en-US" sz="1500" dirty="0"/>
          </a:p>
        </p:txBody>
      </p:sp>
      <p:sp>
        <p:nvSpPr>
          <p:cNvPr id="6" name="Text 4"/>
          <p:cNvSpPr/>
          <p:nvPr/>
        </p:nvSpPr>
        <p:spPr>
          <a:xfrm>
            <a:off x="777240" y="2240280"/>
            <a:ext cx="4572000" cy="3291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A2B36"/>
                </a:solidFill>
              </a:rPr>
              <a:t>Shift-left: phát hiện lỗi càng sớm càng rẻ</a:t>
            </a:r>
            <a:endParaRPr lang="en-US" sz="1400" dirty="0"/>
          </a:p>
          <a:p>
            <a:pPr marL="342900" indent="-342900">
              <a:spcAft>
                <a:spcPts val="1000"/>
              </a:spcAft>
              <a:buSzPct val="100000"/>
              <a:buChar char="•"/>
            </a:pPr>
            <a:r>
              <a:rPr lang="en-US" sz="1400" dirty="0">
                <a:solidFill>
                  <a:srgbClr val="1A2B36"/>
                </a:solidFill>
              </a:rPr>
              <a:t>Quality gate trước khi deploy</a:t>
            </a:r>
            <a:endParaRPr lang="en-US" sz="1400" dirty="0"/>
          </a:p>
          <a:p>
            <a:pPr marL="342900" indent="-342900">
              <a:spcAft>
                <a:spcPts val="1000"/>
              </a:spcAft>
              <a:buSzPct val="100000"/>
              <a:buChar char="•"/>
            </a:pPr>
            <a:r>
              <a:rPr lang="en-US" sz="1400" dirty="0">
                <a:solidFill>
                  <a:srgbClr val="1A2B36"/>
                </a:solidFill>
              </a:rPr>
              <a:t>Tự động hoá — chạy mọi lần commit/PR</a:t>
            </a:r>
            <a:endParaRPr lang="en-US" sz="1400" dirty="0"/>
          </a:p>
          <a:p>
            <a:pPr marL="342900" indent="-342900">
              <a:spcAft>
                <a:spcPts val="1000"/>
              </a:spcAft>
              <a:buSzPct val="100000"/>
              <a:buChar char="•"/>
            </a:pPr>
            <a:r>
              <a:rPr lang="en-US" sz="1400" dirty="0">
                <a:solidFill>
                  <a:srgbClr val="1A2B36"/>
                </a:solidFill>
              </a:rPr>
              <a:t>Report + thông báo ngay khi hỏng</a:t>
            </a:r>
            <a:endParaRPr lang="en-US" sz="1400" dirty="0"/>
          </a:p>
          <a:p>
            <a:pPr marL="342900" indent="-342900">
              <a:buSzPct val="100000"/>
              <a:buChar char="•"/>
            </a:pPr>
            <a:r>
              <a:rPr lang="en-US" sz="1400" dirty="0">
                <a:solidFill>
                  <a:srgbClr val="1A2B36"/>
                </a:solidFill>
              </a:rPr>
              <a:t>Tự tin refactor &amp; release nhanh hơn</a:t>
            </a:r>
            <a:endParaRPr lang="en-US" sz="1400" dirty="0"/>
          </a:p>
        </p:txBody>
      </p:sp>
      <p:sp>
        <p:nvSpPr>
          <p:cNvPr id="7" name="Text 5"/>
          <p:cNvSpPr/>
          <p:nvPr/>
        </p:nvSpPr>
        <p:spPr>
          <a:xfrm>
            <a:off x="5852160" y="1737360"/>
            <a:ext cx="5486400" cy="320040"/>
          </a:xfrm>
          <a:prstGeom prst="rect">
            <a:avLst/>
          </a:prstGeom>
          <a:noFill/>
          <a:ln/>
        </p:spPr>
        <p:txBody>
          <a:bodyPr wrap="square" lIns="0" tIns="0" rIns="0" bIns="0" rtlCol="0" anchor="ctr"/>
          <a:lstStyle/>
          <a:p>
            <a:pPr marL="0" indent="0">
              <a:buNone/>
            </a:pPr>
            <a:r>
              <a:rPr lang="en-US" sz="1500" b="1" dirty="0">
                <a:solidFill>
                  <a:srgbClr val="0E8C82"/>
                </a:solidFill>
                <a:latin typeface="Calibri" pitchFamily="34" charset="0"/>
                <a:ea typeface="Calibri" pitchFamily="34" charset="-122"/>
                <a:cs typeface="Calibri" pitchFamily="34" charset="-120"/>
              </a:rPr>
              <a:t>Kim tự tháp test</a:t>
            </a:r>
            <a:endParaRPr lang="en-US" sz="1500" dirty="0"/>
          </a:p>
        </p:txBody>
      </p:sp>
      <p:sp>
        <p:nvSpPr>
          <p:cNvPr id="8" name="Shape 6"/>
          <p:cNvSpPr/>
          <p:nvPr/>
        </p:nvSpPr>
        <p:spPr>
          <a:xfrm>
            <a:off x="7818120" y="2194560"/>
            <a:ext cx="1828800" cy="1005840"/>
          </a:xfrm>
          <a:prstGeom prst="roundRect">
            <a:avLst>
              <a:gd name="adj" fmla="val 5455"/>
            </a:avLst>
          </a:prstGeom>
          <a:solidFill>
            <a:srgbClr val="F6A623"/>
          </a:solidFill>
          <a:ln/>
        </p:spPr>
        <p:txBody>
          <a:bodyPr/>
          <a:lstStyle/>
          <a:p>
            <a:endParaRPr lang="en-US"/>
          </a:p>
        </p:txBody>
      </p:sp>
      <p:sp>
        <p:nvSpPr>
          <p:cNvPr id="9" name="Text 7"/>
          <p:cNvSpPr/>
          <p:nvPr/>
        </p:nvSpPr>
        <p:spPr>
          <a:xfrm>
            <a:off x="7818120" y="2340864"/>
            <a:ext cx="1828800"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E2E — Selenium</a:t>
            </a:r>
            <a:endParaRPr lang="en-US" sz="1400" dirty="0"/>
          </a:p>
        </p:txBody>
      </p:sp>
      <p:sp>
        <p:nvSpPr>
          <p:cNvPr id="10" name="Text 8"/>
          <p:cNvSpPr/>
          <p:nvPr/>
        </p:nvSpPr>
        <p:spPr>
          <a:xfrm>
            <a:off x="7818120" y="2724912"/>
            <a:ext cx="182880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chậm, ít, giá trị cao</a:t>
            </a:r>
            <a:endParaRPr lang="en-US" sz="1100" dirty="0"/>
          </a:p>
        </p:txBody>
      </p:sp>
      <p:sp>
        <p:nvSpPr>
          <p:cNvPr id="11" name="Shape 9"/>
          <p:cNvSpPr/>
          <p:nvPr/>
        </p:nvSpPr>
        <p:spPr>
          <a:xfrm>
            <a:off x="7086600" y="3364992"/>
            <a:ext cx="3291840" cy="1005840"/>
          </a:xfrm>
          <a:prstGeom prst="roundRect">
            <a:avLst>
              <a:gd name="adj" fmla="val 5455"/>
            </a:avLst>
          </a:prstGeom>
          <a:solidFill>
            <a:srgbClr val="0E8C82"/>
          </a:solidFill>
          <a:ln/>
        </p:spPr>
        <p:txBody>
          <a:bodyPr/>
          <a:lstStyle/>
          <a:p>
            <a:endParaRPr lang="en-US"/>
          </a:p>
        </p:txBody>
      </p:sp>
      <p:sp>
        <p:nvSpPr>
          <p:cNvPr id="12" name="Text 10"/>
          <p:cNvSpPr/>
          <p:nvPr/>
        </p:nvSpPr>
        <p:spPr>
          <a:xfrm>
            <a:off x="7086600" y="3511296"/>
            <a:ext cx="3291840"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Integration — pytest</a:t>
            </a:r>
            <a:endParaRPr lang="en-US" sz="1400" dirty="0"/>
          </a:p>
        </p:txBody>
      </p:sp>
      <p:sp>
        <p:nvSpPr>
          <p:cNvPr id="13" name="Text 11"/>
          <p:cNvSpPr/>
          <p:nvPr/>
        </p:nvSpPr>
        <p:spPr>
          <a:xfrm>
            <a:off x="7086600" y="3895344"/>
            <a:ext cx="329184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vừa phải</a:t>
            </a:r>
            <a:endParaRPr lang="en-US" sz="1100" dirty="0"/>
          </a:p>
        </p:txBody>
      </p:sp>
      <p:sp>
        <p:nvSpPr>
          <p:cNvPr id="14" name="Shape 12"/>
          <p:cNvSpPr/>
          <p:nvPr/>
        </p:nvSpPr>
        <p:spPr>
          <a:xfrm>
            <a:off x="6355080" y="4535424"/>
            <a:ext cx="4754880" cy="1005840"/>
          </a:xfrm>
          <a:prstGeom prst="roundRect">
            <a:avLst>
              <a:gd name="adj" fmla="val 5455"/>
            </a:avLst>
          </a:prstGeom>
          <a:solidFill>
            <a:srgbClr val="1FBFB3"/>
          </a:solidFill>
          <a:ln/>
        </p:spPr>
        <p:txBody>
          <a:bodyPr/>
          <a:lstStyle/>
          <a:p>
            <a:endParaRPr lang="en-US"/>
          </a:p>
        </p:txBody>
      </p:sp>
      <p:sp>
        <p:nvSpPr>
          <p:cNvPr id="15" name="Text 13"/>
          <p:cNvSpPr/>
          <p:nvPr/>
        </p:nvSpPr>
        <p:spPr>
          <a:xfrm>
            <a:off x="6355080" y="4681728"/>
            <a:ext cx="4754880"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Unit — JUnit / pytest</a:t>
            </a:r>
            <a:endParaRPr lang="en-US" sz="1400" dirty="0"/>
          </a:p>
        </p:txBody>
      </p:sp>
      <p:sp>
        <p:nvSpPr>
          <p:cNvPr id="16" name="Text 14"/>
          <p:cNvSpPr/>
          <p:nvPr/>
        </p:nvSpPr>
        <p:spPr>
          <a:xfrm>
            <a:off x="6355080" y="5065776"/>
            <a:ext cx="475488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nhanh, nhiều, nền tảng</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SESSION 5</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Thêm bước test vào pipeline Jenkins</a:t>
            </a:r>
            <a:endParaRPr lang="en-US" sz="3000" dirty="0"/>
          </a:p>
        </p:txBody>
      </p:sp>
      <p:sp>
        <p:nvSpPr>
          <p:cNvPr id="4" name="Text 2"/>
          <p:cNvSpPr/>
          <p:nvPr/>
        </p:nvSpPr>
        <p:spPr>
          <a:xfrm>
            <a:off x="548640" y="1572768"/>
            <a:ext cx="5486400" cy="320040"/>
          </a:xfrm>
          <a:prstGeom prst="rect">
            <a:avLst/>
          </a:prstGeom>
          <a:noFill/>
          <a:ln/>
        </p:spPr>
        <p:txBody>
          <a:bodyPr wrap="square" lIns="0" tIns="0" rIns="0" bIns="0" rtlCol="0" anchor="ctr"/>
          <a:lstStyle/>
          <a:p>
            <a:pPr marL="0" indent="0">
              <a:buNone/>
            </a:pPr>
            <a:r>
              <a:rPr lang="en-US" sz="1300" b="1" dirty="0">
                <a:solidFill>
                  <a:srgbClr val="5D6E78"/>
                </a:solidFill>
                <a:latin typeface="Consolas" pitchFamily="34" charset="0"/>
                <a:ea typeface="Consolas" pitchFamily="34" charset="-122"/>
                <a:cs typeface="Consolas" pitchFamily="34" charset="-120"/>
              </a:rPr>
              <a:t>Jenkinsfile (Declarative)</a:t>
            </a:r>
            <a:endParaRPr lang="en-US" sz="1300" dirty="0"/>
          </a:p>
        </p:txBody>
      </p:sp>
      <p:sp>
        <p:nvSpPr>
          <p:cNvPr id="5" name="Shape 3"/>
          <p:cNvSpPr/>
          <p:nvPr/>
        </p:nvSpPr>
        <p:spPr>
          <a:xfrm>
            <a:off x="548640" y="1901952"/>
            <a:ext cx="6720840" cy="3767328"/>
          </a:xfrm>
          <a:prstGeom prst="roundRect">
            <a:avLst>
              <a:gd name="adj" fmla="val 1456"/>
            </a:avLst>
          </a:prstGeom>
          <a:solidFill>
            <a:srgbClr val="0D1B26"/>
          </a:solidFill>
          <a:ln/>
        </p:spPr>
        <p:txBody>
          <a:bodyPr/>
          <a:lstStyle/>
          <a:p>
            <a:endParaRPr lang="en-US"/>
          </a:p>
        </p:txBody>
      </p:sp>
      <p:sp>
        <p:nvSpPr>
          <p:cNvPr id="6" name="Text 4"/>
          <p:cNvSpPr/>
          <p:nvPr/>
        </p:nvSpPr>
        <p:spPr>
          <a:xfrm>
            <a:off x="713232" y="2011680"/>
            <a:ext cx="6391656" cy="3547872"/>
          </a:xfrm>
          <a:prstGeom prst="rect">
            <a:avLst/>
          </a:prstGeom>
          <a:noFill/>
          <a:ln/>
        </p:spPr>
        <p:txBody>
          <a:bodyPr wrap="square" lIns="0" tIns="0" rIns="0" bIns="0" rtlCol="0" anchor="t"/>
          <a:lstStyle/>
          <a:p>
            <a:pPr marL="0" indent="0" algn="l">
              <a:lnSpc>
                <a:spcPct val="105000"/>
              </a:lnSpc>
              <a:buNone/>
            </a:pPr>
            <a:r>
              <a:rPr lang="en-US" sz="1150" dirty="0">
                <a:solidFill>
                  <a:srgbClr val="F6A623"/>
                </a:solidFill>
                <a:latin typeface="Consolas" pitchFamily="34" charset="0"/>
                <a:ea typeface="Consolas" pitchFamily="34" charset="-122"/>
                <a:cs typeface="Consolas" pitchFamily="34" charset="-120"/>
              </a:rPr>
              <a:t>pipeline {
</a:t>
            </a:r>
            <a:r>
              <a:rPr lang="en-US" sz="1150" dirty="0">
                <a:solidFill>
                  <a:srgbClr val="9FE8DF"/>
                </a:solidFill>
                <a:latin typeface="Consolas" pitchFamily="34" charset="0"/>
                <a:ea typeface="Consolas" pitchFamily="34" charset="-122"/>
                <a:cs typeface="Consolas" pitchFamily="34" charset="-120"/>
              </a:rPr>
              <a:t>  agent any
  stages {
    stage('Build') { steps { sh 'mvn -B compile' } }
</a:t>
            </a:r>
            <a:r>
              <a:rPr lang="en-US" sz="1150" dirty="0">
                <a:solidFill>
                  <a:srgbClr val="1FBFB3"/>
                </a:solidFill>
                <a:latin typeface="Consolas" pitchFamily="34" charset="0"/>
                <a:ea typeface="Consolas" pitchFamily="34" charset="-122"/>
                <a:cs typeface="Consolas" pitchFamily="34" charset="-120"/>
              </a:rPr>
              <a:t>    stage('Unit (JUnit)') {
</a:t>
            </a:r>
            <a:r>
              <a:rPr lang="en-US" sz="1150" dirty="0">
                <a:solidFill>
                  <a:srgbClr val="9FE8DF"/>
                </a:solidFill>
                <a:latin typeface="Consolas" pitchFamily="34" charset="0"/>
                <a:ea typeface="Consolas" pitchFamily="34" charset="-122"/>
                <a:cs typeface="Consolas" pitchFamily="34" charset="-120"/>
              </a:rPr>
              <a:t>      steps { sh 'mvn test' }
      post { always { junit 'target/**/*.xml' } }
    }
</a:t>
            </a:r>
            <a:r>
              <a:rPr lang="en-US" sz="1150" dirty="0">
                <a:solidFill>
                  <a:srgbClr val="1FBFB3"/>
                </a:solidFill>
                <a:latin typeface="Consolas" pitchFamily="34" charset="0"/>
                <a:ea typeface="Consolas" pitchFamily="34" charset="-122"/>
                <a:cs typeface="Consolas" pitchFamily="34" charset="-120"/>
              </a:rPr>
              <a:t>    stage('Py (pytest)') {
</a:t>
            </a:r>
            <a:r>
              <a:rPr lang="en-US" sz="1150" dirty="0">
                <a:solidFill>
                  <a:srgbClr val="9FE8DF"/>
                </a:solidFill>
                <a:latin typeface="Consolas" pitchFamily="34" charset="0"/>
                <a:ea typeface="Consolas" pitchFamily="34" charset="-122"/>
                <a:cs typeface="Consolas" pitchFamily="34" charset="-120"/>
              </a:rPr>
              <a:t>      steps { sh 'pytest --junitxml=rep/py.xml' }
      post { always { junit 'rep/py.xml' } }
    }
</a:t>
            </a:r>
            <a:r>
              <a:rPr lang="en-US" sz="1150" dirty="0">
                <a:solidFill>
                  <a:srgbClr val="1FBFB3"/>
                </a:solidFill>
                <a:latin typeface="Consolas" pitchFamily="34" charset="0"/>
                <a:ea typeface="Consolas" pitchFamily="34" charset="-122"/>
                <a:cs typeface="Consolas" pitchFamily="34" charset="-120"/>
              </a:rPr>
              <a:t>    stage('E2E (Selenium)') {
</a:t>
            </a:r>
            <a:r>
              <a:rPr lang="en-US" sz="1150" dirty="0">
                <a:solidFill>
                  <a:srgbClr val="9FE8DF"/>
                </a:solidFill>
                <a:latin typeface="Consolas" pitchFamily="34" charset="0"/>
                <a:ea typeface="Consolas" pitchFamily="34" charset="-122"/>
                <a:cs typeface="Consolas" pitchFamily="34" charset="-120"/>
              </a:rPr>
              <a:t>      steps { sh 'pytest tests/e2e ...' } }
  }
</a:t>
            </a:r>
            <a:r>
              <a:rPr lang="en-US" sz="1150" dirty="0">
                <a:solidFill>
                  <a:srgbClr val="F6A623"/>
                </a:solidFill>
                <a:latin typeface="Consolas" pitchFamily="34" charset="0"/>
                <a:ea typeface="Consolas" pitchFamily="34" charset="-122"/>
                <a:cs typeface="Consolas" pitchFamily="34" charset="-120"/>
              </a:rPr>
              <a:t>  post { failure { echo 'notify team' } }
}</a:t>
            </a:r>
            <a:endParaRPr lang="en-US" sz="1150" dirty="0"/>
          </a:p>
        </p:txBody>
      </p:sp>
      <p:sp>
        <p:nvSpPr>
          <p:cNvPr id="7" name="Shape 5"/>
          <p:cNvSpPr/>
          <p:nvPr/>
        </p:nvSpPr>
        <p:spPr>
          <a:xfrm>
            <a:off x="7452360" y="1901952"/>
            <a:ext cx="4187952" cy="3767328"/>
          </a:xfrm>
          <a:prstGeom prst="roundRect">
            <a:avLst>
              <a:gd name="adj" fmla="val 2184"/>
            </a:avLst>
          </a:prstGeom>
          <a:solidFill>
            <a:srgbClr val="0E2233"/>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8" name="Text 6"/>
          <p:cNvSpPr/>
          <p:nvPr/>
        </p:nvSpPr>
        <p:spPr>
          <a:xfrm>
            <a:off x="7680960" y="2084832"/>
            <a:ext cx="3657600" cy="365760"/>
          </a:xfrm>
          <a:prstGeom prst="rect">
            <a:avLst/>
          </a:prstGeom>
          <a:noFill/>
          <a:ln/>
        </p:spPr>
        <p:txBody>
          <a:bodyPr wrap="square" lIns="0" tIns="0" rIns="0" bIns="0" rtlCol="0" anchor="ctr"/>
          <a:lstStyle/>
          <a:p>
            <a:pPr marL="0" indent="0">
              <a:buNone/>
            </a:pPr>
            <a:r>
              <a:rPr lang="en-US" sz="1500" b="1" dirty="0">
                <a:solidFill>
                  <a:srgbClr val="F6A623"/>
                </a:solidFill>
                <a:latin typeface="Calibri" pitchFamily="34" charset="0"/>
                <a:ea typeface="Calibri" pitchFamily="34" charset="-122"/>
                <a:cs typeface="Calibri" pitchFamily="34" charset="-120"/>
              </a:rPr>
              <a:t>Điểm mấu chốt</a:t>
            </a:r>
            <a:endParaRPr lang="en-US" sz="1500" dirty="0"/>
          </a:p>
        </p:txBody>
      </p:sp>
      <p:sp>
        <p:nvSpPr>
          <p:cNvPr id="9" name="Text 7"/>
          <p:cNvSpPr/>
          <p:nvPr/>
        </p:nvSpPr>
        <p:spPr>
          <a:xfrm>
            <a:off x="7680960" y="2487168"/>
            <a:ext cx="3749040" cy="310896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E6EEF2"/>
                </a:solidFill>
              </a:rPr>
              <a:t>post { always { junit ... } } luôn thu report dù pass/fail</a:t>
            </a:r>
            <a:endParaRPr lang="en-US" sz="1250" dirty="0"/>
          </a:p>
          <a:p>
            <a:pPr marL="342900" indent="-342900">
              <a:spcAft>
                <a:spcPts val="900"/>
              </a:spcAft>
              <a:buSzPct val="100000"/>
              <a:buChar char="•"/>
            </a:pPr>
            <a:r>
              <a:rPr lang="en-US" sz="1250" dirty="0">
                <a:solidFill>
                  <a:srgbClr val="E6EEF2"/>
                </a:solidFill>
              </a:rPr>
              <a:t>Môi trường test tách biệt bằng Docker/K8s (ephemeral)</a:t>
            </a:r>
            <a:endParaRPr lang="en-US" sz="1250" dirty="0"/>
          </a:p>
          <a:p>
            <a:pPr marL="342900" indent="-342900">
              <a:spcAft>
                <a:spcPts val="900"/>
              </a:spcAft>
              <a:buSzPct val="100000"/>
              <a:buChar char="•"/>
            </a:pPr>
            <a:r>
              <a:rPr lang="en-US" sz="1250" dirty="0">
                <a:solidFill>
                  <a:srgbClr val="E6EEF2"/>
                </a:solidFill>
              </a:rPr>
              <a:t>Quản lý test data: fixtures, seed DB, dọn sau test</a:t>
            </a:r>
            <a:endParaRPr lang="en-US" sz="1250" dirty="0"/>
          </a:p>
          <a:p>
            <a:pPr marL="342900" indent="-342900">
              <a:spcAft>
                <a:spcPts val="900"/>
              </a:spcAft>
              <a:buSzPct val="100000"/>
              <a:buChar char="•"/>
            </a:pPr>
            <a:r>
              <a:rPr lang="en-US" sz="1250" dirty="0">
                <a:solidFill>
                  <a:srgbClr val="E6EEF2"/>
                </a:solidFill>
              </a:rPr>
              <a:t>Khi fail: đọc report, chụp screenshot Selenium, báo Slack/Email</a:t>
            </a:r>
            <a:endParaRPr lang="en-US" sz="1250" dirty="0"/>
          </a:p>
          <a:p>
            <a:pPr marL="342900" indent="-342900">
              <a:buSzPct val="100000"/>
              <a:buChar char="•"/>
            </a:pPr>
            <a:r>
              <a:rPr lang="en-US" sz="1250" dirty="0">
                <a:solidFill>
                  <a:srgbClr val="E6EEF2"/>
                </a:solidFill>
              </a:rPr>
              <a:t>Retry test flaky, đánh dấu build UNSTABLE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600200" cy="457200"/>
          </a:xfrm>
          <a:prstGeom prst="roundRect">
            <a:avLst>
              <a:gd name="adj" fmla="val 50000"/>
            </a:avLst>
          </a:prstGeom>
          <a:solidFill>
            <a:srgbClr val="F6A623"/>
          </a:solidFill>
          <a:ln/>
        </p:spPr>
        <p:txBody>
          <a:bodyPr/>
          <a:lstStyle/>
          <a:p>
            <a:endParaRPr lang="en-US"/>
          </a:p>
        </p:txBody>
      </p:sp>
      <p:sp>
        <p:nvSpPr>
          <p:cNvPr id="3" name="Text 1"/>
          <p:cNvSpPr/>
          <p:nvPr/>
        </p:nvSpPr>
        <p:spPr>
          <a:xfrm>
            <a:off x="548640" y="411480"/>
            <a:ext cx="1600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LAB 5</a:t>
            </a:r>
            <a:endParaRPr lang="en-US" sz="1400" dirty="0"/>
          </a:p>
        </p:txBody>
      </p:sp>
      <p:sp>
        <p:nvSpPr>
          <p:cNvPr id="4" name="Text 2"/>
          <p:cNvSpPr/>
          <p:nvPr/>
        </p:nvSpPr>
        <p:spPr>
          <a:xfrm>
            <a:off x="2286000" y="411480"/>
            <a:ext cx="3657600" cy="457200"/>
          </a:xfrm>
          <a:prstGeom prst="rect">
            <a:avLst/>
          </a:prstGeom>
          <a:noFill/>
          <a:ln/>
        </p:spPr>
        <p:txBody>
          <a:bodyPr wrap="square" lIns="0" tIns="0" rIns="0" bIns="0" rtlCol="0" anchor="ctr"/>
          <a:lstStyle/>
          <a:p>
            <a:pPr marL="0" indent="0">
              <a:buNone/>
            </a:pPr>
            <a:r>
              <a:rPr lang="en-US" sz="1300" b="1" kern="0" spc="100" dirty="0">
                <a:solidFill>
                  <a:srgbClr val="0E8C82"/>
                </a:solidFill>
                <a:latin typeface="Calibri" pitchFamily="34" charset="0"/>
                <a:ea typeface="Calibri" pitchFamily="34" charset="-122"/>
                <a:cs typeface="Calibri" pitchFamily="34" charset="-120"/>
              </a:rPr>
              <a:t>SESSION 5</a:t>
            </a:r>
            <a:endParaRPr lang="en-US" sz="1300" dirty="0"/>
          </a:p>
        </p:txBody>
      </p:sp>
      <p:sp>
        <p:nvSpPr>
          <p:cNvPr id="5" name="Text 3"/>
          <p:cNvSpPr/>
          <p:nvPr/>
        </p:nvSpPr>
        <p:spPr>
          <a:xfrm>
            <a:off x="548640" y="932688"/>
            <a:ext cx="11064240" cy="548640"/>
          </a:xfrm>
          <a:prstGeom prst="rect">
            <a:avLst/>
          </a:prstGeom>
          <a:noFill/>
          <a:ln/>
        </p:spPr>
        <p:txBody>
          <a:bodyPr wrap="square" lIns="0" tIns="0" rIns="0" bIns="0" rtlCol="0" anchor="ctr"/>
          <a:lstStyle/>
          <a:p>
            <a:pPr marL="0" indent="0">
              <a:buNone/>
            </a:pPr>
            <a:r>
              <a:rPr lang="en-US" sz="2700" b="1" dirty="0">
                <a:solidFill>
                  <a:srgbClr val="1A2B36"/>
                </a:solidFill>
                <a:latin typeface="Calibri" pitchFamily="34" charset="0"/>
                <a:ea typeface="Calibri" pitchFamily="34" charset="-122"/>
                <a:cs typeface="Calibri" pitchFamily="34" charset="-120"/>
              </a:rPr>
              <a:t>Tích hợp Selenium, JUnit &amp; pytest vào Jenkins</a:t>
            </a:r>
            <a:endParaRPr lang="en-US" sz="2700" dirty="0"/>
          </a:p>
        </p:txBody>
      </p:sp>
      <p:sp>
        <p:nvSpPr>
          <p:cNvPr id="6" name="Shape 4"/>
          <p:cNvSpPr/>
          <p:nvPr/>
        </p:nvSpPr>
        <p:spPr>
          <a:xfrm>
            <a:off x="548640" y="1572768"/>
            <a:ext cx="11091672" cy="566928"/>
          </a:xfrm>
          <a:prstGeom prst="roundRect">
            <a:avLst>
              <a:gd name="adj" fmla="val 12903"/>
            </a:avLst>
          </a:prstGeom>
          <a:solidFill>
            <a:srgbClr val="1FBFB3">
              <a:alpha val="14000"/>
            </a:srgbClr>
          </a:solidFill>
          <a:ln/>
        </p:spPr>
        <p:txBody>
          <a:bodyPr/>
          <a:lstStyle/>
          <a:p>
            <a:endParaRPr lang="en-US"/>
          </a:p>
        </p:txBody>
      </p:sp>
      <p:sp>
        <p:nvSpPr>
          <p:cNvPr id="7" name="Text 5"/>
          <p:cNvSpPr/>
          <p:nvPr/>
        </p:nvSpPr>
        <p:spPr>
          <a:xfrm>
            <a:off x="777240" y="1572768"/>
            <a:ext cx="10607040" cy="566928"/>
          </a:xfrm>
          <a:prstGeom prst="rect">
            <a:avLst/>
          </a:prstGeom>
          <a:noFill/>
          <a:ln/>
        </p:spPr>
        <p:txBody>
          <a:bodyPr wrap="square" lIns="0" tIns="0" rIns="0" bIns="0" rtlCol="0" anchor="ctr"/>
          <a:lstStyle/>
          <a:p>
            <a:pPr marL="0" indent="0">
              <a:buNone/>
            </a:pPr>
            <a:r>
              <a:rPr lang="en-US" sz="1350" b="1" dirty="0">
                <a:solidFill>
                  <a:srgbClr val="0E8C82"/>
                </a:solidFill>
                <a:latin typeface="Calibri" pitchFamily="34" charset="0"/>
                <a:ea typeface="Calibri" pitchFamily="34" charset="-122"/>
                <a:cs typeface="Calibri" pitchFamily="34" charset="-120"/>
              </a:rPr>
              <a:t>Mục tiêu:  </a:t>
            </a:r>
            <a:r>
              <a:rPr lang="en-US" sz="1350" dirty="0">
                <a:solidFill>
                  <a:srgbClr val="1A2B36"/>
                </a:solidFill>
                <a:latin typeface="Calibri" pitchFamily="34" charset="0"/>
                <a:ea typeface="Calibri" pitchFamily="34" charset="-122"/>
                <a:cs typeface="Calibri" pitchFamily="34" charset="-120"/>
              </a:rPr>
              <a:t>Chạy pipeline có 3 loại test và xử lý kết quả.</a:t>
            </a:r>
            <a:endParaRPr lang="en-US" sz="1350" dirty="0"/>
          </a:p>
        </p:txBody>
      </p:sp>
      <p:sp>
        <p:nvSpPr>
          <p:cNvPr id="8" name="Shape 6"/>
          <p:cNvSpPr/>
          <p:nvPr/>
        </p:nvSpPr>
        <p:spPr>
          <a:xfrm>
            <a:off x="548640" y="2331720"/>
            <a:ext cx="7040880" cy="3337560"/>
          </a:xfrm>
          <a:prstGeom prst="roundRect">
            <a:avLst>
              <a:gd name="adj" fmla="val 246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9" name="Text 7"/>
          <p:cNvSpPr/>
          <p:nvPr/>
        </p:nvSpPr>
        <p:spPr>
          <a:xfrm>
            <a:off x="777240" y="2487168"/>
            <a:ext cx="6400800" cy="365760"/>
          </a:xfrm>
          <a:prstGeom prst="rect">
            <a:avLst/>
          </a:prstGeom>
          <a:noFill/>
          <a:ln/>
        </p:spPr>
        <p:txBody>
          <a:bodyPr wrap="square" lIns="0" tIns="0" rIns="0" bIns="0" rtlCol="0" anchor="ctr"/>
          <a:lstStyle/>
          <a:p>
            <a:pPr marL="0" indent="0">
              <a:buNone/>
            </a:pPr>
            <a:r>
              <a:rPr lang="en-US" sz="1500" b="1" dirty="0">
                <a:solidFill>
                  <a:srgbClr val="1A2B36"/>
                </a:solidFill>
                <a:latin typeface="Calibri" pitchFamily="34" charset="0"/>
                <a:ea typeface="Calibri" pitchFamily="34" charset="-122"/>
                <a:cs typeface="Calibri" pitchFamily="34" charset="-120"/>
              </a:rPr>
              <a:t>Các bước</a:t>
            </a:r>
            <a:endParaRPr lang="en-US" sz="1500" dirty="0"/>
          </a:p>
        </p:txBody>
      </p:sp>
      <p:sp>
        <p:nvSpPr>
          <p:cNvPr id="10" name="Shape 8"/>
          <p:cNvSpPr/>
          <p:nvPr/>
        </p:nvSpPr>
        <p:spPr>
          <a:xfrm>
            <a:off x="804672" y="2926080"/>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1" name="Text 9"/>
          <p:cNvSpPr/>
          <p:nvPr/>
        </p:nvSpPr>
        <p:spPr>
          <a:xfrm>
            <a:off x="804672" y="2926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325880" y="2880360"/>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Chuẩn bị repo: 1 test JUnit + 1 pytest + 1 Selenium (trang Login)</a:t>
            </a:r>
            <a:endParaRPr lang="en-US" sz="1300" dirty="0"/>
          </a:p>
        </p:txBody>
      </p:sp>
      <p:sp>
        <p:nvSpPr>
          <p:cNvPr id="13" name="Shape 11"/>
          <p:cNvSpPr/>
          <p:nvPr/>
        </p:nvSpPr>
        <p:spPr>
          <a:xfrm>
            <a:off x="804672" y="3529584"/>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4" name="Text 12"/>
          <p:cNvSpPr/>
          <p:nvPr/>
        </p:nvSpPr>
        <p:spPr>
          <a:xfrm>
            <a:off x="804672" y="35295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325880" y="3483864"/>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Chạy Selenium: docker selenium/standalone-chrome (hoặc Grid)</a:t>
            </a:r>
            <a:endParaRPr lang="en-US" sz="1300" dirty="0"/>
          </a:p>
        </p:txBody>
      </p:sp>
      <p:sp>
        <p:nvSpPr>
          <p:cNvPr id="16" name="Shape 14"/>
          <p:cNvSpPr/>
          <p:nvPr/>
        </p:nvSpPr>
        <p:spPr>
          <a:xfrm>
            <a:off x="804672" y="4133088"/>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7" name="Text 15"/>
          <p:cNvSpPr/>
          <p:nvPr/>
        </p:nvSpPr>
        <p:spPr>
          <a:xfrm>
            <a:off x="804672" y="41330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325880" y="4087368"/>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Tạo Jenkinsfile &amp; job Pipeline; chạy → xem Test Result</a:t>
            </a:r>
            <a:endParaRPr lang="en-US" sz="1300" dirty="0"/>
          </a:p>
        </p:txBody>
      </p:sp>
      <p:sp>
        <p:nvSpPr>
          <p:cNvPr id="19" name="Shape 17"/>
          <p:cNvSpPr/>
          <p:nvPr/>
        </p:nvSpPr>
        <p:spPr>
          <a:xfrm>
            <a:off x="804672" y="4736592"/>
            <a:ext cx="384048" cy="384048"/>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20" name="Text 18"/>
          <p:cNvSpPr/>
          <p:nvPr/>
        </p:nvSpPr>
        <p:spPr>
          <a:xfrm>
            <a:off x="804672" y="4736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325880" y="4690872"/>
            <a:ext cx="6126480" cy="566928"/>
          </a:xfrm>
          <a:prstGeom prst="rect">
            <a:avLst/>
          </a:prstGeom>
          <a:noFill/>
          <a:ln/>
        </p:spPr>
        <p:txBody>
          <a:bodyPr wrap="square" lIns="0" tIns="0" rIns="0" bIns="0" rtlCol="0" anchor="ctr"/>
          <a:lstStyle/>
          <a:p>
            <a:pPr marL="0" indent="0">
              <a:lnSpc>
                <a:spcPct val="100000"/>
              </a:lnSpc>
              <a:buNone/>
            </a:pPr>
            <a:r>
              <a:rPr lang="en-US" sz="1300" dirty="0">
                <a:solidFill>
                  <a:srgbClr val="1A2B36"/>
                </a:solidFill>
                <a:latin typeface="Calibri" pitchFamily="34" charset="0"/>
                <a:ea typeface="Calibri" pitchFamily="34" charset="-122"/>
                <a:cs typeface="Calibri" pitchFamily="34" charset="-120"/>
              </a:rPr>
              <a:t>Cố tình fail 1 test → cấu hình thông báo → sửa → chạy lại pass</a:t>
            </a:r>
            <a:endParaRPr lang="en-US" sz="1300" dirty="0"/>
          </a:p>
        </p:txBody>
      </p:sp>
      <p:sp>
        <p:nvSpPr>
          <p:cNvPr id="22" name="Shape 20"/>
          <p:cNvSpPr/>
          <p:nvPr/>
        </p:nvSpPr>
        <p:spPr>
          <a:xfrm>
            <a:off x="7772400" y="2331720"/>
            <a:ext cx="3867912" cy="3337560"/>
          </a:xfrm>
          <a:prstGeom prst="roundRect">
            <a:avLst>
              <a:gd name="adj" fmla="val 2466"/>
            </a:avLst>
          </a:prstGeom>
          <a:solidFill>
            <a:srgbClr val="0E2233"/>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3" name="Text 21"/>
          <p:cNvSpPr/>
          <p:nvPr/>
        </p:nvSpPr>
        <p:spPr>
          <a:xfrm>
            <a:off x="8001000" y="2487168"/>
            <a:ext cx="3383280" cy="365760"/>
          </a:xfrm>
          <a:prstGeom prst="rect">
            <a:avLst/>
          </a:prstGeom>
          <a:noFill/>
          <a:ln/>
        </p:spPr>
        <p:txBody>
          <a:bodyPr wrap="square" lIns="0" tIns="0" rIns="0" bIns="0" rtlCol="0" anchor="ctr"/>
          <a:lstStyle/>
          <a:p>
            <a:pPr marL="0" indent="0">
              <a:buNone/>
            </a:pPr>
            <a:r>
              <a:rPr lang="en-US" sz="1500" b="1" dirty="0">
                <a:solidFill>
                  <a:srgbClr val="F6A623"/>
                </a:solidFill>
                <a:latin typeface="Calibri" pitchFamily="34" charset="0"/>
                <a:ea typeface="Calibri" pitchFamily="34" charset="-122"/>
                <a:cs typeface="Calibri" pitchFamily="34" charset="-120"/>
              </a:rPr>
              <a:t>Nghiệm thu</a:t>
            </a:r>
            <a:endParaRPr lang="en-US" sz="1500" dirty="0"/>
          </a:p>
        </p:txBody>
      </p:sp>
      <p:sp>
        <p:nvSpPr>
          <p:cNvPr id="24" name="Text 22"/>
          <p:cNvSpPr/>
          <p:nvPr/>
        </p:nvSpPr>
        <p:spPr>
          <a:xfrm>
            <a:off x="8001000" y="2907792"/>
            <a:ext cx="3429000" cy="26517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E6EEF2"/>
                </a:solidFill>
              </a:rPr>
              <a:t>Pipeline chạy đủ 3 stage test</a:t>
            </a:r>
            <a:endParaRPr lang="en-US" sz="1250" dirty="0"/>
          </a:p>
          <a:p>
            <a:pPr marL="342900" indent="-342900">
              <a:spcAft>
                <a:spcPts val="1000"/>
              </a:spcAft>
              <a:buSzPct val="100000"/>
              <a:buChar char="✓"/>
            </a:pPr>
            <a:r>
              <a:rPr lang="en-US" sz="1250" dirty="0">
                <a:solidFill>
                  <a:srgbClr val="E6EEF2"/>
                </a:solidFill>
              </a:rPr>
              <a:t>Hiển thị JUnit report</a:t>
            </a:r>
            <a:endParaRPr lang="en-US" sz="1250" dirty="0"/>
          </a:p>
          <a:p>
            <a:pPr marL="342900" indent="-342900">
              <a:spcAft>
                <a:spcPts val="1000"/>
              </a:spcAft>
              <a:buSzPct val="100000"/>
              <a:buChar char="✓"/>
            </a:pPr>
            <a:r>
              <a:rPr lang="en-US" sz="1250" dirty="0">
                <a:solidFill>
                  <a:srgbClr val="E6EEF2"/>
                </a:solidFill>
              </a:rPr>
              <a:t>Fail → có thông báo + artifact</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2233"/>
        </a:solidFill>
        <a:effectLst/>
      </p:bgPr>
    </p:bg>
    <p:spTree>
      <p:nvGrpSpPr>
        <p:cNvPr id="1" name=""/>
        <p:cNvGrpSpPr/>
        <p:nvPr/>
      </p:nvGrpSpPr>
      <p:grpSpPr>
        <a:xfrm>
          <a:off x="0" y="0"/>
          <a:ext cx="0" cy="0"/>
          <a:chOff x="0" y="0"/>
          <a:chExt cx="0" cy="0"/>
        </a:xfrm>
      </p:grpSpPr>
      <p:sp>
        <p:nvSpPr>
          <p:cNvPr id="2" name="Shape 0"/>
          <p:cNvSpPr/>
          <p:nvPr/>
        </p:nvSpPr>
        <p:spPr>
          <a:xfrm>
            <a:off x="9692640" y="3657600"/>
            <a:ext cx="4389120" cy="4389120"/>
          </a:xfrm>
          <a:prstGeom prst="ellipse">
            <a:avLst/>
          </a:prstGeom>
          <a:solidFill>
            <a:srgbClr val="F6A623">
              <a:alpha val="16000"/>
            </a:srgbClr>
          </a:solidFill>
          <a:ln/>
        </p:spPr>
        <p:txBody>
          <a:bodyPr/>
          <a:lstStyle/>
          <a:p>
            <a:endParaRPr lang="en-US"/>
          </a:p>
        </p:txBody>
      </p:sp>
      <p:sp>
        <p:nvSpPr>
          <p:cNvPr id="3" name="Text 1"/>
          <p:cNvSpPr/>
          <p:nvPr/>
        </p:nvSpPr>
        <p:spPr>
          <a:xfrm>
            <a:off x="731520" y="1234440"/>
            <a:ext cx="5486400" cy="365760"/>
          </a:xfrm>
          <a:prstGeom prst="rect">
            <a:avLst/>
          </a:prstGeom>
          <a:noFill/>
          <a:ln/>
        </p:spPr>
        <p:txBody>
          <a:bodyPr wrap="square" lIns="0" tIns="0" rIns="0" bIns="0" rtlCol="0" anchor="ctr"/>
          <a:lstStyle/>
          <a:p>
            <a:pPr marL="0" indent="0">
              <a:buNone/>
            </a:pPr>
            <a:r>
              <a:rPr lang="en-US" sz="1500" b="1" kern="0" spc="300" dirty="0">
                <a:solidFill>
                  <a:srgbClr val="1FBFB3"/>
                </a:solidFill>
                <a:latin typeface="Calibri" pitchFamily="34" charset="0"/>
                <a:ea typeface="Calibri" pitchFamily="34" charset="-122"/>
                <a:cs typeface="Calibri" pitchFamily="34" charset="-120"/>
              </a:rPr>
              <a:t>AI ASSIST</a:t>
            </a:r>
            <a:endParaRPr lang="en-US" sz="1500" dirty="0"/>
          </a:p>
        </p:txBody>
      </p:sp>
      <p:sp>
        <p:nvSpPr>
          <p:cNvPr id="4" name="Text 2"/>
          <p:cNvSpPr/>
          <p:nvPr/>
        </p:nvSpPr>
        <p:spPr>
          <a:xfrm>
            <a:off x="685800" y="1600200"/>
            <a:ext cx="10515600" cy="822960"/>
          </a:xfrm>
          <a:prstGeom prst="rect">
            <a:avLst/>
          </a:prstGeom>
          <a:noFill/>
          <a:ln/>
        </p:spPr>
        <p:txBody>
          <a:bodyPr wrap="square" lIns="0" tIns="0" rIns="0" bIns="0" rtlCol="0" anchor="ctr"/>
          <a:lstStyle/>
          <a:p>
            <a:pPr marL="0" indent="0">
              <a:buNone/>
            </a:pPr>
            <a:r>
              <a:rPr lang="en-US" sz="3300" b="1" dirty="0">
                <a:solidFill>
                  <a:srgbClr val="FFFFFF"/>
                </a:solidFill>
                <a:latin typeface="Calibri" pitchFamily="34" charset="0"/>
                <a:ea typeface="Calibri" pitchFamily="34" charset="-122"/>
                <a:cs typeface="Calibri" pitchFamily="34" charset="-120"/>
              </a:rPr>
              <a:t>Sinh test case Selenium bằng AI</a:t>
            </a:r>
            <a:endParaRPr lang="en-US" sz="3300" dirty="0"/>
          </a:p>
        </p:txBody>
      </p:sp>
      <p:sp>
        <p:nvSpPr>
          <p:cNvPr id="5" name="Shape 3"/>
          <p:cNvSpPr/>
          <p:nvPr/>
        </p:nvSpPr>
        <p:spPr>
          <a:xfrm>
            <a:off x="731520" y="2697480"/>
            <a:ext cx="10698480" cy="1463040"/>
          </a:xfrm>
          <a:prstGeom prst="roundRect">
            <a:avLst>
              <a:gd name="adj" fmla="val 6250"/>
            </a:avLst>
          </a:prstGeom>
          <a:solidFill>
            <a:srgbClr val="FFFFFF">
              <a:alpha val="8000"/>
            </a:srgbClr>
          </a:solidFill>
          <a:ln w="12700">
            <a:solidFill>
              <a:srgbClr val="F6A623"/>
            </a:solidFill>
            <a:prstDash val="solid"/>
          </a:ln>
        </p:spPr>
        <p:txBody>
          <a:bodyPr/>
          <a:lstStyle/>
          <a:p>
            <a:endParaRPr lang="en-US"/>
          </a:p>
        </p:txBody>
      </p:sp>
      <p:sp>
        <p:nvSpPr>
          <p:cNvPr id="6" name="Text 4"/>
          <p:cNvSpPr/>
          <p:nvPr/>
        </p:nvSpPr>
        <p:spPr>
          <a:xfrm>
            <a:off x="1005840" y="2834640"/>
            <a:ext cx="10149840" cy="1188720"/>
          </a:xfrm>
          <a:prstGeom prst="rect">
            <a:avLst/>
          </a:prstGeom>
          <a:noFill/>
          <a:ln/>
        </p:spPr>
        <p:txBody>
          <a:bodyPr wrap="square" lIns="0" tIns="0" rIns="0" bIns="0" rtlCol="0" anchor="ctr"/>
          <a:lstStyle/>
          <a:p>
            <a:pPr marL="0" indent="0">
              <a:lnSpc>
                <a:spcPct val="115000"/>
              </a:lnSpc>
              <a:buNone/>
            </a:pPr>
            <a:r>
              <a:rPr lang="en-US" sz="1450" i="1" dirty="0">
                <a:solidFill>
                  <a:srgbClr val="D6E4EA"/>
                </a:solidFill>
                <a:latin typeface="Consolas" pitchFamily="34" charset="0"/>
                <a:ea typeface="Consolas" pitchFamily="34" charset="-122"/>
                <a:cs typeface="Consolas" pitchFamily="34" charset="-120"/>
              </a:rPr>
              <a:t>“Viết bộ test case Selenium (Python) cho trang Login của ứng dụng React: đăng nhập thành công, sai mật khẩu, để trống trường. Dùng Page Object Model.”</a:t>
            </a:r>
            <a:endParaRPr lang="en-US" sz="1450" dirty="0"/>
          </a:p>
        </p:txBody>
      </p:sp>
      <p:sp>
        <p:nvSpPr>
          <p:cNvPr id="7" name="Text 5"/>
          <p:cNvSpPr/>
          <p:nvPr/>
        </p:nvSpPr>
        <p:spPr>
          <a:xfrm>
            <a:off x="731520" y="4434840"/>
            <a:ext cx="10698480" cy="73152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Mở rộng: </a:t>
            </a:r>
            <a:r>
              <a:rPr lang="en-US" sz="1500" dirty="0">
                <a:solidFill>
                  <a:srgbClr val="AEC6D2"/>
                </a:solidFill>
                <a:latin typeface="Calibri" pitchFamily="34" charset="0"/>
                <a:ea typeface="Calibri" pitchFamily="34" charset="-122"/>
                <a:cs typeface="Calibri" pitchFamily="34" charset="-120"/>
              </a:rPr>
              <a:t>sinh test data · viết assertion · giải thích lỗi test fail · gợi ý selector ổn định hơn (tránh flaky).</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marL="0" indent="0">
              <a:buNone/>
            </a:pPr>
            <a:r>
              <a:rPr lang="en-US" sz="1300" b="1" kern="0" spc="200" dirty="0">
                <a:solidFill>
                  <a:srgbClr val="0E8C82"/>
                </a:solidFill>
                <a:latin typeface="Calibri" pitchFamily="34" charset="0"/>
                <a:ea typeface="Calibri" pitchFamily="34" charset="-122"/>
                <a:cs typeface="Calibri" pitchFamily="34" charset="-120"/>
              </a:rPr>
              <a:t>TỔNG KẾT</a:t>
            </a:r>
            <a:endParaRPr lang="en-US" sz="1300" dirty="0"/>
          </a:p>
        </p:txBody>
      </p:sp>
      <p:sp>
        <p:nvSpPr>
          <p:cNvPr id="3" name="Text 1"/>
          <p:cNvSpPr/>
          <p:nvPr/>
        </p:nvSpPr>
        <p:spPr>
          <a:xfrm>
            <a:off x="548640" y="676656"/>
            <a:ext cx="11064240" cy="658368"/>
          </a:xfrm>
          <a:prstGeom prst="rect">
            <a:avLst/>
          </a:prstGeom>
          <a:noFill/>
          <a:ln/>
        </p:spPr>
        <p:txBody>
          <a:bodyPr wrap="square" lIns="0" tIns="0" rIns="0" bIns="0" rtlCol="0" anchor="ctr"/>
          <a:lstStyle/>
          <a:p>
            <a:pPr marL="0" indent="0">
              <a:buNone/>
            </a:pPr>
            <a:r>
              <a:rPr lang="en-US" sz="3000" b="1" dirty="0">
                <a:solidFill>
                  <a:srgbClr val="1A2B36"/>
                </a:solidFill>
                <a:latin typeface="Calibri" pitchFamily="34" charset="0"/>
                <a:ea typeface="Calibri" pitchFamily="34" charset="-122"/>
                <a:cs typeface="Calibri" pitchFamily="34" charset="-120"/>
              </a:rPr>
              <a:t>Checklist năng lực đầu ra</a:t>
            </a:r>
            <a:endParaRPr lang="en-US" sz="3000" dirty="0"/>
          </a:p>
        </p:txBody>
      </p:sp>
      <p:sp>
        <p:nvSpPr>
          <p:cNvPr id="4" name="Text 2"/>
          <p:cNvSpPr/>
          <p:nvPr/>
        </p:nvSpPr>
        <p:spPr>
          <a:xfrm>
            <a:off x="548640" y="1417320"/>
            <a:ext cx="11091672" cy="457200"/>
          </a:xfrm>
          <a:prstGeom prst="rect">
            <a:avLst/>
          </a:prstGeom>
          <a:noFill/>
          <a:ln/>
        </p:spPr>
        <p:txBody>
          <a:bodyPr wrap="square" lIns="0" tIns="0" rIns="0" bIns="0" rtlCol="0" anchor="ctr"/>
          <a:lstStyle/>
          <a:p>
            <a:pPr marL="0" indent="0">
              <a:buNone/>
            </a:pPr>
            <a:r>
              <a:rPr lang="en-US" sz="1400" b="1" i="1" dirty="0">
                <a:solidFill>
                  <a:srgbClr val="0E8C82"/>
                </a:solidFill>
                <a:latin typeface="Calibri" pitchFamily="34" charset="0"/>
                <a:ea typeface="Calibri" pitchFamily="34" charset="-122"/>
                <a:cs typeface="Calibri" pitchFamily="34" charset="-120"/>
              </a:rPr>
              <a:t>Mạch xuyên suốt:  Metrics (Prometheus) → Visualize (Grafana/PromQL) → Troubleshoot (logs+metrics) → Quality gate (Jenkins test)</a:t>
            </a:r>
            <a:endParaRPr lang="en-US" sz="1400" dirty="0"/>
          </a:p>
        </p:txBody>
      </p:sp>
      <p:sp>
        <p:nvSpPr>
          <p:cNvPr id="5" name="Shape 3"/>
          <p:cNvSpPr/>
          <p:nvPr/>
        </p:nvSpPr>
        <p:spPr>
          <a:xfrm>
            <a:off x="548640" y="2011680"/>
            <a:ext cx="5440680" cy="1051560"/>
          </a:xfrm>
          <a:prstGeom prst="roundRect">
            <a:avLst>
              <a:gd name="adj" fmla="val 782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6" name="Shape 4"/>
          <p:cNvSpPr/>
          <p:nvPr/>
        </p:nvSpPr>
        <p:spPr>
          <a:xfrm>
            <a:off x="768096" y="2304288"/>
            <a:ext cx="457200" cy="45720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7" name="Text 5"/>
          <p:cNvSpPr/>
          <p:nvPr/>
        </p:nvSpPr>
        <p:spPr>
          <a:xfrm>
            <a:off x="768096" y="230428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417320" y="2011680"/>
            <a:ext cx="4389120" cy="1051560"/>
          </a:xfrm>
          <a:prstGeom prst="rect">
            <a:avLst/>
          </a:prstGeom>
          <a:noFill/>
          <a:ln/>
        </p:spPr>
        <p:txBody>
          <a:bodyPr wrap="square" lIns="0" tIns="0" rIns="0" bIns="0" rtlCol="0" anchor="ctr"/>
          <a:lstStyle/>
          <a:p>
            <a:pPr marL="0" indent="0">
              <a:lnSpc>
                <a:spcPct val="100000"/>
              </a:lnSpc>
              <a:buNone/>
            </a:pPr>
            <a:r>
              <a:rPr lang="en-US" sz="1350" b="1" dirty="0">
                <a:solidFill>
                  <a:srgbClr val="1A2B36"/>
                </a:solidFill>
                <a:latin typeface="Calibri" pitchFamily="34" charset="0"/>
                <a:ea typeface="Calibri" pitchFamily="34" charset="-122"/>
                <a:cs typeface="Calibri" pitchFamily="34" charset="-120"/>
              </a:rPr>
              <a:t>Dựng Prometheus + Node/DB Exporter, targets UP</a:t>
            </a:r>
            <a:endParaRPr lang="en-US" sz="1350" dirty="0"/>
          </a:p>
        </p:txBody>
      </p:sp>
      <p:sp>
        <p:nvSpPr>
          <p:cNvPr id="9" name="Shape 7"/>
          <p:cNvSpPr/>
          <p:nvPr/>
        </p:nvSpPr>
        <p:spPr>
          <a:xfrm>
            <a:off x="6199632" y="2011680"/>
            <a:ext cx="5440680" cy="1051560"/>
          </a:xfrm>
          <a:prstGeom prst="roundRect">
            <a:avLst>
              <a:gd name="adj" fmla="val 782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0" name="Shape 8"/>
          <p:cNvSpPr/>
          <p:nvPr/>
        </p:nvSpPr>
        <p:spPr>
          <a:xfrm>
            <a:off x="6419088" y="2304288"/>
            <a:ext cx="457200" cy="45720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1" name="Text 9"/>
          <p:cNvSpPr/>
          <p:nvPr/>
        </p:nvSpPr>
        <p:spPr>
          <a:xfrm>
            <a:off x="6419088" y="230428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7068312" y="2011680"/>
            <a:ext cx="4389120" cy="1051560"/>
          </a:xfrm>
          <a:prstGeom prst="rect">
            <a:avLst/>
          </a:prstGeom>
          <a:noFill/>
          <a:ln/>
        </p:spPr>
        <p:txBody>
          <a:bodyPr wrap="square" lIns="0" tIns="0" rIns="0" bIns="0" rtlCol="0" anchor="ctr"/>
          <a:lstStyle/>
          <a:p>
            <a:pPr marL="0" indent="0">
              <a:lnSpc>
                <a:spcPct val="100000"/>
              </a:lnSpc>
              <a:buNone/>
            </a:pPr>
            <a:r>
              <a:rPr lang="en-US" sz="1350" b="1" dirty="0">
                <a:solidFill>
                  <a:srgbClr val="1A2B36"/>
                </a:solidFill>
                <a:latin typeface="Calibri" pitchFamily="34" charset="0"/>
                <a:ea typeface="Calibri" pitchFamily="34" charset="-122"/>
                <a:cs typeface="Calibri" pitchFamily="34" charset="-120"/>
              </a:rPr>
              <a:t>Viết ≥ 3 câu PromQL &amp; build dashboard Grafana dữ liệu thật</a:t>
            </a:r>
            <a:endParaRPr lang="en-US" sz="1350" dirty="0"/>
          </a:p>
        </p:txBody>
      </p:sp>
      <p:sp>
        <p:nvSpPr>
          <p:cNvPr id="13" name="Shape 11"/>
          <p:cNvSpPr/>
          <p:nvPr/>
        </p:nvSpPr>
        <p:spPr>
          <a:xfrm>
            <a:off x="548640" y="3246120"/>
            <a:ext cx="5440680" cy="1051560"/>
          </a:xfrm>
          <a:prstGeom prst="roundRect">
            <a:avLst>
              <a:gd name="adj" fmla="val 782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4" name="Shape 12"/>
          <p:cNvSpPr/>
          <p:nvPr/>
        </p:nvSpPr>
        <p:spPr>
          <a:xfrm>
            <a:off x="768096" y="3538728"/>
            <a:ext cx="457200" cy="45720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5" name="Text 13"/>
          <p:cNvSpPr/>
          <p:nvPr/>
        </p:nvSpPr>
        <p:spPr>
          <a:xfrm>
            <a:off x="768096" y="35387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417320" y="3246120"/>
            <a:ext cx="4389120" cy="1051560"/>
          </a:xfrm>
          <a:prstGeom prst="rect">
            <a:avLst/>
          </a:prstGeom>
          <a:noFill/>
          <a:ln/>
        </p:spPr>
        <p:txBody>
          <a:bodyPr wrap="square" lIns="0" tIns="0" rIns="0" bIns="0" rtlCol="0" anchor="ctr"/>
          <a:lstStyle/>
          <a:p>
            <a:pPr marL="0" indent="0">
              <a:lnSpc>
                <a:spcPct val="100000"/>
              </a:lnSpc>
              <a:buNone/>
            </a:pPr>
            <a:r>
              <a:rPr lang="en-US" sz="1350" b="1" dirty="0">
                <a:solidFill>
                  <a:srgbClr val="1A2B36"/>
                </a:solidFill>
                <a:latin typeface="Calibri" pitchFamily="34" charset="0"/>
                <a:ea typeface="Calibri" pitchFamily="34" charset="-122"/>
                <a:cs typeface="Calibri" pitchFamily="34" charset="-120"/>
              </a:rPr>
              <a:t>Chẩn đoán &amp; fix ≥ 2/3 case, trình bày đúng quy trình</a:t>
            </a:r>
            <a:endParaRPr lang="en-US" sz="1350" dirty="0"/>
          </a:p>
        </p:txBody>
      </p:sp>
      <p:sp>
        <p:nvSpPr>
          <p:cNvPr id="17" name="Shape 15"/>
          <p:cNvSpPr/>
          <p:nvPr/>
        </p:nvSpPr>
        <p:spPr>
          <a:xfrm>
            <a:off x="6199632" y="3246120"/>
            <a:ext cx="5440680" cy="1051560"/>
          </a:xfrm>
          <a:prstGeom prst="roundRect">
            <a:avLst>
              <a:gd name="adj" fmla="val 782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18" name="Shape 16"/>
          <p:cNvSpPr/>
          <p:nvPr/>
        </p:nvSpPr>
        <p:spPr>
          <a:xfrm>
            <a:off x="6419088" y="3538728"/>
            <a:ext cx="457200" cy="45720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19" name="Text 17"/>
          <p:cNvSpPr/>
          <p:nvPr/>
        </p:nvSpPr>
        <p:spPr>
          <a:xfrm>
            <a:off x="6419088" y="353872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7068312" y="3246120"/>
            <a:ext cx="4389120" cy="1051560"/>
          </a:xfrm>
          <a:prstGeom prst="rect">
            <a:avLst/>
          </a:prstGeom>
          <a:noFill/>
          <a:ln/>
        </p:spPr>
        <p:txBody>
          <a:bodyPr wrap="square" lIns="0" tIns="0" rIns="0" bIns="0" rtlCol="0" anchor="ctr"/>
          <a:lstStyle/>
          <a:p>
            <a:pPr marL="0" indent="0">
              <a:lnSpc>
                <a:spcPct val="100000"/>
              </a:lnSpc>
              <a:buNone/>
            </a:pPr>
            <a:r>
              <a:rPr lang="en-US" sz="1350" b="1" dirty="0">
                <a:solidFill>
                  <a:srgbClr val="1A2B36"/>
                </a:solidFill>
                <a:latin typeface="Calibri" pitchFamily="34" charset="0"/>
                <a:ea typeface="Calibri" pitchFamily="34" charset="-122"/>
                <a:cs typeface="Calibri" pitchFamily="34" charset="-120"/>
              </a:rPr>
              <a:t>Chạy pipeline Jenkins 3 loại test &amp; xử lý 1 test fail</a:t>
            </a:r>
            <a:endParaRPr lang="en-US" sz="1350" dirty="0"/>
          </a:p>
        </p:txBody>
      </p:sp>
      <p:sp>
        <p:nvSpPr>
          <p:cNvPr id="21" name="Shape 19"/>
          <p:cNvSpPr/>
          <p:nvPr/>
        </p:nvSpPr>
        <p:spPr>
          <a:xfrm>
            <a:off x="548640" y="4480560"/>
            <a:ext cx="5440680" cy="1051560"/>
          </a:xfrm>
          <a:prstGeom prst="roundRect">
            <a:avLst>
              <a:gd name="adj" fmla="val 782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2" name="Shape 20"/>
          <p:cNvSpPr/>
          <p:nvPr/>
        </p:nvSpPr>
        <p:spPr>
          <a:xfrm>
            <a:off x="768096" y="4773168"/>
            <a:ext cx="457200" cy="457200"/>
          </a:xfrm>
          <a:prstGeom prst="ellipse">
            <a:avLst/>
          </a:prstGeom>
          <a:solidFill>
            <a:srgbClr val="1FBFB3"/>
          </a:solidFill>
          <a:ln/>
          <a:effectLst>
            <a:outerShdw blurRad="76200" dist="25400" dir="5400000" algn="bl" rotWithShape="0">
              <a:srgbClr val="0A1A28">
                <a:alpha val="25000"/>
              </a:srgbClr>
            </a:outerShdw>
          </a:effectLst>
        </p:spPr>
        <p:txBody>
          <a:bodyPr/>
          <a:lstStyle/>
          <a:p>
            <a:endParaRPr lang="en-US"/>
          </a:p>
        </p:txBody>
      </p:sp>
      <p:sp>
        <p:nvSpPr>
          <p:cNvPr id="23" name="Text 21"/>
          <p:cNvSpPr/>
          <p:nvPr/>
        </p:nvSpPr>
        <p:spPr>
          <a:xfrm>
            <a:off x="768096" y="47731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1417320" y="4480560"/>
            <a:ext cx="4389120" cy="1051560"/>
          </a:xfrm>
          <a:prstGeom prst="rect">
            <a:avLst/>
          </a:prstGeom>
          <a:noFill/>
          <a:ln/>
        </p:spPr>
        <p:txBody>
          <a:bodyPr wrap="square" lIns="0" tIns="0" rIns="0" bIns="0" rtlCol="0" anchor="ctr"/>
          <a:lstStyle/>
          <a:p>
            <a:pPr marL="0" indent="0">
              <a:lnSpc>
                <a:spcPct val="100000"/>
              </a:lnSpc>
              <a:buNone/>
            </a:pPr>
            <a:r>
              <a:rPr lang="en-US" sz="1350" b="1" dirty="0">
                <a:solidFill>
                  <a:srgbClr val="1A2B36"/>
                </a:solidFill>
                <a:latin typeface="Calibri" pitchFamily="34" charset="0"/>
                <a:ea typeface="Calibri" pitchFamily="34" charset="-122"/>
                <a:cs typeface="Calibri" pitchFamily="34" charset="-120"/>
              </a:rPr>
              <a:t>Dùng AI: giải thích PromQL / sinh test / hỗ trợ troubleshoot</a:t>
            </a:r>
            <a:endParaRPr lang="en-US" sz="1350" dirty="0"/>
          </a:p>
        </p:txBody>
      </p:sp>
      <p:sp>
        <p:nvSpPr>
          <p:cNvPr id="25" name="Shape 23"/>
          <p:cNvSpPr/>
          <p:nvPr/>
        </p:nvSpPr>
        <p:spPr>
          <a:xfrm>
            <a:off x="6199632" y="4480560"/>
            <a:ext cx="5440680" cy="1051560"/>
          </a:xfrm>
          <a:prstGeom prst="roundRect">
            <a:avLst>
              <a:gd name="adj" fmla="val 7826"/>
            </a:avLst>
          </a:prstGeom>
          <a:solidFill>
            <a:srgbClr val="F1F6F8"/>
          </a:solidFill>
          <a:ln w="12700">
            <a:solidFill>
              <a:srgbClr val="DCE7EB"/>
            </a:solidFill>
            <a:prstDash val="solid"/>
          </a:ln>
          <a:effectLst>
            <a:outerShdw blurRad="88900" dist="25400" dir="5400000" algn="bl" rotWithShape="0">
              <a:srgbClr val="9AB0BA">
                <a:alpha val="18000"/>
              </a:srgbClr>
            </a:outerShdw>
          </a:effectLst>
        </p:spPr>
        <p:txBody>
          <a:bodyPr/>
          <a:lstStyle/>
          <a:p>
            <a:endParaRPr lang="en-US"/>
          </a:p>
        </p:txBody>
      </p:sp>
      <p:sp>
        <p:nvSpPr>
          <p:cNvPr id="26" name="Shape 24"/>
          <p:cNvSpPr/>
          <p:nvPr/>
        </p:nvSpPr>
        <p:spPr>
          <a:xfrm>
            <a:off x="6419088" y="4773168"/>
            <a:ext cx="457200" cy="457200"/>
          </a:xfrm>
          <a:prstGeom prst="ellipse">
            <a:avLst/>
          </a:prstGeom>
          <a:solidFill>
            <a:srgbClr val="F6A623"/>
          </a:solidFill>
          <a:ln/>
          <a:effectLst>
            <a:outerShdw blurRad="76200" dist="25400" dir="5400000" algn="bl" rotWithShape="0">
              <a:srgbClr val="0A1A28">
                <a:alpha val="25000"/>
              </a:srgbClr>
            </a:outerShdw>
          </a:effectLst>
        </p:spPr>
        <p:txBody>
          <a:bodyPr/>
          <a:lstStyle/>
          <a:p>
            <a:endParaRPr lang="en-US"/>
          </a:p>
        </p:txBody>
      </p:sp>
      <p:sp>
        <p:nvSpPr>
          <p:cNvPr id="27" name="Text 25"/>
          <p:cNvSpPr/>
          <p:nvPr/>
        </p:nvSpPr>
        <p:spPr>
          <a:xfrm>
            <a:off x="6419088" y="47731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7068312" y="4480560"/>
            <a:ext cx="4389120" cy="1051560"/>
          </a:xfrm>
          <a:prstGeom prst="rect">
            <a:avLst/>
          </a:prstGeom>
          <a:noFill/>
          <a:ln/>
        </p:spPr>
        <p:txBody>
          <a:bodyPr wrap="square" lIns="0" tIns="0" rIns="0" bIns="0" rtlCol="0" anchor="ctr"/>
          <a:lstStyle/>
          <a:p>
            <a:pPr marL="0" indent="0">
              <a:lnSpc>
                <a:spcPct val="100000"/>
              </a:lnSpc>
              <a:buNone/>
            </a:pPr>
            <a:r>
              <a:rPr lang="en-US" sz="1350" b="1" dirty="0">
                <a:solidFill>
                  <a:srgbClr val="1A2B36"/>
                </a:solidFill>
                <a:latin typeface="Calibri" pitchFamily="34" charset="0"/>
                <a:ea typeface="Calibri" pitchFamily="34" charset="-122"/>
                <a:cs typeface="Calibri" pitchFamily="34" charset="-120"/>
              </a:rPr>
              <a:t>Học tiếp: Alertmanager · Loki · OpenTelemetry · SLO/SLA</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2233"/>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572000" cy="4572000"/>
          </a:xfrm>
          <a:prstGeom prst="ellipse">
            <a:avLst/>
          </a:prstGeom>
          <a:solidFill>
            <a:srgbClr val="1FBFB3">
              <a:alpha val="16000"/>
            </a:srgbClr>
          </a:solidFill>
          <a:ln/>
        </p:spPr>
        <p:txBody>
          <a:bodyPr/>
          <a:lstStyle/>
          <a:p>
            <a:endParaRPr lang="en-US"/>
          </a:p>
        </p:txBody>
      </p:sp>
      <p:sp>
        <p:nvSpPr>
          <p:cNvPr id="3" name="Shape 1"/>
          <p:cNvSpPr/>
          <p:nvPr/>
        </p:nvSpPr>
        <p:spPr>
          <a:xfrm>
            <a:off x="10424160" y="4206240"/>
            <a:ext cx="3291840" cy="3291840"/>
          </a:xfrm>
          <a:prstGeom prst="ellipse">
            <a:avLst/>
          </a:prstGeom>
          <a:solidFill>
            <a:srgbClr val="F6A623">
              <a:alpha val="14000"/>
            </a:srgbClr>
          </a:solidFill>
          <a:ln/>
        </p:spPr>
        <p:txBody>
          <a:bodyPr/>
          <a:lstStyle/>
          <a:p>
            <a:endParaRPr lang="en-US"/>
          </a:p>
        </p:txBody>
      </p:sp>
      <p:sp>
        <p:nvSpPr>
          <p:cNvPr id="4" name="Text 2"/>
          <p:cNvSpPr/>
          <p:nvPr/>
        </p:nvSpPr>
        <p:spPr>
          <a:xfrm>
            <a:off x="731520" y="228600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Cảm ơn &amp; Hỏi đáp</a:t>
            </a:r>
            <a:endParaRPr lang="en-US" sz="4400" dirty="0"/>
          </a:p>
        </p:txBody>
      </p:sp>
      <p:sp>
        <p:nvSpPr>
          <p:cNvPr id="5" name="Text 3"/>
          <p:cNvSpPr/>
          <p:nvPr/>
        </p:nvSpPr>
        <p:spPr>
          <a:xfrm>
            <a:off x="731520" y="3383280"/>
            <a:ext cx="10424160" cy="822960"/>
          </a:xfrm>
          <a:prstGeom prst="rect">
            <a:avLst/>
          </a:prstGeom>
          <a:noFill/>
          <a:ln/>
        </p:spPr>
        <p:txBody>
          <a:bodyPr wrap="square" lIns="0" tIns="0" rIns="0" bIns="0" rtlCol="0" anchor="ctr"/>
          <a:lstStyle/>
          <a:p>
            <a:pPr marL="0" indent="0">
              <a:lnSpc>
                <a:spcPct val="110000"/>
              </a:lnSpc>
              <a:buNone/>
            </a:pPr>
            <a:r>
              <a:rPr lang="en-US" sz="1500" dirty="0">
                <a:solidFill>
                  <a:srgbClr val="AEC6D2"/>
                </a:solidFill>
                <a:latin typeface="Calibri" pitchFamily="34" charset="0"/>
                <a:ea typeface="Calibri" pitchFamily="34" charset="-122"/>
                <a:cs typeface="Calibri" pitchFamily="34" charset="-120"/>
              </a:rPr>
              <a:t>Tài nguyên: prometheus.io · grafana.com/dashboards (ID 1860) · kubernetes.io/docs/tasks/debug · jenkins.io/doc/book/pipeline · selenium.dev</a:t>
            </a:r>
            <a:endParaRPr lang="en-US" sz="1500" dirty="0"/>
          </a:p>
        </p:txBody>
      </p:sp>
      <p:sp>
        <p:nvSpPr>
          <p:cNvPr id="6" name="Text 4"/>
          <p:cNvSpPr/>
          <p:nvPr/>
        </p:nvSpPr>
        <p:spPr>
          <a:xfrm>
            <a:off x="731520" y="4572000"/>
            <a:ext cx="5486400" cy="365760"/>
          </a:xfrm>
          <a:prstGeom prst="rect">
            <a:avLst/>
          </a:prstGeom>
          <a:noFill/>
          <a:ln/>
        </p:spPr>
        <p:txBody>
          <a:bodyPr wrap="square" lIns="0" tIns="0" rIns="0" bIns="0" rtlCol="0" anchor="ctr"/>
          <a:lstStyle/>
          <a:p>
            <a:pPr marL="0" indent="0">
              <a:buNone/>
            </a:pPr>
            <a:r>
              <a:rPr lang="en-US" sz="1400" b="1" dirty="0">
                <a:solidFill>
                  <a:srgbClr val="1FBFB3"/>
                </a:solidFill>
                <a:latin typeface="Calibri" pitchFamily="34" charset="0"/>
                <a:ea typeface="Calibri" pitchFamily="34" charset="-122"/>
                <a:cs typeface="Calibri" pitchFamily="34" charset="-120"/>
              </a:rPr>
              <a:t>Liên </a:t>
            </a:r>
            <a:r>
              <a:rPr lang="en-US" sz="1400" b="1" dirty="0" err="1">
                <a:solidFill>
                  <a:srgbClr val="1FBFB3"/>
                </a:solidFill>
                <a:latin typeface="Calibri" pitchFamily="34" charset="0"/>
                <a:ea typeface="Calibri" pitchFamily="34" charset="-122"/>
                <a:cs typeface="Calibri" pitchFamily="34" charset="-120"/>
              </a:rPr>
              <a:t>hệ</a:t>
            </a:r>
            <a:r>
              <a:rPr lang="en-US" sz="1400" b="1" dirty="0">
                <a:solidFill>
                  <a:srgbClr val="1FBFB3"/>
                </a:solidFill>
                <a:latin typeface="Calibri" pitchFamily="34" charset="0"/>
                <a:ea typeface="Calibri" pitchFamily="34" charset="-122"/>
                <a:cs typeface="Calibri" pitchFamily="34" charset="-120"/>
              </a:rPr>
              <a:t>: info@smaclink.vn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3289</Words>
  <Application>Microsoft Office PowerPoint</Application>
  <PresentationFormat>Widescreen</PresentationFormat>
  <Paragraphs>398</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Monitoring, Troubleshooting &amp; Test Integration</dc:title>
  <dc:subject>PptxGenJS Presentation</dc:subject>
  <dc:creator>Mario Education</dc:creator>
  <cp:lastModifiedBy>Colin Hoang</cp:lastModifiedBy>
  <cp:revision>1</cp:revision>
  <dcterms:created xsi:type="dcterms:W3CDTF">2026-07-11T17:30:01Z</dcterms:created>
  <dcterms:modified xsi:type="dcterms:W3CDTF">2026-07-29T07:50:45Z</dcterms:modified>
</cp:coreProperties>
</file>